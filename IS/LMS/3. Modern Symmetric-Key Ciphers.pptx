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5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1034" r:id="rId52"/>
  </p:sldIdLst>
  <p:sldSz cx="12192000" cy="6858000"/>
  <p:notesSz cx="6858000" cy="9144000"/>
  <p:embeddedFontLst>
    <p:embeddedFont>
      <p:font typeface="Play" panose="020B0604020202020204" charset="0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hw09i46XvgH/xQRmvXk6lIu1bk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992A0A-F461-4C6F-98F9-06A83A100F57}">
  <a:tblStyle styleId="{79992A0A-F461-4C6F-98F9-06A83A100F57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lef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font" Target="fonts/font2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customschemas.google.com/relationships/presentationmetadata" Target="meta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5FC705-5F52-4357-8602-6AAE5B6DAA1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064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2C5-2BB8-4522-9A47-076A7DD0C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6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960E8-E978-4BEA-9D97-7036CF6E6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19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0D6B6-BFB5-4194-836E-CD650205B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17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5BD93-F1CB-4E8F-80E9-0A43E107C8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98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45889-D3CE-4D62-91D5-BEA0F8918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12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CD2AD-4955-400B-8C57-3ABE06FC16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58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1CD6F-4286-4527-A08C-4D3E10FE5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87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E226B-D5DB-4065-B5DE-97FD057F8E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804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77C91-4FF9-4713-9602-F1BC26582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22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8BCE2-90CC-4814-B65E-DCF8DBC503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572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A8E0B-6A8F-4DCF-AEF1-3E21DF7AC6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59FF940-99A9-44A3-9649-F974F07A95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38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imes New Roman"/>
              <a:buNone/>
            </a:pPr>
            <a:r>
              <a:rPr lang="en-US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to Cover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subTitle" idx="1"/>
          </p:nvPr>
        </p:nvSpPr>
        <p:spPr>
          <a:xfrm>
            <a:off x="4403765" y="319088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514350" lvl="0" indent="-228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Block Cipher Design Principles</a:t>
            </a:r>
            <a:endParaRPr/>
          </a:p>
          <a:p>
            <a:pPr marL="514350" lvl="0" indent="-2286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Feistel Structure</a:t>
            </a:r>
            <a:endParaRPr/>
          </a:p>
          <a:p>
            <a:pPr marL="514350" lvl="0" indent="-2286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DES</a:t>
            </a:r>
            <a:endParaRPr/>
          </a:p>
          <a:p>
            <a:pPr marL="514350" lvl="0" indent="-2286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AES</a:t>
            </a:r>
            <a:endParaRPr/>
          </a:p>
          <a:p>
            <a:pPr marL="514350" lvl="0" indent="-2286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Operating Modes of Block Ciphers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68086" y="0"/>
            <a:ext cx="10972800" cy="588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0" algn="ctr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BLOCK CIPHER DESIGN PRINCIPLES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1456148" y="1396686"/>
            <a:ext cx="3257366" cy="4064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imes New Roman"/>
              <a:buNone/>
            </a:pPr>
            <a:r>
              <a:rPr lang="en-US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designing a Block Cipher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5370153" y="1526033"/>
            <a:ext cx="6332658" cy="4852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Confusion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Diffusion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Avalanche Effect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Feistel Structure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Round Functions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Key Size and Block Size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Bit Independence Criterion (BIC)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Key Schedule Algorithm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2F41">
                  <a:alpha val="54902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2F41">
                  <a:alpha val="52157"/>
                </a:srgbClr>
              </a:gs>
              <a:gs pos="100000">
                <a:srgbClr val="0A2F41">
                  <a:alpha val="52157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174171" y="294538"/>
            <a:ext cx="12975772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Times New Roman"/>
              <a:buNone/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Principles</a:t>
            </a:r>
            <a:endParaRPr/>
          </a:p>
        </p:txBody>
      </p:sp>
      <p:graphicFrame>
        <p:nvGraphicFramePr>
          <p:cNvPr id="118" name="Google Shape;118;p4"/>
          <p:cNvGraphicFramePr/>
          <p:nvPr/>
        </p:nvGraphicFramePr>
        <p:xfrm>
          <a:off x="380999" y="1930502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ACEF4"/>
                    </a:gs>
                    <a:gs pos="50000">
                      <a:srgbClr val="8DC3EA"/>
                    </a:gs>
                    <a:gs pos="100000">
                      <a:srgbClr val="78BDED"/>
                    </a:gs>
                  </a:gsLst>
                  <a:lin ang="5400000" scaled="0"/>
                </a:gradFill>
                <a:tableStyleId>{79992A0A-F461-4C6F-98F9-06A83A100F57}</a:tableStyleId>
              </a:tblPr>
              <a:tblGrid>
                <a:gridCol w="328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to Achieve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Confusion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Makes the key–ciphertext relationship complex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Substitution (S-boxes)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Diffusion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Spreads plaintext influence across ciphertext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Permutation and mixing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Avalanche Effect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1-bit input change alters ~50% of output bits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Repeated confusion &amp; diffusion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5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25" name="Google Shape;125;p5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5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S-Boxes</a:t>
            </a:r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body" idx="1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Uses Non-Linear Transformation to generate Outputs from Inputs.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Mapping between inputs and corresponding outputs are defined by a table or a matrix.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should be such that its not easily invertible by an attacker.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Two main categories of S-Boxes:- Static S-Box and Dynamic S-Box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" name="Google Shape;131;p5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6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38" name="Google Shape;138;p6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6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P-Boxes</a:t>
            </a:r>
            <a:endParaRPr/>
          </a:p>
        </p:txBody>
      </p:sp>
      <p:sp>
        <p:nvSpPr>
          <p:cNvPr id="143" name="Google Shape;143;p6"/>
          <p:cNvSpPr txBox="1">
            <a:spLocks noGrp="1"/>
          </p:cNvSpPr>
          <p:nvPr>
            <p:ph type="body" idx="1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primary goal is to increase diffusion for a cipher, by permuting the input bits.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Permutation of the bits makes the cryptanalysis more challenging.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Types of P-Boxes: Straight P-Box, Compression P-Box, and Expansion P-Box.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7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51" name="Google Shape;151;p7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7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Straight P-Box</a:t>
            </a:r>
            <a:endParaRPr/>
          </a:p>
        </p:txBody>
      </p:sp>
      <p:sp>
        <p:nvSpPr>
          <p:cNvPr id="156" name="Google Shape;156;p7"/>
          <p:cNvSpPr txBox="1">
            <a:spLocks noGrp="1"/>
          </p:cNvSpPr>
          <p:nvPr>
            <p:ph type="body" idx="1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8" name="Google Shape;158;p7"/>
          <p:cNvSpPr txBox="1"/>
          <p:nvPr/>
        </p:nvSpPr>
        <p:spPr>
          <a:xfrm>
            <a:off x="463692" y="2775857"/>
            <a:ext cx="1108387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7" descr="A diagram of a 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630" y="2560322"/>
            <a:ext cx="9941319" cy="3822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8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66" name="Google Shape;166;p8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8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Expansion P-Box</a:t>
            </a:r>
            <a:endParaRPr/>
          </a:p>
        </p:txBody>
      </p:sp>
      <p:sp>
        <p:nvSpPr>
          <p:cNvPr id="171" name="Google Shape;171;p8"/>
          <p:cNvSpPr txBox="1">
            <a:spLocks noGrp="1"/>
          </p:cNvSpPr>
          <p:nvPr>
            <p:ph type="body" idx="1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2" name="Google Shape;172;p8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3" name="Google Shape;173;p8"/>
          <p:cNvSpPr txBox="1"/>
          <p:nvPr/>
        </p:nvSpPr>
        <p:spPr>
          <a:xfrm>
            <a:off x="463692" y="2775857"/>
            <a:ext cx="1108387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8" descr="A diagram of a 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837" y="2560322"/>
            <a:ext cx="11586706" cy="358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9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81" name="Google Shape;181;p9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9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Compression P-Box</a:t>
            </a:r>
            <a:endParaRPr/>
          </a:p>
        </p:txBody>
      </p:sp>
      <p:sp>
        <p:nvSpPr>
          <p:cNvPr id="186" name="Google Shape;186;p9"/>
          <p:cNvSpPr txBox="1">
            <a:spLocks noGrp="1"/>
          </p:cNvSpPr>
          <p:nvPr>
            <p:ph type="body" idx="1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7" name="Google Shape;187;p9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8" name="Google Shape;188;p9"/>
          <p:cNvSpPr txBox="1"/>
          <p:nvPr/>
        </p:nvSpPr>
        <p:spPr>
          <a:xfrm>
            <a:off x="463692" y="2775857"/>
            <a:ext cx="1108387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9" descr="A diagram of a diagram with numbers and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692" y="2905631"/>
            <a:ext cx="11264616" cy="3338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>
            <a:spLocks noGrp="1"/>
          </p:cNvSpPr>
          <p:nvPr>
            <p:ph type="body" idx="1"/>
          </p:nvPr>
        </p:nvSpPr>
        <p:spPr>
          <a:xfrm>
            <a:off x="838200" y="293914"/>
            <a:ext cx="10515600" cy="588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0" algn="ctr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FEISTEL STRUCTURE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lang="en-US" sz="360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Encryption</a:t>
            </a:r>
            <a:endParaRPr/>
          </a:p>
        </p:txBody>
      </p:sp>
      <p:pic>
        <p:nvPicPr>
          <p:cNvPr id="201" name="Google Shape;201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083625" y="285050"/>
            <a:ext cx="6390900" cy="64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lang="en-US" sz="3600" b="1">
                <a:solidFill>
                  <a:srgbClr val="FFFFFF"/>
                </a:solidFill>
              </a:rPr>
              <a:t>Decryption</a:t>
            </a:r>
            <a:endParaRPr sz="3600" b="1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08" name="Google Shape;20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9314" y="0"/>
            <a:ext cx="607526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title"/>
          </p:nvPr>
        </p:nvSpPr>
        <p:spPr>
          <a:xfrm>
            <a:off x="130629" y="365125"/>
            <a:ext cx="11941628" cy="843189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Observations in Encryption and Decryption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3"/>
          <p:cNvSpPr txBox="1">
            <a:spLocks noGrp="1"/>
          </p:cNvSpPr>
          <p:nvPr>
            <p:ph type="body" idx="1"/>
          </p:nvPr>
        </p:nvSpPr>
        <p:spPr>
          <a:xfrm>
            <a:off x="838200" y="1360714"/>
            <a:ext cx="10515600" cy="481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Assume that </a:t>
            </a:r>
            <a:r>
              <a:rPr lang="en-US" sz="32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is the number of rounds.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During Encryption, LE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= RE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i-1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During Encryption, RE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= LE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i-1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⊕ F(RE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i-1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During Decryption, LD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= RD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i-1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During Decryption, RD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= LD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i-1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⊕ F(RD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i-1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n-i+1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LD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= RE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n-i</a:t>
            </a:r>
            <a:endParaRPr sz="3200"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= LE</a:t>
            </a:r>
            <a:r>
              <a:rPr lang="en-US" sz="3200" baseline="-25000">
                <a:latin typeface="Times New Roman"/>
                <a:ea typeface="Times New Roman"/>
                <a:cs typeface="Times New Roman"/>
                <a:sym typeface="Times New Roman"/>
              </a:rPr>
              <a:t>n-i</a:t>
            </a:r>
            <a:endParaRPr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body" idx="1"/>
          </p:nvPr>
        </p:nvSpPr>
        <p:spPr>
          <a:xfrm>
            <a:off x="838200" y="293914"/>
            <a:ext cx="10515600" cy="588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0" algn="ctr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6000" b="1">
                <a:latin typeface="Times New Roman"/>
                <a:ea typeface="Times New Roman"/>
                <a:cs typeface="Times New Roman"/>
                <a:sym typeface="Times New Roman"/>
              </a:rPr>
              <a:t>DES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imes New Roman"/>
              <a:buNone/>
            </a:pPr>
            <a:r>
              <a:rPr lang="en-US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5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Developed by IBM.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Adopted as a federal standard by NIST in 1977.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Input = 64-bit block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Output = 64-bit block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Original Key Length = 64 bits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Effective Key Length = 56 bits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Round Key = 48 bits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Consists of 16 rounds.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Each Round consists of different operations like Substitution, Permutation, Key-Mixing, and Expansion.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6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 txBox="1">
            <a:spLocks noGrp="1"/>
          </p:cNvSpPr>
          <p:nvPr>
            <p:ph type="title"/>
          </p:nvPr>
        </p:nvSpPr>
        <p:spPr>
          <a:xfrm>
            <a:off x="660040" y="2767106"/>
            <a:ext cx="3160845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Encryption</a:t>
            </a:r>
            <a:endParaRPr/>
          </a:p>
        </p:txBody>
      </p:sp>
      <p:pic>
        <p:nvPicPr>
          <p:cNvPr id="239" name="Google Shape;239;p16" descr="A diagram of a dia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95807" y="76200"/>
            <a:ext cx="723899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 flipH="1">
            <a:off x="0" y="0"/>
            <a:ext cx="5802086" cy="6858000"/>
          </a:xfrm>
          <a:custGeom>
            <a:avLst/>
            <a:gdLst/>
            <a:ahLst/>
            <a:cxnLst/>
            <a:rect l="l" t="t" r="r" b="b"/>
            <a:pathLst>
              <a:path w="5734864" h="6858000" extrusionOk="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 txBox="1"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DES Decryption</a:t>
            </a:r>
            <a:endParaRPr/>
          </a:p>
        </p:txBody>
      </p:sp>
      <p:pic>
        <p:nvPicPr>
          <p:cNvPr id="247" name="Google Shape;247;p17" descr="A screenshot of a computer scree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802086" y="108857"/>
            <a:ext cx="6085113" cy="647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and Final Permutations</a:t>
            </a:r>
            <a:endParaRPr sz="4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body" idx="1"/>
          </p:nvPr>
        </p:nvSpPr>
        <p:spPr>
          <a:xfrm>
            <a:off x="457200" y="1589314"/>
            <a:ext cx="10896600" cy="4963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9030" y="1589315"/>
            <a:ext cx="8927084" cy="5083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and Final Permutations </a:t>
            </a:r>
            <a:r>
              <a:rPr lang="en-US" sz="4800" b="1" i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(Contd..)</a:t>
            </a:r>
            <a:endParaRPr/>
          </a:p>
        </p:txBody>
      </p:sp>
      <p:sp>
        <p:nvSpPr>
          <p:cNvPr id="262" name="Google Shape;262;p19"/>
          <p:cNvSpPr txBox="1">
            <a:spLocks noGrp="1"/>
          </p:cNvSpPr>
          <p:nvPr>
            <p:ph type="body" idx="1"/>
          </p:nvPr>
        </p:nvSpPr>
        <p:spPr>
          <a:xfrm>
            <a:off x="457200" y="1589314"/>
            <a:ext cx="10896600" cy="4963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3" name="Google Shape;26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705" y="1697669"/>
            <a:ext cx="9388123" cy="4354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1</a:t>
            </a:r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1"/>
          </p:nvPr>
        </p:nvSpPr>
        <p:spPr>
          <a:xfrm>
            <a:off x="174171" y="1502229"/>
            <a:ext cx="10363200" cy="202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 the outputs of the IP for the below Plaintexts:-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0x0000 0000 0000 0080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0x0002 0000 0000 0081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0x0002 0000 0000 00C1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386442" y="3755572"/>
            <a:ext cx="6237514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 0000 8000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 0080 8000 0002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0x8000 0080 8000 0002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2</a:t>
            </a:r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174171" y="1502229"/>
            <a:ext cx="11081658" cy="202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 the ciphertexts for the below inputs to IP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:-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0x0000 0000 8000 0000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0x0000 0080 8000 0002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0x8000 0080 8000 0002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386442" y="3755572"/>
            <a:ext cx="6237514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 0000 0000 0080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0x0002 0000 0000 0081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0x0002 0000 0000 00C1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660040" y="2767106"/>
            <a:ext cx="3160845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Round of DES</a:t>
            </a:r>
            <a:endParaRPr/>
          </a:p>
        </p:txBody>
      </p:sp>
      <p:pic>
        <p:nvPicPr>
          <p:cNvPr id="290" name="Google Shape;290;p22" descr="A diagram of a process flow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143840" y="185057"/>
            <a:ext cx="7884874" cy="649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3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3"/>
          <p:cNvSpPr txBox="1">
            <a:spLocks noGrp="1"/>
          </p:cNvSpPr>
          <p:nvPr>
            <p:ph type="title"/>
          </p:nvPr>
        </p:nvSpPr>
        <p:spPr>
          <a:xfrm>
            <a:off x="660040" y="2767106"/>
            <a:ext cx="3160845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Round of DES </a:t>
            </a:r>
            <a:r>
              <a:rPr lang="en-US" sz="48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(Contd..)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4086" y="290359"/>
            <a:ext cx="6401485" cy="5860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4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4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4"/>
          <p:cNvSpPr txBox="1">
            <a:spLocks noGrp="1"/>
          </p:cNvSpPr>
          <p:nvPr>
            <p:ph type="title"/>
          </p:nvPr>
        </p:nvSpPr>
        <p:spPr>
          <a:xfrm>
            <a:off x="660040" y="2767106"/>
            <a:ext cx="3160845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Expansion P Box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0097" y="259261"/>
            <a:ext cx="7736846" cy="2636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6677" y="3015343"/>
            <a:ext cx="7388120" cy="3701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3</a:t>
            </a:r>
            <a:endParaRPr/>
          </a:p>
        </p:txBody>
      </p:sp>
      <p:sp>
        <p:nvSpPr>
          <p:cNvPr id="320" name="Google Shape;320;p25"/>
          <p:cNvSpPr txBox="1">
            <a:spLocks noGrp="1"/>
          </p:cNvSpPr>
          <p:nvPr>
            <p:ph type="body" idx="1"/>
          </p:nvPr>
        </p:nvSpPr>
        <p:spPr>
          <a:xfrm>
            <a:off x="174171" y="1502229"/>
            <a:ext cx="10853058" cy="202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 the outputs of the Expansion P box for the below inputs which are fed to a certain round:-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0x00000081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0x00000018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386442" y="3755572"/>
            <a:ext cx="6237514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0x800000001402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0x0000000000F0</a:t>
            </a:r>
            <a:endParaRPr/>
          </a:p>
          <a:p>
            <a:pPr marL="45720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6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6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6"/>
          <p:cNvSpPr txBox="1">
            <a:spLocks noGrp="1"/>
          </p:cNvSpPr>
          <p:nvPr>
            <p:ph type="title"/>
          </p:nvPr>
        </p:nvSpPr>
        <p:spPr>
          <a:xfrm>
            <a:off x="660040" y="2767106"/>
            <a:ext cx="3160845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S-Boxes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840" y="95809"/>
            <a:ext cx="7928417" cy="2251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6677" y="2873830"/>
            <a:ext cx="7185283" cy="3752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7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7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7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7"/>
          <p:cNvSpPr txBox="1">
            <a:spLocks noGrp="1"/>
          </p:cNvSpPr>
          <p:nvPr>
            <p:ph type="title"/>
          </p:nvPr>
        </p:nvSpPr>
        <p:spPr>
          <a:xfrm>
            <a:off x="660040" y="2767106"/>
            <a:ext cx="3160845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S-Boxes </a:t>
            </a:r>
            <a:r>
              <a:rPr lang="en-US" sz="48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(Contd..)</a:t>
            </a:r>
            <a:endParaRPr/>
          </a:p>
        </p:txBody>
      </p:sp>
      <p:pic>
        <p:nvPicPr>
          <p:cNvPr id="344" name="Google Shape;34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841" y="63086"/>
            <a:ext cx="7388120" cy="6794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8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4</a:t>
            </a:r>
            <a:endParaRPr/>
          </a:p>
        </p:txBody>
      </p:sp>
      <p:sp>
        <p:nvSpPr>
          <p:cNvPr id="351" name="Google Shape;351;p28"/>
          <p:cNvSpPr txBox="1">
            <a:spLocks noGrp="1"/>
          </p:cNvSpPr>
          <p:nvPr>
            <p:ph type="body" idx="1"/>
          </p:nvPr>
        </p:nvSpPr>
        <p:spPr>
          <a:xfrm>
            <a:off x="174170" y="1502229"/>
            <a:ext cx="11789230" cy="202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 the output of the 48-bit input 000100 100011 010001 010110 011110 001001 101010 111100 which is fed to the S-Box stage of a certain round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429985" y="2686790"/>
            <a:ext cx="6237514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1 o/p:- 1101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2 o/p:- 1000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3 o/p:- 0010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4 o/p:- 0101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5 o/p:- 1001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6 o/p:- 0111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7 o/p:- 0011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8 o/p:- 0101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5255080" y="2514600"/>
            <a:ext cx="623751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 output is 1101 1000 0010 0101 1001 0111 0011 0101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9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5</a:t>
            </a:r>
            <a:endParaRPr/>
          </a:p>
        </p:txBody>
      </p:sp>
      <p:sp>
        <p:nvSpPr>
          <p:cNvPr id="360" name="Google Shape;360;p29"/>
          <p:cNvSpPr txBox="1">
            <a:spLocks noGrp="1"/>
          </p:cNvSpPr>
          <p:nvPr>
            <p:ph type="body" idx="1"/>
          </p:nvPr>
        </p:nvSpPr>
        <p:spPr>
          <a:xfrm>
            <a:off x="174170" y="1502229"/>
            <a:ext cx="11789230" cy="202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 the output of the 48-bit input 000011 110000 111100 001111 000011 110000 111100 001111 which is fed to the S-Box stage of a certain round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429985" y="2686790"/>
            <a:ext cx="6237514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1 o/p:- 1111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2 o/p:- 0101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3 o/p:- 1110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4 o/p:- 0011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5 o/p:- 1011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6 o/p:- 0111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7 o/p:- 1001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Box 8 o/p:- 0100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5255080" y="2514600"/>
            <a:ext cx="623751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 output is 1111 0101 1110 0011 1011 0111 1001 0100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0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0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0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0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0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Straight Permutation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3" name="Google Shape;37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6937" y="478712"/>
            <a:ext cx="7368120" cy="363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6</a:t>
            </a:r>
            <a:endParaRPr/>
          </a:p>
        </p:txBody>
      </p:sp>
      <p:sp>
        <p:nvSpPr>
          <p:cNvPr id="380" name="Google Shape;380;p31"/>
          <p:cNvSpPr txBox="1">
            <a:spLocks noGrp="1"/>
          </p:cNvSpPr>
          <p:nvPr>
            <p:ph type="body" idx="1"/>
          </p:nvPr>
        </p:nvSpPr>
        <p:spPr>
          <a:xfrm>
            <a:off x="174170" y="1502229"/>
            <a:ext cx="11789230" cy="202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 the outputs of the below 32-bit inputs which are fed to the straight permutation of a certain round:-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0x02011000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0x02011008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1"/>
          <p:cNvSpPr txBox="1"/>
          <p:nvPr/>
        </p:nvSpPr>
        <p:spPr>
          <a:xfrm>
            <a:off x="348342" y="3759934"/>
            <a:ext cx="6237514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0xE0000000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0xE8000000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2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2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2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2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2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 and Reverse Cipher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4282" y="191705"/>
            <a:ext cx="7073612" cy="6481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3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3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3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3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3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Cipher Pseudocodes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3" name="Google Shape;40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0987" y="130126"/>
            <a:ext cx="6580783" cy="3483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6937" y="3809496"/>
            <a:ext cx="7302805" cy="2918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4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4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4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4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4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Cipher Pseudocodes </a:t>
            </a:r>
            <a:r>
              <a:rPr lang="en-US" sz="48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(Contd..)</a:t>
            </a:r>
            <a:endParaRPr/>
          </a:p>
        </p:txBody>
      </p:sp>
      <p:pic>
        <p:nvPicPr>
          <p:cNvPr id="415" name="Google Shape;41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1702" y="179120"/>
            <a:ext cx="7719405" cy="2422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4514" y="2901277"/>
            <a:ext cx="7707394" cy="340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5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5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5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Cipher Pseudocodes </a:t>
            </a:r>
            <a:r>
              <a:rPr lang="en-US" sz="48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(Contd..)</a:t>
            </a:r>
            <a:endParaRPr/>
          </a:p>
        </p:txBody>
      </p:sp>
      <p:pic>
        <p:nvPicPr>
          <p:cNvPr id="427" name="Google Shape;42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8718" y="208113"/>
            <a:ext cx="7429176" cy="5533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6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6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6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6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Key Generation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8" name="Google Shape;43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5415" y="-1"/>
            <a:ext cx="6809381" cy="6875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7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7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7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7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7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Key Generation Parity Drop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0987" y="586431"/>
            <a:ext cx="6613441" cy="4279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8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8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8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8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8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 Permutation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4437" y="478711"/>
            <a:ext cx="6685819" cy="4354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9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7</a:t>
            </a:r>
            <a:endParaRPr/>
          </a:p>
        </p:txBody>
      </p:sp>
      <p:sp>
        <p:nvSpPr>
          <p:cNvPr id="467" name="Google Shape;467;p39"/>
          <p:cNvSpPr txBox="1">
            <a:spLocks noGrp="1"/>
          </p:cNvSpPr>
          <p:nvPr>
            <p:ph type="body" idx="1"/>
          </p:nvPr>
        </p:nvSpPr>
        <p:spPr>
          <a:xfrm>
            <a:off x="174170" y="1502229"/>
            <a:ext cx="11789230" cy="881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 the round keys for the first 3 rounds, when a 64-bit key 0x0000 0000 0000 0080 is fed as input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39"/>
          <p:cNvSpPr txBox="1"/>
          <p:nvPr/>
        </p:nvSpPr>
        <p:spPr>
          <a:xfrm>
            <a:off x="322250" y="2295775"/>
            <a:ext cx="116142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Parity Drop Phase:-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Key = 0b 1000 0000 0000 0000 0000 0000 0000 0000 0000 0000 0000 0000 0000 0000</a:t>
            </a:r>
            <a:endParaRPr/>
          </a:p>
        </p:txBody>
      </p:sp>
      <p:sp>
        <p:nvSpPr>
          <p:cNvPr id="469" name="Google Shape;469;p39"/>
          <p:cNvSpPr txBox="1"/>
          <p:nvPr/>
        </p:nvSpPr>
        <p:spPr>
          <a:xfrm>
            <a:off x="201275" y="4016250"/>
            <a:ext cx="117351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 1:-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LHi:- 0b 1000 0000 0000 0000 0000 0000 0000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RHi:- 0b 0000 0000 0000 0000 0000 0000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LHo:- 0b 0000 0000 0000 0000 0000 0000 0001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RHo:- 0b 0000 0000 0000 0000 0000 0000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to compression P-box = 0b 0000 0000 0000 0000 0000 0000 0001 0000 0000 0000 0000 0000 0000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o/p = 0x010000000000</a:t>
            </a:r>
            <a:endParaRPr/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0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7 (Contd..)</a:t>
            </a:r>
            <a:endParaRPr/>
          </a:p>
        </p:txBody>
      </p:sp>
      <p:sp>
        <p:nvSpPr>
          <p:cNvPr id="476" name="Google Shape;476;p40"/>
          <p:cNvSpPr txBox="1"/>
          <p:nvPr/>
        </p:nvSpPr>
        <p:spPr>
          <a:xfrm>
            <a:off x="223156" y="1474228"/>
            <a:ext cx="11440887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 2:-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LHi:- 0b 0000 0000 0000 0000 0000 0000 0001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RHi:- 0b 0000 0000 0000 0000 0000 0000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LHo:- 0b 0000 0000 0000 0000 0000 0000 0010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RHo:- 0b 0000 0000 0000 0000 0000 0000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to compression P-box = 0b 0000 0000 0000 0000 0000 0000 0010 0000 0000 0000 0000 0000 0000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o/p = 0x000008000000</a:t>
            </a:r>
            <a:endParaRPr/>
          </a:p>
          <a:p>
            <a:pPr marL="45720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1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1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54468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7 (Contd..)</a:t>
            </a:r>
            <a:endParaRPr/>
          </a:p>
        </p:txBody>
      </p:sp>
      <p:sp>
        <p:nvSpPr>
          <p:cNvPr id="483" name="Google Shape;483;p41"/>
          <p:cNvSpPr txBox="1"/>
          <p:nvPr/>
        </p:nvSpPr>
        <p:spPr>
          <a:xfrm>
            <a:off x="556532" y="1679666"/>
            <a:ext cx="11440887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 3:-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LHi:- 0b 0000 0000 0000 0000 0000 0000 0010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RHi:- 0b 0000 0000 0000 0000 0000 0000 0000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LHo:- 0b 0000 0000 0000 0000 0000 0000 1000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RHo:- 0b 0000 0000 0000 0000 0000 0000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to compression P-box = 0b 0000 0000 0000 0000 0000 0000 1000 0000 0000 0000 0000 0000 0000 0000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o/p = 0x000000000000</a:t>
            </a:r>
            <a:endParaRPr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2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2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2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2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2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Pseudocodes for DES Round Keys Generation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4" name="Google Shape;49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05620" y="119244"/>
            <a:ext cx="7570694" cy="3679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807" y="3799114"/>
            <a:ext cx="7342087" cy="2805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3"/>
          <p:cNvSpPr/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761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3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156082">
                  <a:alpha val="50196"/>
                </a:srgbClr>
              </a:gs>
              <a:gs pos="100000">
                <a:srgbClr val="0A2F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3"/>
          <p:cNvSpPr/>
          <p:nvPr/>
        </p:nvSpPr>
        <p:spPr>
          <a:xfrm rot="-54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824"/>
                </a:srgbClr>
              </a:gs>
              <a:gs pos="6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3"/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43B0E1">
                  <a:alpha val="0"/>
                </a:srgbClr>
              </a:gs>
              <a:gs pos="39000">
                <a:srgbClr val="43B0E1">
                  <a:alpha val="0"/>
                </a:srgbClr>
              </a:gs>
              <a:gs pos="100000">
                <a:srgbClr val="0F4761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3"/>
          <p:cNvSpPr txBox="1">
            <a:spLocks noGrp="1"/>
          </p:cNvSpPr>
          <p:nvPr>
            <p:ph type="title"/>
          </p:nvPr>
        </p:nvSpPr>
        <p:spPr>
          <a:xfrm>
            <a:off x="354106" y="2767106"/>
            <a:ext cx="3597408" cy="3071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 Analysis</a:t>
            </a:r>
            <a:endParaRPr sz="4800" b="1" i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06" name="Google Shape;506;p43"/>
          <p:cNvGraphicFramePr/>
          <p:nvPr/>
        </p:nvGraphicFramePr>
        <p:xfrm>
          <a:off x="4332514" y="581736"/>
          <a:ext cx="7620000" cy="4043315"/>
        </p:xfrm>
        <a:graphic>
          <a:graphicData uri="http://schemas.openxmlformats.org/drawingml/2006/table">
            <a:tbl>
              <a:tblPr>
                <a:noFill/>
                <a:tableStyleId>{79992A0A-F461-4C6F-98F9-06A83A100F57}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Property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Meaning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DES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Avalanche Effect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small change in plaintext/key causes a significant change in ciphertext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Strong; ideally, a 1-bit change affects many output bits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Completeness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Each ciphertext bit should depend on many/all plaintext bits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progressively through multiple DES rounds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4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4"/>
          <p:cNvSpPr txBox="1"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imes New Roman"/>
              <a:buNone/>
            </a:pPr>
            <a:r>
              <a:rPr lang="en-US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 of DES</a:t>
            </a:r>
            <a:endParaRPr/>
          </a:p>
        </p:txBody>
      </p:sp>
      <p:sp>
        <p:nvSpPr>
          <p:cNvPr id="514" name="Google Shape;514;p44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4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7472549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Number of possible keys = 7.2057 * 10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Maximum time required for a PC to execute a successful DES decryption at 10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decryptions/second = (7.2057 *10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)/(10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/second) = 7.2057*10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seconds ≈ 2 years and 3 months.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Cryptanalysis is possible by exploiting the characteristics of DES.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DES is moderately resistant to a successful timing attack.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016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 b="1">
                <a:latin typeface="Times New Roman"/>
                <a:ea typeface="Times New Roman"/>
                <a:cs typeface="Times New Roman"/>
                <a:sym typeface="Times New Roman"/>
              </a:rPr>
              <a:t>Double DES</a:t>
            </a:r>
            <a:endParaRPr/>
          </a:p>
        </p:txBody>
      </p:sp>
      <p:sp>
        <p:nvSpPr>
          <p:cNvPr id="521" name="Google Shape;521;p45"/>
          <p:cNvSpPr txBox="1">
            <a:spLocks noGrp="1"/>
          </p:cNvSpPr>
          <p:nvPr>
            <p:ph type="body" idx="1"/>
          </p:nvPr>
        </p:nvSpPr>
        <p:spPr>
          <a:xfrm>
            <a:off x="838200" y="1230086"/>
            <a:ext cx="10515600" cy="4946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 = E(K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,E(K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P))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 = D(K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,D(K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C))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Key Space = 2</a:t>
            </a:r>
            <a:r>
              <a:rPr lang="en-US" baseline="30000">
                <a:latin typeface="Times New Roman"/>
                <a:ea typeface="Times New Roman"/>
                <a:cs typeface="Times New Roman"/>
                <a:sym typeface="Times New Roman"/>
              </a:rPr>
              <a:t>112</a:t>
            </a:r>
            <a:endParaRPr/>
          </a:p>
        </p:txBody>
      </p:sp>
      <p:pic>
        <p:nvPicPr>
          <p:cNvPr id="522" name="Google Shape;522;p45" descr="A diagram of a block 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0830" y="2732314"/>
            <a:ext cx="8708570" cy="3864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6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6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6"/>
          <p:cNvSpPr txBox="1">
            <a:spLocks noGrp="1"/>
          </p:cNvSpPr>
          <p:nvPr>
            <p:ph type="title"/>
          </p:nvPr>
        </p:nvSpPr>
        <p:spPr>
          <a:xfrm>
            <a:off x="206829" y="1153572"/>
            <a:ext cx="3831771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Triple DES with 2 Keys</a:t>
            </a:r>
            <a:endParaRPr/>
          </a:p>
        </p:txBody>
      </p:sp>
      <p:sp>
        <p:nvSpPr>
          <p:cNvPr id="530" name="Google Shape;530;p46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p46" descr="A diagram of a number of energy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36055" y="319088"/>
            <a:ext cx="7037488" cy="2013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6" descr="A diagram of a decomposed numbe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6055" y="3515353"/>
            <a:ext cx="6784507" cy="1862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7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7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7"/>
          <p:cNvSpPr txBox="1">
            <a:spLocks noGrp="1"/>
          </p:cNvSpPr>
          <p:nvPr>
            <p:ph type="title"/>
          </p:nvPr>
        </p:nvSpPr>
        <p:spPr>
          <a:xfrm>
            <a:off x="206829" y="1153572"/>
            <a:ext cx="3831771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imes New Roman"/>
              <a:buNone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Triple DES with 2 Keys </a:t>
            </a:r>
            <a:r>
              <a:rPr lang="en-US" sz="48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(Contd..)</a:t>
            </a:r>
            <a:endParaRPr/>
          </a:p>
        </p:txBody>
      </p:sp>
      <p:sp>
        <p:nvSpPr>
          <p:cNvPr id="540" name="Google Shape;540;p47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7"/>
          <p:cNvSpPr txBox="1">
            <a:spLocks noGrp="1"/>
          </p:cNvSpPr>
          <p:nvPr>
            <p:ph type="body" idx="1"/>
          </p:nvPr>
        </p:nvSpPr>
        <p:spPr>
          <a:xfrm>
            <a:off x="4447308" y="591344"/>
            <a:ext cx="7186527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Double DES used the encryption functions in sequence.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Triple DES follows E-D-E sequence.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 = E(K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,D(K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E(K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,P)))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 = D(K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E(K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D(K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C)))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8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7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8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8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20"/>
                </a:srgbClr>
              </a:gs>
              <a:gs pos="2000">
                <a:srgbClr val="156082">
                  <a:alpha val="29020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48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8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B0E1">
                  <a:alpha val="10980"/>
                </a:srgbClr>
              </a:gs>
              <a:gs pos="100000">
                <a:srgbClr val="43B0E1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8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Triple DES with 3 Keys</a:t>
            </a:r>
            <a:endParaRPr/>
          </a:p>
        </p:txBody>
      </p:sp>
      <p:pic>
        <p:nvPicPr>
          <p:cNvPr id="553" name="Google Shape;553;p48" descr="A diagram of a number of letters and numbers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04548" y="1230086"/>
            <a:ext cx="6860137" cy="3951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9"/>
          <p:cNvSpPr/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7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9"/>
          <p:cNvSpPr/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9"/>
          <p:cNvSpPr/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20"/>
                </a:srgbClr>
              </a:gs>
              <a:gs pos="2000">
                <a:srgbClr val="156082">
                  <a:alpha val="29020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9"/>
          <p:cNvSpPr/>
          <p:nvPr/>
        </p:nvSpPr>
        <p:spPr>
          <a:xfrm rot="-964587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9"/>
          <p:cNvSpPr/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B0E1">
                  <a:alpha val="10980"/>
                </a:srgbClr>
              </a:gs>
              <a:gs pos="100000">
                <a:srgbClr val="43B0E1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9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imes New Roman"/>
              <a:buNone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Triple DES with 3 Keys </a:t>
            </a:r>
            <a:r>
              <a:rPr lang="en-US" sz="400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(Contd..)</a:t>
            </a:r>
            <a:endParaRPr/>
          </a:p>
        </p:txBody>
      </p:sp>
      <p:sp>
        <p:nvSpPr>
          <p:cNvPr id="565" name="Google Shape;565;p49"/>
          <p:cNvSpPr txBox="1">
            <a:spLocks noGrp="1"/>
          </p:cNvSpPr>
          <p:nvPr>
            <p:ph type="body" idx="1"/>
          </p:nvPr>
        </p:nvSpPr>
        <p:spPr>
          <a:xfrm>
            <a:off x="4581727" y="1545771"/>
            <a:ext cx="6968016" cy="464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 = E(K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D(K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E(K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)))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 = D(K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E(K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D(K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)))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= 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(same as Triple DES with 2 keys)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= 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= 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(same as DES)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and K</a:t>
            </a:r>
            <a:r>
              <a:rPr lang="en-US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are different then highest level of security is offered.</a:t>
            </a:r>
            <a:endParaRPr/>
          </a:p>
          <a:p>
            <a:pPr marL="228600" lvl="0" indent="-50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1524000" y="655320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sz="1400" b="1" kern="1200">
                <a:solidFill>
                  <a:srgbClr val="3333CC"/>
                </a:solidFill>
                <a:ea typeface="+mn-ea"/>
                <a:cs typeface="+mn-cs"/>
              </a:rPr>
              <a:t>.</a:t>
            </a: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1524000" y="0"/>
            <a:ext cx="9144000" cy="30480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sz="1400" b="1" kern="1200">
              <a:solidFill>
                <a:srgbClr val="3333CC"/>
              </a:solidFill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795D5-6A36-0B41-54D9-619859C1AAFB}"/>
              </a:ext>
            </a:extLst>
          </p:cNvPr>
          <p:cNvSpPr txBox="1"/>
          <p:nvPr/>
        </p:nvSpPr>
        <p:spPr>
          <a:xfrm>
            <a:off x="1909855" y="702245"/>
            <a:ext cx="83722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kern="1200" dirty="0">
                <a:solidFill>
                  <a:srgbClr val="C00000"/>
                </a:solidFill>
                <a:ea typeface="+mn-ea"/>
                <a:cs typeface="+mn-cs"/>
              </a:rPr>
              <a:t>Triple DES with Two Keys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kern="1200" dirty="0"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kern="1200" dirty="0">
                <a:ea typeface="+mn-ea"/>
                <a:cs typeface="+mn-cs"/>
              </a:rPr>
              <a:t>In triple DES with two keys, there are only two keys: k1 and k2.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kern="1200" dirty="0"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kern="1200" dirty="0">
                <a:ea typeface="+mn-ea"/>
                <a:cs typeface="+mn-cs"/>
              </a:rPr>
              <a:t>The first and the third stages use k1; the second stage uses k2.</a:t>
            </a:r>
            <a:endParaRPr lang="en-IN" sz="1800" b="1" kern="1200" dirty="0">
              <a:solidFill>
                <a:srgbClr val="C00000"/>
              </a:solidFill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14F03-43A9-137B-B3A4-90FD1CC02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331" y="2360443"/>
            <a:ext cx="5607338" cy="379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2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">
  <a:themeElements>
    <a:clrScheme name="defaul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1326</Words>
  <Application>Microsoft Office PowerPoint</Application>
  <PresentationFormat>Widescreen</PresentationFormat>
  <Paragraphs>222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Times New Roman</vt:lpstr>
      <vt:lpstr>Calibri</vt:lpstr>
      <vt:lpstr>Play</vt:lpstr>
      <vt:lpstr>Noto Sans Symbols</vt:lpstr>
      <vt:lpstr>Office Theme</vt:lpstr>
      <vt:lpstr>default</vt:lpstr>
      <vt:lpstr>Topics to Cover</vt:lpstr>
      <vt:lpstr>PowerPoint Presentation</vt:lpstr>
      <vt:lpstr>Principles of designing a Block Cipher</vt:lpstr>
      <vt:lpstr>Basic Principles</vt:lpstr>
      <vt:lpstr>S-Boxes</vt:lpstr>
      <vt:lpstr>P-Boxes</vt:lpstr>
      <vt:lpstr>Straight P-Box</vt:lpstr>
      <vt:lpstr>Expansion P-Box</vt:lpstr>
      <vt:lpstr>Compression P-Box</vt:lpstr>
      <vt:lpstr>PowerPoint Presentation</vt:lpstr>
      <vt:lpstr>Encryption</vt:lpstr>
      <vt:lpstr>Decryption</vt:lpstr>
      <vt:lpstr>Observations in Encryption and Decryption</vt:lpstr>
      <vt:lpstr>PowerPoint Presentation</vt:lpstr>
      <vt:lpstr>Key Points</vt:lpstr>
      <vt:lpstr>DES Encryption</vt:lpstr>
      <vt:lpstr>DES Decryption</vt:lpstr>
      <vt:lpstr>Initial and Final Permutations</vt:lpstr>
      <vt:lpstr>Initial and Final Permutations (Contd..)</vt:lpstr>
      <vt:lpstr>Numerical 1</vt:lpstr>
      <vt:lpstr>Numerical 2</vt:lpstr>
      <vt:lpstr>One Round of DES</vt:lpstr>
      <vt:lpstr>One Round of DES (Contd..)</vt:lpstr>
      <vt:lpstr>Expansion P Box</vt:lpstr>
      <vt:lpstr>Numerical 3</vt:lpstr>
      <vt:lpstr>S-Boxes</vt:lpstr>
      <vt:lpstr>S-Boxes (Contd..)</vt:lpstr>
      <vt:lpstr>Numerical 4</vt:lpstr>
      <vt:lpstr>Numerical 5</vt:lpstr>
      <vt:lpstr>Straight Permutation</vt:lpstr>
      <vt:lpstr>Numerical 6</vt:lpstr>
      <vt:lpstr>Cipher and Reverse Cipher</vt:lpstr>
      <vt:lpstr>DES Cipher Pseudocodes</vt:lpstr>
      <vt:lpstr>DES Cipher Pseudocodes (Contd..)</vt:lpstr>
      <vt:lpstr>DES Cipher Pseudocodes (Contd..)</vt:lpstr>
      <vt:lpstr>DES Key Generation</vt:lpstr>
      <vt:lpstr>DES Key Generation Parity Drop</vt:lpstr>
      <vt:lpstr>Compression Permutation</vt:lpstr>
      <vt:lpstr>Numerical 7</vt:lpstr>
      <vt:lpstr>Numerical 7 (Contd..)</vt:lpstr>
      <vt:lpstr>Numerical 7 (Contd..)</vt:lpstr>
      <vt:lpstr>Pseudocodes for DES Round Keys Generation</vt:lpstr>
      <vt:lpstr>DES Analysis</vt:lpstr>
      <vt:lpstr>Strength of DES</vt:lpstr>
      <vt:lpstr>Double DES</vt:lpstr>
      <vt:lpstr>Triple DES with 2 Keys</vt:lpstr>
      <vt:lpstr>Triple DES with 2 Keys (Contd..)</vt:lpstr>
      <vt:lpstr>Triple DES with 3 Keys</vt:lpstr>
      <vt:lpstr>Triple DES with 3 Keys (Contd..)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Snehal Samanth [MAHE-MIT]</dc:creator>
  <cp:lastModifiedBy>Shashank Nandan</cp:lastModifiedBy>
  <cp:revision>2</cp:revision>
  <dcterms:created xsi:type="dcterms:W3CDTF">2024-08-05T09:18:20Z</dcterms:created>
  <dcterms:modified xsi:type="dcterms:W3CDTF">2026-08-23T19:35:05Z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0x010100DBF2D09440F4D9459A0CF0214DD5C910</vt:lpwstr>
  </property>
</Properties>
</file>