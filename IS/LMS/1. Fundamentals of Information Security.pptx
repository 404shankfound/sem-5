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quickStyle2.xml" ContentType="application/vnd.openxmlformats-officedocument.drawingml.diagramStyle+xml"/>
  <Override PartName="/ppt/diagrams/drawing2.xml" ContentType="application/vnd.ms-office.drawingml.diagramDrawing+xml"/>
  <Override PartName="/ppt/diagrams/colors2.xml" ContentType="application/vnd.openxmlformats-officedocument.drawingml.diagramColors+xml"/>
  <Override PartName="/ppt/diagrams/layout2.xml" ContentType="application/vnd.openxmlformats-officedocument.drawingml.diagram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41"/>
  </p:notesMasterIdLst>
  <p:sldIdLst>
    <p:sldId id="283" r:id="rId2"/>
    <p:sldId id="257" r:id="rId3"/>
    <p:sldId id="284" r:id="rId4"/>
    <p:sldId id="256" r:id="rId5"/>
    <p:sldId id="285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9" r:id="rId22"/>
    <p:sldId id="273" r:id="rId23"/>
    <p:sldId id="276" r:id="rId24"/>
    <p:sldId id="280" r:id="rId25"/>
    <p:sldId id="281" r:id="rId26"/>
    <p:sldId id="277" r:id="rId27"/>
    <p:sldId id="278" r:id="rId28"/>
    <p:sldId id="282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48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4683EC-F659-4DE0-8B9A-0188E59A296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1115215-5DF4-4E90-B3EC-3D8C918CDB63}">
      <dgm:prSet/>
      <dgm:spPr/>
      <dgm:t>
        <a:bodyPr/>
        <a:lstStyle/>
        <a:p>
          <a:r>
            <a:rPr lang="en-US" i="1" dirty="0">
              <a:latin typeface="Times New Roman" panose="02020603050405020304" pitchFamily="18" charset="0"/>
              <a:cs typeface="Times New Roman" panose="02020603050405020304" pitchFamily="18" charset="0"/>
            </a:rPr>
            <a:t>Peer Entity Authentication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:- Verification of the identities of the communicating entities.</a:t>
          </a:r>
        </a:p>
      </dgm:t>
    </dgm:pt>
    <dgm:pt modelId="{FFA582FC-6516-42D4-888B-25139B438209}" type="parTrans" cxnId="{F6A716DB-A256-4351-B483-8180B142BCF5}">
      <dgm:prSet/>
      <dgm:spPr/>
      <dgm:t>
        <a:bodyPr/>
        <a:lstStyle/>
        <a:p>
          <a:endParaRPr lang="en-US"/>
        </a:p>
      </dgm:t>
    </dgm:pt>
    <dgm:pt modelId="{538C6B7D-9CCD-4B62-BEC4-96612BFAF733}" type="sibTrans" cxnId="{F6A716DB-A256-4351-B483-8180B142BCF5}">
      <dgm:prSet/>
      <dgm:spPr/>
      <dgm:t>
        <a:bodyPr/>
        <a:lstStyle/>
        <a:p>
          <a:endParaRPr lang="en-US"/>
        </a:p>
      </dgm:t>
    </dgm:pt>
    <dgm:pt modelId="{A8FEEB7F-330C-4604-B2CC-F5601525F6E4}">
      <dgm:prSet/>
      <dgm:spPr/>
      <dgm:t>
        <a:bodyPr/>
        <a:lstStyle/>
        <a:p>
          <a:r>
            <a:rPr lang="en-US" i="1" dirty="0">
              <a:latin typeface="Times New Roman" panose="02020603050405020304" pitchFamily="18" charset="0"/>
              <a:cs typeface="Times New Roman" panose="02020603050405020304" pitchFamily="18" charset="0"/>
            </a:rPr>
            <a:t>Data Origin Authentication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:- Verification of the source of the data, and that it is from a legitimate communicating entity.</a:t>
          </a:r>
        </a:p>
      </dgm:t>
    </dgm:pt>
    <dgm:pt modelId="{BB9D79D0-727C-446C-AEE8-542FE13657FB}" type="parTrans" cxnId="{8DE85DB8-292D-4EC6-8816-419BAA61EACB}">
      <dgm:prSet/>
      <dgm:spPr/>
      <dgm:t>
        <a:bodyPr/>
        <a:lstStyle/>
        <a:p>
          <a:endParaRPr lang="en-US"/>
        </a:p>
      </dgm:t>
    </dgm:pt>
    <dgm:pt modelId="{7EB4ACD2-9E1A-4BDF-8492-8DD444E81146}" type="sibTrans" cxnId="{8DE85DB8-292D-4EC6-8816-419BAA61EACB}">
      <dgm:prSet/>
      <dgm:spPr/>
      <dgm:t>
        <a:bodyPr/>
        <a:lstStyle/>
        <a:p>
          <a:endParaRPr lang="en-US"/>
        </a:p>
      </dgm:t>
    </dgm:pt>
    <dgm:pt modelId="{D351B85A-3067-47CD-AB49-C98C89155246}">
      <dgm:prSet/>
      <dgm:spPr/>
      <dgm:t>
        <a:bodyPr/>
        <a:lstStyle/>
        <a:p>
          <a:r>
            <a:rPr lang="en-US" i="1" dirty="0">
              <a:latin typeface="Times New Roman" panose="02020603050405020304" pitchFamily="18" charset="0"/>
              <a:cs typeface="Times New Roman" panose="02020603050405020304" pitchFamily="18" charset="0"/>
            </a:rPr>
            <a:t>Access Control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:- Mechanisms and Policies which are defined to manage and restrict access to resources and data.</a:t>
          </a:r>
        </a:p>
      </dgm:t>
    </dgm:pt>
    <dgm:pt modelId="{F36B8287-2E57-4566-98FF-699D7FDD736F}" type="parTrans" cxnId="{273CAE53-A6B9-43CC-93B9-72E4404596AC}">
      <dgm:prSet/>
      <dgm:spPr/>
      <dgm:t>
        <a:bodyPr/>
        <a:lstStyle/>
        <a:p>
          <a:endParaRPr lang="en-US"/>
        </a:p>
      </dgm:t>
    </dgm:pt>
    <dgm:pt modelId="{3B230734-3AF4-4563-9557-755016B5027F}" type="sibTrans" cxnId="{273CAE53-A6B9-43CC-93B9-72E4404596AC}">
      <dgm:prSet/>
      <dgm:spPr/>
      <dgm:t>
        <a:bodyPr/>
        <a:lstStyle/>
        <a:p>
          <a:endParaRPr lang="en-US"/>
        </a:p>
      </dgm:t>
    </dgm:pt>
    <dgm:pt modelId="{52163EEA-F843-4BB8-8E55-C2A7C2860E25}">
      <dgm:prSet/>
      <dgm:spPr/>
      <dgm:t>
        <a:bodyPr/>
        <a:lstStyle/>
        <a:p>
          <a:r>
            <a:rPr lang="en-US" i="1" dirty="0">
              <a:latin typeface="Times New Roman" panose="02020603050405020304" pitchFamily="18" charset="0"/>
              <a:cs typeface="Times New Roman" panose="02020603050405020304" pitchFamily="18" charset="0"/>
            </a:rPr>
            <a:t>Confidentiality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:- Includes 4 types of Confidentiality (Connection Confidentiality, Connectionless Confidentiality, Selective-Field Confidentiality, and Traffic Flow Confidentiality)</a:t>
          </a:r>
        </a:p>
      </dgm:t>
    </dgm:pt>
    <dgm:pt modelId="{66CD2956-E5BD-444A-9AB2-8D7A7A8D9392}" type="parTrans" cxnId="{A1235152-27C1-4512-9EE9-B43D8FFB679A}">
      <dgm:prSet/>
      <dgm:spPr/>
      <dgm:t>
        <a:bodyPr/>
        <a:lstStyle/>
        <a:p>
          <a:endParaRPr lang="en-US"/>
        </a:p>
      </dgm:t>
    </dgm:pt>
    <dgm:pt modelId="{461B7542-6A28-4BA4-8D22-BF9A3EBFBCCD}" type="sibTrans" cxnId="{A1235152-27C1-4512-9EE9-B43D8FFB679A}">
      <dgm:prSet/>
      <dgm:spPr/>
      <dgm:t>
        <a:bodyPr/>
        <a:lstStyle/>
        <a:p>
          <a:endParaRPr lang="en-US"/>
        </a:p>
      </dgm:t>
    </dgm:pt>
    <dgm:pt modelId="{CBB4E364-731C-465B-AA3D-1DE9143B0631}" type="pres">
      <dgm:prSet presAssocID="{1A4683EC-F659-4DE0-8B9A-0188E59A296E}" presName="root" presStyleCnt="0">
        <dgm:presLayoutVars>
          <dgm:dir/>
          <dgm:resizeHandles val="exact"/>
        </dgm:presLayoutVars>
      </dgm:prSet>
      <dgm:spPr/>
    </dgm:pt>
    <dgm:pt modelId="{8AD1486E-4724-4799-95DF-2BA0DEB89B0C}" type="pres">
      <dgm:prSet presAssocID="{91115215-5DF4-4E90-B3EC-3D8C918CDB63}" presName="compNode" presStyleCnt="0"/>
      <dgm:spPr/>
    </dgm:pt>
    <dgm:pt modelId="{F5EFB04D-26EF-4DD6-A38A-011EE4FB0B1C}" type="pres">
      <dgm:prSet presAssocID="{91115215-5DF4-4E90-B3EC-3D8C918CDB63}" presName="bgRect" presStyleLbl="bgShp" presStyleIdx="0" presStyleCnt="4"/>
      <dgm:spPr/>
    </dgm:pt>
    <dgm:pt modelId="{1FB69400-2AF1-4F49-8071-BAECF026B578}" type="pres">
      <dgm:prSet presAssocID="{91115215-5DF4-4E90-B3EC-3D8C918CDB6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AB0C82B7-4B64-49AA-AEA8-C9B44E09E97E}" type="pres">
      <dgm:prSet presAssocID="{91115215-5DF4-4E90-B3EC-3D8C918CDB63}" presName="spaceRect" presStyleCnt="0"/>
      <dgm:spPr/>
    </dgm:pt>
    <dgm:pt modelId="{E96476AB-E22E-45FA-BCB5-E7B6B601919E}" type="pres">
      <dgm:prSet presAssocID="{91115215-5DF4-4E90-B3EC-3D8C918CDB63}" presName="parTx" presStyleLbl="revTx" presStyleIdx="0" presStyleCnt="4">
        <dgm:presLayoutVars>
          <dgm:chMax val="0"/>
          <dgm:chPref val="0"/>
        </dgm:presLayoutVars>
      </dgm:prSet>
      <dgm:spPr/>
    </dgm:pt>
    <dgm:pt modelId="{94C812F7-FA34-4842-8BA1-B2B62C9FAC53}" type="pres">
      <dgm:prSet presAssocID="{538C6B7D-9CCD-4B62-BEC4-96612BFAF733}" presName="sibTrans" presStyleCnt="0"/>
      <dgm:spPr/>
    </dgm:pt>
    <dgm:pt modelId="{02590236-DA6D-4147-B2AB-758FFF4A2564}" type="pres">
      <dgm:prSet presAssocID="{A8FEEB7F-330C-4604-B2CC-F5601525F6E4}" presName="compNode" presStyleCnt="0"/>
      <dgm:spPr/>
    </dgm:pt>
    <dgm:pt modelId="{EFC81205-E37B-4672-9770-55156F8E4323}" type="pres">
      <dgm:prSet presAssocID="{A8FEEB7F-330C-4604-B2CC-F5601525F6E4}" presName="bgRect" presStyleLbl="bgShp" presStyleIdx="1" presStyleCnt="4"/>
      <dgm:spPr/>
    </dgm:pt>
    <dgm:pt modelId="{140BAF4C-9AE4-4526-9F5B-F7B38BF3359D}" type="pres">
      <dgm:prSet presAssocID="{A8FEEB7F-330C-4604-B2CC-F5601525F6E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6C82C75D-4AD8-4C8C-AB5F-E01760F9637B}" type="pres">
      <dgm:prSet presAssocID="{A8FEEB7F-330C-4604-B2CC-F5601525F6E4}" presName="spaceRect" presStyleCnt="0"/>
      <dgm:spPr/>
    </dgm:pt>
    <dgm:pt modelId="{50274AD8-8067-438E-83BA-509D2451A25A}" type="pres">
      <dgm:prSet presAssocID="{A8FEEB7F-330C-4604-B2CC-F5601525F6E4}" presName="parTx" presStyleLbl="revTx" presStyleIdx="1" presStyleCnt="4">
        <dgm:presLayoutVars>
          <dgm:chMax val="0"/>
          <dgm:chPref val="0"/>
        </dgm:presLayoutVars>
      </dgm:prSet>
      <dgm:spPr/>
    </dgm:pt>
    <dgm:pt modelId="{80B01613-5215-48C6-B3EB-3F0A6520B093}" type="pres">
      <dgm:prSet presAssocID="{7EB4ACD2-9E1A-4BDF-8492-8DD444E81146}" presName="sibTrans" presStyleCnt="0"/>
      <dgm:spPr/>
    </dgm:pt>
    <dgm:pt modelId="{B3204EAA-C236-490F-A3E2-09E03A56D2A0}" type="pres">
      <dgm:prSet presAssocID="{D351B85A-3067-47CD-AB49-C98C89155246}" presName="compNode" presStyleCnt="0"/>
      <dgm:spPr/>
    </dgm:pt>
    <dgm:pt modelId="{40BE8A3E-8F34-4F4B-AD7A-C82502C277CE}" type="pres">
      <dgm:prSet presAssocID="{D351B85A-3067-47CD-AB49-C98C89155246}" presName="bgRect" presStyleLbl="bgShp" presStyleIdx="2" presStyleCnt="4"/>
      <dgm:spPr/>
    </dgm:pt>
    <dgm:pt modelId="{76D2362D-B546-4650-9A90-15760E643D29}" type="pres">
      <dgm:prSet presAssocID="{D351B85A-3067-47CD-AB49-C98C8915524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388097CB-2F80-4088-9959-419875384D22}" type="pres">
      <dgm:prSet presAssocID="{D351B85A-3067-47CD-AB49-C98C89155246}" presName="spaceRect" presStyleCnt="0"/>
      <dgm:spPr/>
    </dgm:pt>
    <dgm:pt modelId="{30838AD0-8A94-45C8-96A7-77B84B11B1AA}" type="pres">
      <dgm:prSet presAssocID="{D351B85A-3067-47CD-AB49-C98C89155246}" presName="parTx" presStyleLbl="revTx" presStyleIdx="2" presStyleCnt="4">
        <dgm:presLayoutVars>
          <dgm:chMax val="0"/>
          <dgm:chPref val="0"/>
        </dgm:presLayoutVars>
      </dgm:prSet>
      <dgm:spPr/>
    </dgm:pt>
    <dgm:pt modelId="{D4B4C115-8776-4F58-B54E-C351879A54A0}" type="pres">
      <dgm:prSet presAssocID="{3B230734-3AF4-4563-9557-755016B5027F}" presName="sibTrans" presStyleCnt="0"/>
      <dgm:spPr/>
    </dgm:pt>
    <dgm:pt modelId="{95A4ABC3-CF0F-418C-B11B-20865669B504}" type="pres">
      <dgm:prSet presAssocID="{52163EEA-F843-4BB8-8E55-C2A7C2860E25}" presName="compNode" presStyleCnt="0"/>
      <dgm:spPr/>
    </dgm:pt>
    <dgm:pt modelId="{B34B59A6-E421-4E70-83CF-918E7BEBBA9C}" type="pres">
      <dgm:prSet presAssocID="{52163EEA-F843-4BB8-8E55-C2A7C2860E25}" presName="bgRect" presStyleLbl="bgShp" presStyleIdx="3" presStyleCnt="4"/>
      <dgm:spPr/>
    </dgm:pt>
    <dgm:pt modelId="{BF093A35-0B64-4FEE-ADDB-C25DA1178D3C}" type="pres">
      <dgm:prSet presAssocID="{52163EEA-F843-4BB8-8E55-C2A7C2860E2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770D66BD-F52F-456C-B2A7-D36D0EE45CC9}" type="pres">
      <dgm:prSet presAssocID="{52163EEA-F843-4BB8-8E55-C2A7C2860E25}" presName="spaceRect" presStyleCnt="0"/>
      <dgm:spPr/>
    </dgm:pt>
    <dgm:pt modelId="{64F446B6-BF00-4383-8EF8-754E54E68B5D}" type="pres">
      <dgm:prSet presAssocID="{52163EEA-F843-4BB8-8E55-C2A7C2860E2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784230B-8B6F-4AB4-B1C3-F731D9E33081}" type="presOf" srcId="{A8FEEB7F-330C-4604-B2CC-F5601525F6E4}" destId="{50274AD8-8067-438E-83BA-509D2451A25A}" srcOrd="0" destOrd="0" presId="urn:microsoft.com/office/officeart/2018/2/layout/IconVerticalSolidList"/>
    <dgm:cxn modelId="{2282081F-0E76-4641-990C-C8EA7FF4173F}" type="presOf" srcId="{91115215-5DF4-4E90-B3EC-3D8C918CDB63}" destId="{E96476AB-E22E-45FA-BCB5-E7B6B601919E}" srcOrd="0" destOrd="0" presId="urn:microsoft.com/office/officeart/2018/2/layout/IconVerticalSolidList"/>
    <dgm:cxn modelId="{06030544-C885-4B2D-9FAC-05B8058FD623}" type="presOf" srcId="{1A4683EC-F659-4DE0-8B9A-0188E59A296E}" destId="{CBB4E364-731C-465B-AA3D-1DE9143B0631}" srcOrd="0" destOrd="0" presId="urn:microsoft.com/office/officeart/2018/2/layout/IconVerticalSolidList"/>
    <dgm:cxn modelId="{633CAD4E-3591-49E7-896E-E845DA5617B2}" type="presOf" srcId="{52163EEA-F843-4BB8-8E55-C2A7C2860E25}" destId="{64F446B6-BF00-4383-8EF8-754E54E68B5D}" srcOrd="0" destOrd="0" presId="urn:microsoft.com/office/officeart/2018/2/layout/IconVerticalSolidList"/>
    <dgm:cxn modelId="{A1235152-27C1-4512-9EE9-B43D8FFB679A}" srcId="{1A4683EC-F659-4DE0-8B9A-0188E59A296E}" destId="{52163EEA-F843-4BB8-8E55-C2A7C2860E25}" srcOrd="3" destOrd="0" parTransId="{66CD2956-E5BD-444A-9AB2-8D7A7A8D9392}" sibTransId="{461B7542-6A28-4BA4-8D22-BF9A3EBFBCCD}"/>
    <dgm:cxn modelId="{273CAE53-A6B9-43CC-93B9-72E4404596AC}" srcId="{1A4683EC-F659-4DE0-8B9A-0188E59A296E}" destId="{D351B85A-3067-47CD-AB49-C98C89155246}" srcOrd="2" destOrd="0" parTransId="{F36B8287-2E57-4566-98FF-699D7FDD736F}" sibTransId="{3B230734-3AF4-4563-9557-755016B5027F}"/>
    <dgm:cxn modelId="{8DE85DB8-292D-4EC6-8816-419BAA61EACB}" srcId="{1A4683EC-F659-4DE0-8B9A-0188E59A296E}" destId="{A8FEEB7F-330C-4604-B2CC-F5601525F6E4}" srcOrd="1" destOrd="0" parTransId="{BB9D79D0-727C-446C-AEE8-542FE13657FB}" sibTransId="{7EB4ACD2-9E1A-4BDF-8492-8DD444E81146}"/>
    <dgm:cxn modelId="{F6A716DB-A256-4351-B483-8180B142BCF5}" srcId="{1A4683EC-F659-4DE0-8B9A-0188E59A296E}" destId="{91115215-5DF4-4E90-B3EC-3D8C918CDB63}" srcOrd="0" destOrd="0" parTransId="{FFA582FC-6516-42D4-888B-25139B438209}" sibTransId="{538C6B7D-9CCD-4B62-BEC4-96612BFAF733}"/>
    <dgm:cxn modelId="{F87A96E8-A63A-4FFA-9ADD-577C982421AB}" type="presOf" srcId="{D351B85A-3067-47CD-AB49-C98C89155246}" destId="{30838AD0-8A94-45C8-96A7-77B84B11B1AA}" srcOrd="0" destOrd="0" presId="urn:microsoft.com/office/officeart/2018/2/layout/IconVerticalSolidList"/>
    <dgm:cxn modelId="{E73389E0-1F68-4FAA-AD73-C8BDEC9A1ADF}" type="presParOf" srcId="{CBB4E364-731C-465B-AA3D-1DE9143B0631}" destId="{8AD1486E-4724-4799-95DF-2BA0DEB89B0C}" srcOrd="0" destOrd="0" presId="urn:microsoft.com/office/officeart/2018/2/layout/IconVerticalSolidList"/>
    <dgm:cxn modelId="{46C8181E-0C48-4076-B258-71F7AC18469E}" type="presParOf" srcId="{8AD1486E-4724-4799-95DF-2BA0DEB89B0C}" destId="{F5EFB04D-26EF-4DD6-A38A-011EE4FB0B1C}" srcOrd="0" destOrd="0" presId="urn:microsoft.com/office/officeart/2018/2/layout/IconVerticalSolidList"/>
    <dgm:cxn modelId="{FF01EB22-7C22-48E9-AC00-F6463EAAD600}" type="presParOf" srcId="{8AD1486E-4724-4799-95DF-2BA0DEB89B0C}" destId="{1FB69400-2AF1-4F49-8071-BAECF026B578}" srcOrd="1" destOrd="0" presId="urn:microsoft.com/office/officeart/2018/2/layout/IconVerticalSolidList"/>
    <dgm:cxn modelId="{751FA94A-D769-4DE1-BB83-821BD5081701}" type="presParOf" srcId="{8AD1486E-4724-4799-95DF-2BA0DEB89B0C}" destId="{AB0C82B7-4B64-49AA-AEA8-C9B44E09E97E}" srcOrd="2" destOrd="0" presId="urn:microsoft.com/office/officeart/2018/2/layout/IconVerticalSolidList"/>
    <dgm:cxn modelId="{186DDFDC-7031-4980-87FD-70BA28B63AA0}" type="presParOf" srcId="{8AD1486E-4724-4799-95DF-2BA0DEB89B0C}" destId="{E96476AB-E22E-45FA-BCB5-E7B6B601919E}" srcOrd="3" destOrd="0" presId="urn:microsoft.com/office/officeart/2018/2/layout/IconVerticalSolidList"/>
    <dgm:cxn modelId="{3F210E0B-3AD7-4AD6-A859-5DF7D16086F8}" type="presParOf" srcId="{CBB4E364-731C-465B-AA3D-1DE9143B0631}" destId="{94C812F7-FA34-4842-8BA1-B2B62C9FAC53}" srcOrd="1" destOrd="0" presId="urn:microsoft.com/office/officeart/2018/2/layout/IconVerticalSolidList"/>
    <dgm:cxn modelId="{C2695373-5600-4958-8E99-AD164C6F1361}" type="presParOf" srcId="{CBB4E364-731C-465B-AA3D-1DE9143B0631}" destId="{02590236-DA6D-4147-B2AB-758FFF4A2564}" srcOrd="2" destOrd="0" presId="urn:microsoft.com/office/officeart/2018/2/layout/IconVerticalSolidList"/>
    <dgm:cxn modelId="{5EAB4C06-101A-4B8C-A0D9-8D6FA471637D}" type="presParOf" srcId="{02590236-DA6D-4147-B2AB-758FFF4A2564}" destId="{EFC81205-E37B-4672-9770-55156F8E4323}" srcOrd="0" destOrd="0" presId="urn:microsoft.com/office/officeart/2018/2/layout/IconVerticalSolidList"/>
    <dgm:cxn modelId="{2F5BB90E-0747-4D5F-A013-EF7690B9C4F3}" type="presParOf" srcId="{02590236-DA6D-4147-B2AB-758FFF4A2564}" destId="{140BAF4C-9AE4-4526-9F5B-F7B38BF3359D}" srcOrd="1" destOrd="0" presId="urn:microsoft.com/office/officeart/2018/2/layout/IconVerticalSolidList"/>
    <dgm:cxn modelId="{F49F05E3-17E6-42E1-BB9A-11A4ECC1048F}" type="presParOf" srcId="{02590236-DA6D-4147-B2AB-758FFF4A2564}" destId="{6C82C75D-4AD8-4C8C-AB5F-E01760F9637B}" srcOrd="2" destOrd="0" presId="urn:microsoft.com/office/officeart/2018/2/layout/IconVerticalSolidList"/>
    <dgm:cxn modelId="{4E3F318B-3413-4786-B099-DBD75AA8B41F}" type="presParOf" srcId="{02590236-DA6D-4147-B2AB-758FFF4A2564}" destId="{50274AD8-8067-438E-83BA-509D2451A25A}" srcOrd="3" destOrd="0" presId="urn:microsoft.com/office/officeart/2018/2/layout/IconVerticalSolidList"/>
    <dgm:cxn modelId="{4F2BBE46-36CC-4179-96F8-709E1D0D1F4E}" type="presParOf" srcId="{CBB4E364-731C-465B-AA3D-1DE9143B0631}" destId="{80B01613-5215-48C6-B3EB-3F0A6520B093}" srcOrd="3" destOrd="0" presId="urn:microsoft.com/office/officeart/2018/2/layout/IconVerticalSolidList"/>
    <dgm:cxn modelId="{1CDB1B51-B77E-4005-AEAD-742B8F4E20AE}" type="presParOf" srcId="{CBB4E364-731C-465B-AA3D-1DE9143B0631}" destId="{B3204EAA-C236-490F-A3E2-09E03A56D2A0}" srcOrd="4" destOrd="0" presId="urn:microsoft.com/office/officeart/2018/2/layout/IconVerticalSolidList"/>
    <dgm:cxn modelId="{99FA4E38-2A4E-453C-A458-EA1823ED5A1C}" type="presParOf" srcId="{B3204EAA-C236-490F-A3E2-09E03A56D2A0}" destId="{40BE8A3E-8F34-4F4B-AD7A-C82502C277CE}" srcOrd="0" destOrd="0" presId="urn:microsoft.com/office/officeart/2018/2/layout/IconVerticalSolidList"/>
    <dgm:cxn modelId="{9A28D3DE-CACA-46B3-81AC-0C1B199F582E}" type="presParOf" srcId="{B3204EAA-C236-490F-A3E2-09E03A56D2A0}" destId="{76D2362D-B546-4650-9A90-15760E643D29}" srcOrd="1" destOrd="0" presId="urn:microsoft.com/office/officeart/2018/2/layout/IconVerticalSolidList"/>
    <dgm:cxn modelId="{3ACFA861-1864-4D9A-85EB-FB9027649E18}" type="presParOf" srcId="{B3204EAA-C236-490F-A3E2-09E03A56D2A0}" destId="{388097CB-2F80-4088-9959-419875384D22}" srcOrd="2" destOrd="0" presId="urn:microsoft.com/office/officeart/2018/2/layout/IconVerticalSolidList"/>
    <dgm:cxn modelId="{E9AB65D3-1D01-4D69-AE74-D01BD0B62547}" type="presParOf" srcId="{B3204EAA-C236-490F-A3E2-09E03A56D2A0}" destId="{30838AD0-8A94-45C8-96A7-77B84B11B1AA}" srcOrd="3" destOrd="0" presId="urn:microsoft.com/office/officeart/2018/2/layout/IconVerticalSolidList"/>
    <dgm:cxn modelId="{9F5838EF-E196-429D-9EA7-08F90ABA0DE7}" type="presParOf" srcId="{CBB4E364-731C-465B-AA3D-1DE9143B0631}" destId="{D4B4C115-8776-4F58-B54E-C351879A54A0}" srcOrd="5" destOrd="0" presId="urn:microsoft.com/office/officeart/2018/2/layout/IconVerticalSolidList"/>
    <dgm:cxn modelId="{A2F3427A-3AA2-4971-B4F7-C545BBFCE20A}" type="presParOf" srcId="{CBB4E364-731C-465B-AA3D-1DE9143B0631}" destId="{95A4ABC3-CF0F-418C-B11B-20865669B504}" srcOrd="6" destOrd="0" presId="urn:microsoft.com/office/officeart/2018/2/layout/IconVerticalSolidList"/>
    <dgm:cxn modelId="{55115EB5-0D83-4146-935B-4DE09A7B4CB1}" type="presParOf" srcId="{95A4ABC3-CF0F-418C-B11B-20865669B504}" destId="{B34B59A6-E421-4E70-83CF-918E7BEBBA9C}" srcOrd="0" destOrd="0" presId="urn:microsoft.com/office/officeart/2018/2/layout/IconVerticalSolidList"/>
    <dgm:cxn modelId="{412D1813-429E-4EC7-B951-38F739327FB3}" type="presParOf" srcId="{95A4ABC3-CF0F-418C-B11B-20865669B504}" destId="{BF093A35-0B64-4FEE-ADDB-C25DA1178D3C}" srcOrd="1" destOrd="0" presId="urn:microsoft.com/office/officeart/2018/2/layout/IconVerticalSolidList"/>
    <dgm:cxn modelId="{FE246B14-807C-419C-8640-6E53A281DC48}" type="presParOf" srcId="{95A4ABC3-CF0F-418C-B11B-20865669B504}" destId="{770D66BD-F52F-456C-B2A7-D36D0EE45CC9}" srcOrd="2" destOrd="0" presId="urn:microsoft.com/office/officeart/2018/2/layout/IconVerticalSolidList"/>
    <dgm:cxn modelId="{578FB015-27F0-4263-9D01-F23C1EE012E2}" type="presParOf" srcId="{95A4ABC3-CF0F-418C-B11B-20865669B504}" destId="{64F446B6-BF00-4383-8EF8-754E54E68B5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94B18F-0926-48E9-BFCB-0FA60AB8EEA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6531E5A-7ECC-4493-9E1B-1C9099E8EBAE}">
      <dgm:prSet/>
      <dgm:spPr/>
      <dgm:t>
        <a:bodyPr/>
        <a:lstStyle/>
        <a:p>
          <a:r>
            <a:rPr lang="en-US" i="1" dirty="0"/>
            <a:t>Data Integrity</a:t>
          </a:r>
          <a:r>
            <a:rPr lang="en-US" dirty="0"/>
            <a:t>:- Involves 5 types (Connection Integrity with Recovery, Connection Integrity without Recovery, Selective-Field Connection Integrity, Connectionless Integrity, and Selective-Field Connectionless Integrity)</a:t>
          </a:r>
        </a:p>
      </dgm:t>
    </dgm:pt>
    <dgm:pt modelId="{AFD4B5F6-AE79-401D-8F56-64E2AD09591B}" type="parTrans" cxnId="{171B5CE0-4790-4624-8BE3-5771C2F60385}">
      <dgm:prSet/>
      <dgm:spPr/>
      <dgm:t>
        <a:bodyPr/>
        <a:lstStyle/>
        <a:p>
          <a:endParaRPr lang="en-US"/>
        </a:p>
      </dgm:t>
    </dgm:pt>
    <dgm:pt modelId="{8942046A-8D2D-4337-A49D-B4BB5D15D2D6}" type="sibTrans" cxnId="{171B5CE0-4790-4624-8BE3-5771C2F60385}">
      <dgm:prSet/>
      <dgm:spPr/>
      <dgm:t>
        <a:bodyPr/>
        <a:lstStyle/>
        <a:p>
          <a:endParaRPr lang="en-US"/>
        </a:p>
      </dgm:t>
    </dgm:pt>
    <dgm:pt modelId="{66168046-0ED5-4D90-93DF-EA06FCC056E3}">
      <dgm:prSet/>
      <dgm:spPr/>
      <dgm:t>
        <a:bodyPr/>
        <a:lstStyle/>
        <a:p>
          <a:r>
            <a:rPr lang="en-US" i="1"/>
            <a:t>Non-Repudiation</a:t>
          </a:r>
          <a:r>
            <a:rPr lang="en-US"/>
            <a:t>:- 2 types (for Origin, and for Destination)</a:t>
          </a:r>
        </a:p>
      </dgm:t>
    </dgm:pt>
    <dgm:pt modelId="{D29003CD-E49E-4F50-A0B8-1176C8D3A70C}" type="parTrans" cxnId="{0D3A8F3E-A542-4E3E-8869-EDB41537DB0B}">
      <dgm:prSet/>
      <dgm:spPr/>
      <dgm:t>
        <a:bodyPr/>
        <a:lstStyle/>
        <a:p>
          <a:endParaRPr lang="en-US"/>
        </a:p>
      </dgm:t>
    </dgm:pt>
    <dgm:pt modelId="{80EF48A1-CFAC-40E7-8401-DF7B3D3498B6}" type="sibTrans" cxnId="{0D3A8F3E-A542-4E3E-8869-EDB41537DB0B}">
      <dgm:prSet/>
      <dgm:spPr/>
      <dgm:t>
        <a:bodyPr/>
        <a:lstStyle/>
        <a:p>
          <a:endParaRPr lang="en-US"/>
        </a:p>
      </dgm:t>
    </dgm:pt>
    <dgm:pt modelId="{CB38A167-2845-4238-962C-4DB4CD703605}">
      <dgm:prSet/>
      <dgm:spPr/>
      <dgm:t>
        <a:bodyPr/>
        <a:lstStyle/>
        <a:p>
          <a:r>
            <a:rPr lang="en-US" i="1"/>
            <a:t>Availability</a:t>
          </a:r>
          <a:endParaRPr lang="en-US"/>
        </a:p>
      </dgm:t>
    </dgm:pt>
    <dgm:pt modelId="{462A2897-0843-4086-97C1-44EFDCD0B79B}" type="parTrans" cxnId="{0A85076B-6ECE-4501-87B6-F0513C3F48A5}">
      <dgm:prSet/>
      <dgm:spPr/>
      <dgm:t>
        <a:bodyPr/>
        <a:lstStyle/>
        <a:p>
          <a:endParaRPr lang="en-US"/>
        </a:p>
      </dgm:t>
    </dgm:pt>
    <dgm:pt modelId="{EB702BD0-9232-42E0-A1A6-F3F8218E7E1F}" type="sibTrans" cxnId="{0A85076B-6ECE-4501-87B6-F0513C3F48A5}">
      <dgm:prSet/>
      <dgm:spPr/>
      <dgm:t>
        <a:bodyPr/>
        <a:lstStyle/>
        <a:p>
          <a:endParaRPr lang="en-US"/>
        </a:p>
      </dgm:t>
    </dgm:pt>
    <dgm:pt modelId="{E08115E0-6F50-44B9-BFF5-B9B941CB7D4D}" type="pres">
      <dgm:prSet presAssocID="{C194B18F-0926-48E9-BFCB-0FA60AB8EEA7}" presName="root" presStyleCnt="0">
        <dgm:presLayoutVars>
          <dgm:dir/>
          <dgm:resizeHandles val="exact"/>
        </dgm:presLayoutVars>
      </dgm:prSet>
      <dgm:spPr/>
    </dgm:pt>
    <dgm:pt modelId="{CA6AA6C3-AAAE-45DC-B581-7E671661B7F4}" type="pres">
      <dgm:prSet presAssocID="{06531E5A-7ECC-4493-9E1B-1C9099E8EBAE}" presName="compNode" presStyleCnt="0"/>
      <dgm:spPr/>
    </dgm:pt>
    <dgm:pt modelId="{F144FA00-2D63-4147-AEA9-59E190457DD5}" type="pres">
      <dgm:prSet presAssocID="{06531E5A-7ECC-4493-9E1B-1C9099E8EBAE}" presName="bgRect" presStyleLbl="bgShp" presStyleIdx="0" presStyleCnt="3"/>
      <dgm:spPr/>
    </dgm:pt>
    <dgm:pt modelId="{A12F26D9-D724-47A8-B4F8-DD907508919E}" type="pres">
      <dgm:prSet presAssocID="{06531E5A-7ECC-4493-9E1B-1C9099E8EBA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DBCA8054-EDDF-4794-A266-6C23BE13AECD}" type="pres">
      <dgm:prSet presAssocID="{06531E5A-7ECC-4493-9E1B-1C9099E8EBAE}" presName="spaceRect" presStyleCnt="0"/>
      <dgm:spPr/>
    </dgm:pt>
    <dgm:pt modelId="{F51163A1-E9E5-4C7F-BD61-8D176226242E}" type="pres">
      <dgm:prSet presAssocID="{06531E5A-7ECC-4493-9E1B-1C9099E8EBAE}" presName="parTx" presStyleLbl="revTx" presStyleIdx="0" presStyleCnt="3">
        <dgm:presLayoutVars>
          <dgm:chMax val="0"/>
          <dgm:chPref val="0"/>
        </dgm:presLayoutVars>
      </dgm:prSet>
      <dgm:spPr/>
    </dgm:pt>
    <dgm:pt modelId="{1BE06FBE-7D71-4EDC-83A2-72F3594587B9}" type="pres">
      <dgm:prSet presAssocID="{8942046A-8D2D-4337-A49D-B4BB5D15D2D6}" presName="sibTrans" presStyleCnt="0"/>
      <dgm:spPr/>
    </dgm:pt>
    <dgm:pt modelId="{F28552F2-F392-4A9F-8BB4-8D38D3689A2B}" type="pres">
      <dgm:prSet presAssocID="{66168046-0ED5-4D90-93DF-EA06FCC056E3}" presName="compNode" presStyleCnt="0"/>
      <dgm:spPr/>
    </dgm:pt>
    <dgm:pt modelId="{E91B3525-3E7E-4033-AE8F-507771CBE6D4}" type="pres">
      <dgm:prSet presAssocID="{66168046-0ED5-4D90-93DF-EA06FCC056E3}" presName="bgRect" presStyleLbl="bgShp" presStyleIdx="1" presStyleCnt="3"/>
      <dgm:spPr/>
    </dgm:pt>
    <dgm:pt modelId="{3E1A3A45-4012-418A-95F4-3A04F22E08D6}" type="pres">
      <dgm:prSet presAssocID="{66168046-0ED5-4D90-93DF-EA06FCC056E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DC8B698F-65A1-43A3-BC6B-C6D94640D173}" type="pres">
      <dgm:prSet presAssocID="{66168046-0ED5-4D90-93DF-EA06FCC056E3}" presName="spaceRect" presStyleCnt="0"/>
      <dgm:spPr/>
    </dgm:pt>
    <dgm:pt modelId="{41B17A01-32BF-4E27-AAF8-958FEFFF2206}" type="pres">
      <dgm:prSet presAssocID="{66168046-0ED5-4D90-93DF-EA06FCC056E3}" presName="parTx" presStyleLbl="revTx" presStyleIdx="1" presStyleCnt="3">
        <dgm:presLayoutVars>
          <dgm:chMax val="0"/>
          <dgm:chPref val="0"/>
        </dgm:presLayoutVars>
      </dgm:prSet>
      <dgm:spPr/>
    </dgm:pt>
    <dgm:pt modelId="{183065DF-67EF-4324-95F4-A7CA5F161D55}" type="pres">
      <dgm:prSet presAssocID="{80EF48A1-CFAC-40E7-8401-DF7B3D3498B6}" presName="sibTrans" presStyleCnt="0"/>
      <dgm:spPr/>
    </dgm:pt>
    <dgm:pt modelId="{38F058DB-0A11-45CA-AF0D-0A56901BE948}" type="pres">
      <dgm:prSet presAssocID="{CB38A167-2845-4238-962C-4DB4CD703605}" presName="compNode" presStyleCnt="0"/>
      <dgm:spPr/>
    </dgm:pt>
    <dgm:pt modelId="{0E4C6977-2A7D-405F-BCB4-197FC4ED3AC9}" type="pres">
      <dgm:prSet presAssocID="{CB38A167-2845-4238-962C-4DB4CD703605}" presName="bgRect" presStyleLbl="bgShp" presStyleIdx="2" presStyleCnt="3"/>
      <dgm:spPr/>
    </dgm:pt>
    <dgm:pt modelId="{09D96010-6DA8-4302-8E1C-7D3791A12090}" type="pres">
      <dgm:prSet presAssocID="{CB38A167-2845-4238-962C-4DB4CD70360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DC83F58F-3A90-4BD7-BD3B-E8F206FD7004}" type="pres">
      <dgm:prSet presAssocID="{CB38A167-2845-4238-962C-4DB4CD703605}" presName="spaceRect" presStyleCnt="0"/>
      <dgm:spPr/>
    </dgm:pt>
    <dgm:pt modelId="{BDD14EB0-F52C-40FC-AE8B-4022143BCEA6}" type="pres">
      <dgm:prSet presAssocID="{CB38A167-2845-4238-962C-4DB4CD70360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347C004-6FE1-49E5-AF67-0F8750476544}" type="presOf" srcId="{66168046-0ED5-4D90-93DF-EA06FCC056E3}" destId="{41B17A01-32BF-4E27-AAF8-958FEFFF2206}" srcOrd="0" destOrd="0" presId="urn:microsoft.com/office/officeart/2018/2/layout/IconVerticalSolidList"/>
    <dgm:cxn modelId="{A9C1690A-ADD4-4349-BCA2-75622EE8B48A}" type="presOf" srcId="{CB38A167-2845-4238-962C-4DB4CD703605}" destId="{BDD14EB0-F52C-40FC-AE8B-4022143BCEA6}" srcOrd="0" destOrd="0" presId="urn:microsoft.com/office/officeart/2018/2/layout/IconVerticalSolidList"/>
    <dgm:cxn modelId="{0D3A8F3E-A542-4E3E-8869-EDB41537DB0B}" srcId="{C194B18F-0926-48E9-BFCB-0FA60AB8EEA7}" destId="{66168046-0ED5-4D90-93DF-EA06FCC056E3}" srcOrd="1" destOrd="0" parTransId="{D29003CD-E49E-4F50-A0B8-1176C8D3A70C}" sibTransId="{80EF48A1-CFAC-40E7-8401-DF7B3D3498B6}"/>
    <dgm:cxn modelId="{0A85076B-6ECE-4501-87B6-F0513C3F48A5}" srcId="{C194B18F-0926-48E9-BFCB-0FA60AB8EEA7}" destId="{CB38A167-2845-4238-962C-4DB4CD703605}" srcOrd="2" destOrd="0" parTransId="{462A2897-0843-4086-97C1-44EFDCD0B79B}" sibTransId="{EB702BD0-9232-42E0-A1A6-F3F8218E7E1F}"/>
    <dgm:cxn modelId="{80B1868A-93E7-4CA1-80E8-0CA736B6944E}" type="presOf" srcId="{06531E5A-7ECC-4493-9E1B-1C9099E8EBAE}" destId="{F51163A1-E9E5-4C7F-BD61-8D176226242E}" srcOrd="0" destOrd="0" presId="urn:microsoft.com/office/officeart/2018/2/layout/IconVerticalSolidList"/>
    <dgm:cxn modelId="{171B5CE0-4790-4624-8BE3-5771C2F60385}" srcId="{C194B18F-0926-48E9-BFCB-0FA60AB8EEA7}" destId="{06531E5A-7ECC-4493-9E1B-1C9099E8EBAE}" srcOrd="0" destOrd="0" parTransId="{AFD4B5F6-AE79-401D-8F56-64E2AD09591B}" sibTransId="{8942046A-8D2D-4337-A49D-B4BB5D15D2D6}"/>
    <dgm:cxn modelId="{FC5D9EFA-F051-41BF-99E3-B9C16A00C4FD}" type="presOf" srcId="{C194B18F-0926-48E9-BFCB-0FA60AB8EEA7}" destId="{E08115E0-6F50-44B9-BFF5-B9B941CB7D4D}" srcOrd="0" destOrd="0" presId="urn:microsoft.com/office/officeart/2018/2/layout/IconVerticalSolidList"/>
    <dgm:cxn modelId="{81ABBB5C-0A68-47E9-B6EF-25C66CF34A12}" type="presParOf" srcId="{E08115E0-6F50-44B9-BFF5-B9B941CB7D4D}" destId="{CA6AA6C3-AAAE-45DC-B581-7E671661B7F4}" srcOrd="0" destOrd="0" presId="urn:microsoft.com/office/officeart/2018/2/layout/IconVerticalSolidList"/>
    <dgm:cxn modelId="{3FF4D41D-690A-49BB-976F-54CE9580932E}" type="presParOf" srcId="{CA6AA6C3-AAAE-45DC-B581-7E671661B7F4}" destId="{F144FA00-2D63-4147-AEA9-59E190457DD5}" srcOrd="0" destOrd="0" presId="urn:microsoft.com/office/officeart/2018/2/layout/IconVerticalSolidList"/>
    <dgm:cxn modelId="{58CE9AC8-CB60-4633-95D8-5CAB7246745D}" type="presParOf" srcId="{CA6AA6C3-AAAE-45DC-B581-7E671661B7F4}" destId="{A12F26D9-D724-47A8-B4F8-DD907508919E}" srcOrd="1" destOrd="0" presId="urn:microsoft.com/office/officeart/2018/2/layout/IconVerticalSolidList"/>
    <dgm:cxn modelId="{D4EFDAB6-0D63-4F88-A57F-47A14F4BEFB3}" type="presParOf" srcId="{CA6AA6C3-AAAE-45DC-B581-7E671661B7F4}" destId="{DBCA8054-EDDF-4794-A266-6C23BE13AECD}" srcOrd="2" destOrd="0" presId="urn:microsoft.com/office/officeart/2018/2/layout/IconVerticalSolidList"/>
    <dgm:cxn modelId="{88288206-EAB3-47E4-B96C-44B9CE8BB999}" type="presParOf" srcId="{CA6AA6C3-AAAE-45DC-B581-7E671661B7F4}" destId="{F51163A1-E9E5-4C7F-BD61-8D176226242E}" srcOrd="3" destOrd="0" presId="urn:microsoft.com/office/officeart/2018/2/layout/IconVerticalSolidList"/>
    <dgm:cxn modelId="{37A10D84-300D-4670-A705-BB790009BB14}" type="presParOf" srcId="{E08115E0-6F50-44B9-BFF5-B9B941CB7D4D}" destId="{1BE06FBE-7D71-4EDC-83A2-72F3594587B9}" srcOrd="1" destOrd="0" presId="urn:microsoft.com/office/officeart/2018/2/layout/IconVerticalSolidList"/>
    <dgm:cxn modelId="{834571A9-CFFF-42F2-A6EE-73F24A0B642D}" type="presParOf" srcId="{E08115E0-6F50-44B9-BFF5-B9B941CB7D4D}" destId="{F28552F2-F392-4A9F-8BB4-8D38D3689A2B}" srcOrd="2" destOrd="0" presId="urn:microsoft.com/office/officeart/2018/2/layout/IconVerticalSolidList"/>
    <dgm:cxn modelId="{1002A0F2-EC47-487E-A97E-883A8EF354A1}" type="presParOf" srcId="{F28552F2-F392-4A9F-8BB4-8D38D3689A2B}" destId="{E91B3525-3E7E-4033-AE8F-507771CBE6D4}" srcOrd="0" destOrd="0" presId="urn:microsoft.com/office/officeart/2018/2/layout/IconVerticalSolidList"/>
    <dgm:cxn modelId="{4DCEBB57-C369-4EA4-882E-2AC947E9CF17}" type="presParOf" srcId="{F28552F2-F392-4A9F-8BB4-8D38D3689A2B}" destId="{3E1A3A45-4012-418A-95F4-3A04F22E08D6}" srcOrd="1" destOrd="0" presId="urn:microsoft.com/office/officeart/2018/2/layout/IconVerticalSolidList"/>
    <dgm:cxn modelId="{44A17D20-7C24-4E14-B1DA-EB31658A9F1B}" type="presParOf" srcId="{F28552F2-F392-4A9F-8BB4-8D38D3689A2B}" destId="{DC8B698F-65A1-43A3-BC6B-C6D94640D173}" srcOrd="2" destOrd="0" presId="urn:microsoft.com/office/officeart/2018/2/layout/IconVerticalSolidList"/>
    <dgm:cxn modelId="{F8122D42-49E3-438F-B4EE-B66FE789716B}" type="presParOf" srcId="{F28552F2-F392-4A9F-8BB4-8D38D3689A2B}" destId="{41B17A01-32BF-4E27-AAF8-958FEFFF2206}" srcOrd="3" destOrd="0" presId="urn:microsoft.com/office/officeart/2018/2/layout/IconVerticalSolidList"/>
    <dgm:cxn modelId="{EA9082EE-269B-402F-BE2C-8160283565CF}" type="presParOf" srcId="{E08115E0-6F50-44B9-BFF5-B9B941CB7D4D}" destId="{183065DF-67EF-4324-95F4-A7CA5F161D55}" srcOrd="3" destOrd="0" presId="urn:microsoft.com/office/officeart/2018/2/layout/IconVerticalSolidList"/>
    <dgm:cxn modelId="{CE8F009A-D358-4BCD-9CEB-0F8312CA5193}" type="presParOf" srcId="{E08115E0-6F50-44B9-BFF5-B9B941CB7D4D}" destId="{38F058DB-0A11-45CA-AF0D-0A56901BE948}" srcOrd="4" destOrd="0" presId="urn:microsoft.com/office/officeart/2018/2/layout/IconVerticalSolidList"/>
    <dgm:cxn modelId="{C1A63860-36E2-41E3-87B9-D6F25C82864B}" type="presParOf" srcId="{38F058DB-0A11-45CA-AF0D-0A56901BE948}" destId="{0E4C6977-2A7D-405F-BCB4-197FC4ED3AC9}" srcOrd="0" destOrd="0" presId="urn:microsoft.com/office/officeart/2018/2/layout/IconVerticalSolidList"/>
    <dgm:cxn modelId="{E377B7C9-4DD9-4BCC-A82C-C446EB134B9D}" type="presParOf" srcId="{38F058DB-0A11-45CA-AF0D-0A56901BE948}" destId="{09D96010-6DA8-4302-8E1C-7D3791A12090}" srcOrd="1" destOrd="0" presId="urn:microsoft.com/office/officeart/2018/2/layout/IconVerticalSolidList"/>
    <dgm:cxn modelId="{25ACD277-09AC-48D1-85A6-ECA97F847475}" type="presParOf" srcId="{38F058DB-0A11-45CA-AF0D-0A56901BE948}" destId="{DC83F58F-3A90-4BD7-BD3B-E8F206FD7004}" srcOrd="2" destOrd="0" presId="urn:microsoft.com/office/officeart/2018/2/layout/IconVerticalSolidList"/>
    <dgm:cxn modelId="{5133CC14-FF42-442C-AC5D-80C6DE053C33}" type="presParOf" srcId="{38F058DB-0A11-45CA-AF0D-0A56901BE948}" destId="{BDD14EB0-F52C-40FC-AE8B-4022143BCEA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EFB04D-26EF-4DD6-A38A-011EE4FB0B1C}">
      <dsp:nvSpPr>
        <dsp:cNvPr id="0" name=""/>
        <dsp:cNvSpPr/>
      </dsp:nvSpPr>
      <dsp:spPr>
        <a:xfrm>
          <a:off x="0" y="1902"/>
          <a:ext cx="10506456" cy="96445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B69400-2AF1-4F49-8071-BAECF026B578}">
      <dsp:nvSpPr>
        <dsp:cNvPr id="0" name=""/>
        <dsp:cNvSpPr/>
      </dsp:nvSpPr>
      <dsp:spPr>
        <a:xfrm>
          <a:off x="291746" y="218904"/>
          <a:ext cx="530447" cy="5304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6476AB-E22E-45FA-BCB5-E7B6B601919E}">
      <dsp:nvSpPr>
        <dsp:cNvPr id="0" name=""/>
        <dsp:cNvSpPr/>
      </dsp:nvSpPr>
      <dsp:spPr>
        <a:xfrm>
          <a:off x="1113940" y="1902"/>
          <a:ext cx="9392515" cy="964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071" tIns="102071" rIns="102071" bIns="10207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Peer Entity Authentication</a:t>
          </a: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:- Verification of the identities of the communicating entities.</a:t>
          </a:r>
        </a:p>
      </dsp:txBody>
      <dsp:txXfrm>
        <a:off x="1113940" y="1902"/>
        <a:ext cx="9392515" cy="964450"/>
      </dsp:txXfrm>
    </dsp:sp>
    <dsp:sp modelId="{EFC81205-E37B-4672-9770-55156F8E4323}">
      <dsp:nvSpPr>
        <dsp:cNvPr id="0" name=""/>
        <dsp:cNvSpPr/>
      </dsp:nvSpPr>
      <dsp:spPr>
        <a:xfrm>
          <a:off x="0" y="1207466"/>
          <a:ext cx="10506456" cy="96445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0BAF4C-9AE4-4526-9F5B-F7B38BF3359D}">
      <dsp:nvSpPr>
        <dsp:cNvPr id="0" name=""/>
        <dsp:cNvSpPr/>
      </dsp:nvSpPr>
      <dsp:spPr>
        <a:xfrm>
          <a:off x="291746" y="1424467"/>
          <a:ext cx="530447" cy="5304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274AD8-8067-438E-83BA-509D2451A25A}">
      <dsp:nvSpPr>
        <dsp:cNvPr id="0" name=""/>
        <dsp:cNvSpPr/>
      </dsp:nvSpPr>
      <dsp:spPr>
        <a:xfrm>
          <a:off x="1113940" y="1207466"/>
          <a:ext cx="9392515" cy="964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071" tIns="102071" rIns="102071" bIns="10207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Origin Authentication</a:t>
          </a: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:- Verification of the source of the data, and that it is from a legitimate communicating entity.</a:t>
          </a:r>
        </a:p>
      </dsp:txBody>
      <dsp:txXfrm>
        <a:off x="1113940" y="1207466"/>
        <a:ext cx="9392515" cy="964450"/>
      </dsp:txXfrm>
    </dsp:sp>
    <dsp:sp modelId="{40BE8A3E-8F34-4F4B-AD7A-C82502C277CE}">
      <dsp:nvSpPr>
        <dsp:cNvPr id="0" name=""/>
        <dsp:cNvSpPr/>
      </dsp:nvSpPr>
      <dsp:spPr>
        <a:xfrm>
          <a:off x="0" y="2413029"/>
          <a:ext cx="10506456" cy="96445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D2362D-B546-4650-9A90-15760E643D29}">
      <dsp:nvSpPr>
        <dsp:cNvPr id="0" name=""/>
        <dsp:cNvSpPr/>
      </dsp:nvSpPr>
      <dsp:spPr>
        <a:xfrm>
          <a:off x="291746" y="2630030"/>
          <a:ext cx="530447" cy="5304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838AD0-8A94-45C8-96A7-77B84B11B1AA}">
      <dsp:nvSpPr>
        <dsp:cNvPr id="0" name=""/>
        <dsp:cNvSpPr/>
      </dsp:nvSpPr>
      <dsp:spPr>
        <a:xfrm>
          <a:off x="1113940" y="2413029"/>
          <a:ext cx="9392515" cy="964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071" tIns="102071" rIns="102071" bIns="10207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Access Control</a:t>
          </a: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:- Mechanisms and Policies which are defined to manage and restrict access to resources and data.</a:t>
          </a:r>
        </a:p>
      </dsp:txBody>
      <dsp:txXfrm>
        <a:off x="1113940" y="2413029"/>
        <a:ext cx="9392515" cy="964450"/>
      </dsp:txXfrm>
    </dsp:sp>
    <dsp:sp modelId="{B34B59A6-E421-4E70-83CF-918E7BEBBA9C}">
      <dsp:nvSpPr>
        <dsp:cNvPr id="0" name=""/>
        <dsp:cNvSpPr/>
      </dsp:nvSpPr>
      <dsp:spPr>
        <a:xfrm>
          <a:off x="0" y="3618592"/>
          <a:ext cx="10506456" cy="96445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093A35-0B64-4FEE-ADDB-C25DA1178D3C}">
      <dsp:nvSpPr>
        <dsp:cNvPr id="0" name=""/>
        <dsp:cNvSpPr/>
      </dsp:nvSpPr>
      <dsp:spPr>
        <a:xfrm>
          <a:off x="291746" y="3835593"/>
          <a:ext cx="530447" cy="5304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F446B6-BF00-4383-8EF8-754E54E68B5D}">
      <dsp:nvSpPr>
        <dsp:cNvPr id="0" name=""/>
        <dsp:cNvSpPr/>
      </dsp:nvSpPr>
      <dsp:spPr>
        <a:xfrm>
          <a:off x="1113940" y="3618592"/>
          <a:ext cx="9392515" cy="964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071" tIns="102071" rIns="102071" bIns="10207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Confidentiality</a:t>
          </a: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:- Includes 4 types of Confidentiality (Connection Confidentiality, Connectionless Confidentiality, Selective-Field Confidentiality, and Traffic Flow Confidentiality)</a:t>
          </a:r>
        </a:p>
      </dsp:txBody>
      <dsp:txXfrm>
        <a:off x="1113940" y="3618592"/>
        <a:ext cx="9392515" cy="9644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44FA00-2D63-4147-AEA9-59E190457DD5}">
      <dsp:nvSpPr>
        <dsp:cNvPr id="0" name=""/>
        <dsp:cNvSpPr/>
      </dsp:nvSpPr>
      <dsp:spPr>
        <a:xfrm>
          <a:off x="0" y="559"/>
          <a:ext cx="10506456" cy="130966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2F26D9-D724-47A8-B4F8-DD907508919E}">
      <dsp:nvSpPr>
        <dsp:cNvPr id="0" name=""/>
        <dsp:cNvSpPr/>
      </dsp:nvSpPr>
      <dsp:spPr>
        <a:xfrm>
          <a:off x="396173" y="295234"/>
          <a:ext cx="720315" cy="7203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1163A1-E9E5-4C7F-BD61-8D176226242E}">
      <dsp:nvSpPr>
        <dsp:cNvPr id="0" name=""/>
        <dsp:cNvSpPr/>
      </dsp:nvSpPr>
      <dsp:spPr>
        <a:xfrm>
          <a:off x="1512662" y="559"/>
          <a:ext cx="8993793" cy="1309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06" tIns="138606" rIns="138606" bIns="13860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1" kern="1200" dirty="0"/>
            <a:t>Data Integrity</a:t>
          </a:r>
          <a:r>
            <a:rPr lang="en-US" sz="2000" kern="1200" dirty="0"/>
            <a:t>:- Involves 5 types (Connection Integrity with Recovery, Connection Integrity without Recovery, Selective-Field Connection Integrity, Connectionless Integrity, and Selective-Field Connectionless Integrity)</a:t>
          </a:r>
        </a:p>
      </dsp:txBody>
      <dsp:txXfrm>
        <a:off x="1512662" y="559"/>
        <a:ext cx="8993793" cy="1309664"/>
      </dsp:txXfrm>
    </dsp:sp>
    <dsp:sp modelId="{E91B3525-3E7E-4033-AE8F-507771CBE6D4}">
      <dsp:nvSpPr>
        <dsp:cNvPr id="0" name=""/>
        <dsp:cNvSpPr/>
      </dsp:nvSpPr>
      <dsp:spPr>
        <a:xfrm>
          <a:off x="0" y="1637640"/>
          <a:ext cx="10506456" cy="130966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1A3A45-4012-418A-95F4-3A04F22E08D6}">
      <dsp:nvSpPr>
        <dsp:cNvPr id="0" name=""/>
        <dsp:cNvSpPr/>
      </dsp:nvSpPr>
      <dsp:spPr>
        <a:xfrm>
          <a:off x="396173" y="1932315"/>
          <a:ext cx="720315" cy="7203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B17A01-32BF-4E27-AAF8-958FEFFF2206}">
      <dsp:nvSpPr>
        <dsp:cNvPr id="0" name=""/>
        <dsp:cNvSpPr/>
      </dsp:nvSpPr>
      <dsp:spPr>
        <a:xfrm>
          <a:off x="1512662" y="1637640"/>
          <a:ext cx="8993793" cy="1309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06" tIns="138606" rIns="138606" bIns="13860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1" kern="1200"/>
            <a:t>Non-Repudiation</a:t>
          </a:r>
          <a:r>
            <a:rPr lang="en-US" sz="2000" kern="1200"/>
            <a:t>:- 2 types (for Origin, and for Destination)</a:t>
          </a:r>
        </a:p>
      </dsp:txBody>
      <dsp:txXfrm>
        <a:off x="1512662" y="1637640"/>
        <a:ext cx="8993793" cy="1309664"/>
      </dsp:txXfrm>
    </dsp:sp>
    <dsp:sp modelId="{0E4C6977-2A7D-405F-BCB4-197FC4ED3AC9}">
      <dsp:nvSpPr>
        <dsp:cNvPr id="0" name=""/>
        <dsp:cNvSpPr/>
      </dsp:nvSpPr>
      <dsp:spPr>
        <a:xfrm>
          <a:off x="0" y="3274721"/>
          <a:ext cx="10506456" cy="130966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D96010-6DA8-4302-8E1C-7D3791A12090}">
      <dsp:nvSpPr>
        <dsp:cNvPr id="0" name=""/>
        <dsp:cNvSpPr/>
      </dsp:nvSpPr>
      <dsp:spPr>
        <a:xfrm>
          <a:off x="396173" y="3569396"/>
          <a:ext cx="720315" cy="7203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D14EB0-F52C-40FC-AE8B-4022143BCEA6}">
      <dsp:nvSpPr>
        <dsp:cNvPr id="0" name=""/>
        <dsp:cNvSpPr/>
      </dsp:nvSpPr>
      <dsp:spPr>
        <a:xfrm>
          <a:off x="1512662" y="3274721"/>
          <a:ext cx="8993793" cy="1309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06" tIns="138606" rIns="138606" bIns="13860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1" kern="1200"/>
            <a:t>Availability</a:t>
          </a:r>
          <a:endParaRPr lang="en-US" sz="2000" kern="1200"/>
        </a:p>
      </dsp:txBody>
      <dsp:txXfrm>
        <a:off x="1512662" y="3274721"/>
        <a:ext cx="8993793" cy="13096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89477-5875-4AB7-84D5-B84C314274FE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67742-2762-49FC-87BD-6A4E9388A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417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67742-2762-49FC-87BD-6A4E9388A5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13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280C7-D1A0-1AB5-7E54-B69DC2765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AA363D-0610-F651-DE60-C4432B9702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C7126-AEEA-FA49-EDA1-4C33FF4FC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26FA-29E4-4CC2-A2BE-69819CAF3B1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5A46F-A47E-B516-D818-F69D975A1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C3DE6-19F6-4D0E-9097-7A6D6E465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2C1F-DFDD-41AD-AF7C-F9C896AC8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035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76582-69E9-4BCD-C855-C59FC7236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3F130-8446-B050-BED2-C6AA5399F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A261E-1581-F4F8-3376-1677FC0A2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26FA-29E4-4CC2-A2BE-69819CAF3B1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D5625-72F8-8B40-6E9A-DB0731C8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F2160-B8A3-99B0-8FEF-7FDF20804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2C1F-DFDD-41AD-AF7C-F9C896AC8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7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7D7B3-E8EC-5E02-1BB6-4D07499CC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51E49-77D2-CD64-F51B-EF022A934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3CADA-A029-3A02-B37E-F659BB506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26FA-29E4-4CC2-A2BE-69819CAF3B1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CF0F4-958F-DF88-1092-B53E071A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F6059-0FDD-E6D0-2C7A-AC18A3E30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2C1F-DFDD-41AD-AF7C-F9C896AC8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9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CBE00-4AD6-F27C-E8D9-0E0286884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0FEF4-5B94-D9AF-2A3C-9A8BD755F8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4242E4-3EAE-AF5C-ADB2-3067A38BD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30C25-2481-FF2B-C2C4-DFC6B3164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26FA-29E4-4CC2-A2BE-69819CAF3B1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2C81F-2D3B-A8F4-EDAA-DBC27F139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FFED94-E031-72F6-85D4-4C952C58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2C1F-DFDD-41AD-AF7C-F9C896AC8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15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B835F-CDBA-A29B-3EB5-8C3F9B1BF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E2384-CA66-50D2-F6B3-74131D66E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36086-89C0-1652-CF0F-7621EF09A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1EF515-587E-BF00-4853-997435AC67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CF5208-A81A-5E6E-5F8D-3F285C3267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373977-16DB-6FF6-C878-1864659FD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26FA-29E4-4CC2-A2BE-69819CAF3B1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419DA7-088C-2951-EEC8-7558D65DB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5E220B-C690-D0D0-770D-5592D76A1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2C1F-DFDD-41AD-AF7C-F9C896AC8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740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0B07-EE38-07DA-2657-7BD6B258D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673295-24FB-E3AA-9781-86670903F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26FA-29E4-4CC2-A2BE-69819CAF3B1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210920-581C-94DE-1278-CFB915163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CFB0CA-B55E-1D24-A22E-B48133037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2C1F-DFDD-41AD-AF7C-F9C896AC8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004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837EB7-7A99-0640-DBBA-59C2D0DB8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26FA-29E4-4CC2-A2BE-69819CAF3B1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13B670-55D9-D27E-29A0-1C9EBAA55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9EBBF-4970-5916-78CC-AAE4D628F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2C1F-DFDD-41AD-AF7C-F9C896AC8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783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08BC-2371-C052-BB63-452855BF0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51DF0-8C6D-CBD5-7D06-710C91662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BA5017-8463-28B3-B71C-FD15086A2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B7D73-0EA6-1AE6-67C6-5FBD22D5B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26FA-29E4-4CC2-A2BE-69819CAF3B1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71C85C-5735-DA15-6E63-8EC608374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23FEC-031D-EE14-64C9-BAF4D3FC6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2C1F-DFDD-41AD-AF7C-F9C896AC8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156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6BD37-1F34-02FD-795E-09790ADA3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D671CE-8826-B9F1-7865-686E7D4AD8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F9D3F-CF8D-95BA-0661-4863CDF0E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DEF9E-ECB8-F238-04F6-7FCA23E2B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26FA-29E4-4CC2-A2BE-69819CAF3B1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A20C0-DD63-0A27-B460-19581B6AC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E1629-7AD8-B620-9283-DF16CD2B7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2C1F-DFDD-41AD-AF7C-F9C896AC8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49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AC7A4-0294-3B06-3476-22E8AA723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B8262B-E5D7-81D4-EFFA-7DF9A5AFC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6C20E-072B-CE1C-BE3D-F7DC002A6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26FA-29E4-4CC2-A2BE-69819CAF3B1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7D679-FDF8-41D4-4733-130D2224C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2493B-ECDB-BBAA-370F-826C2936C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2C1F-DFDD-41AD-AF7C-F9C896AC8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480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2D6924-2AB7-8176-9354-5074E3EDBD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EC8C21-873D-CA87-EA94-6734A9DFD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BC6E1-11F5-F32E-8E7F-2DF653BCD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26FA-29E4-4CC2-A2BE-69819CAF3B1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8C266-3BD5-FE47-C1F6-FCF4FBACA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937CF-33B4-AF9E-0826-6FC99A87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2C1F-DFDD-41AD-AF7C-F9C896AC8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947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5C6EB-EEF0-F7A6-7911-F1E6E1821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F3B3D-8503-7576-4C52-B6C91E108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DECE7-8EE9-A603-E9CD-828B5FCE3F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FE26FA-29E4-4CC2-A2BE-69819CAF3B1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C5CD2-8F49-5694-2851-AD16D38F8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546E0-0464-E6B8-3664-DB97E5564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D32C1F-DFDD-41AD-AF7C-F9C896AC8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37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1785D3-1722-C128-BEA3-79B13DFF68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b="1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Topics to Cover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34C4D-CB46-9C68-7DD7-C6A9E08971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3765" y="319088"/>
            <a:ext cx="6906491" cy="5585619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514350" indent="-2286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Security Basics</a:t>
            </a:r>
          </a:p>
          <a:p>
            <a:pPr marL="514350" indent="-2286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Goals</a:t>
            </a:r>
          </a:p>
          <a:p>
            <a:pPr marL="514350" indent="-2286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Attacks</a:t>
            </a:r>
          </a:p>
          <a:p>
            <a:pPr marL="514350" indent="-2286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Services</a:t>
            </a:r>
          </a:p>
          <a:p>
            <a:pPr marL="514350" indent="-2286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Mechanisms</a:t>
            </a:r>
          </a:p>
          <a:p>
            <a:pPr marL="514350" indent="-2286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Techniques</a:t>
            </a:r>
          </a:p>
        </p:txBody>
      </p:sp>
    </p:spTree>
    <p:extLst>
      <p:ext uri="{BB962C8B-B14F-4D97-AF65-F5344CB8AC3E}">
        <p14:creationId xmlns:p14="http://schemas.microsoft.com/office/powerpoint/2010/main" val="3448965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5F733-608E-F65C-7B4F-6B94FAB39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64771"/>
            <a:ext cx="9144000" cy="4093029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SECURITY BASICS</a:t>
            </a:r>
          </a:p>
        </p:txBody>
      </p:sp>
    </p:spTree>
    <p:extLst>
      <p:ext uri="{BB962C8B-B14F-4D97-AF65-F5344CB8AC3E}">
        <p14:creationId xmlns:p14="http://schemas.microsoft.com/office/powerpoint/2010/main" val="3092641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E26F66-EE71-84B8-AC06-A2BDAE2F2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What’s Information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62CE56-F8D8-AC52-9807-318D4A6D3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723" y="2115123"/>
            <a:ext cx="11092543" cy="456778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is processed data that has meaning, context, and relevance.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decision-making by providing useful knowledge to users.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can exist in many forms, such as text, images, audio, video, and digital files.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is a valuable asset that must be protected from unauthorized access, modification, or loss.</a:t>
            </a:r>
          </a:p>
        </p:txBody>
      </p:sp>
    </p:spTree>
    <p:extLst>
      <p:ext uri="{BB962C8B-B14F-4D97-AF65-F5344CB8AC3E}">
        <p14:creationId xmlns:p14="http://schemas.microsoft.com/office/powerpoint/2010/main" val="96639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6C4118A-B523-45D9-B427-8E05B2DEA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0D55D8-5D48-DF0B-BB74-2CF453A42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6676" y="557190"/>
            <a:ext cx="4899039" cy="2232524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Computer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5F733-608E-F65C-7B4F-6B94FAB39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6676" y="2939143"/>
            <a:ext cx="4899039" cy="3189943"/>
          </a:xfrm>
          <a:noFill/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known as Cyber Security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of Protection of stored and transmitted data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preserve different security goals (Confidentiality, Integrity, Availability, etc.) of the data from an adversary or a group of adversaries.</a:t>
            </a:r>
          </a:p>
        </p:txBody>
      </p:sp>
      <p:pic>
        <p:nvPicPr>
          <p:cNvPr id="5" name="Picture 4" descr="Padlock on computer motherboard">
            <a:extLst>
              <a:ext uri="{FF2B5EF4-FFF2-40B4-BE49-F238E27FC236}">
                <a16:creationId xmlns:a16="http://schemas.microsoft.com/office/drawing/2014/main" id="{90DFAFAB-9522-5F07-8A00-F816E04F97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09" r="31963" b="-1"/>
          <a:stretch/>
        </p:blipFill>
        <p:spPr>
          <a:xfrm>
            <a:off x="6095999" y="10"/>
            <a:ext cx="610565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193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C9441-3963-6A25-9A2E-555D58BB5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5F53036-8C01-94AE-0BC2-09D11A4C87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64771"/>
            <a:ext cx="9144000" cy="409302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SECURITY GOALS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867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0D55D8-5D48-DF0B-BB74-2CF453A42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 goals defined by FIPS 199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5F733-608E-F65C-7B4F-6B94FAB39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FIPS (Standards for Security Categorization of Federal Information and Information Systems)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CIA Triad defined by FIPS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228600" algn="l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5" name="Picture 4" descr="A diagram of a security goals&#10;&#10;Description automatically generated">
            <a:extLst>
              <a:ext uri="{FF2B5EF4-FFF2-40B4-BE49-F238E27FC236}">
                <a16:creationId xmlns:a16="http://schemas.microsoft.com/office/drawing/2014/main" id="{9C72A619-709B-42B7-E55E-B203EAFE9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727920"/>
            <a:ext cx="6903720" cy="540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366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0D55D8-5D48-DF0B-BB74-2CF453A42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2941043"/>
          </a:xfrm>
        </p:spPr>
        <p:txBody>
          <a:bodyPr anchor="b">
            <a:normAutofit/>
          </a:bodyPr>
          <a:lstStyle/>
          <a:p>
            <a:pPr algn="l"/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 (🔒)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5F733-608E-F65C-7B4F-6B94FAB39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951030" cy="1478918"/>
          </a:xfrm>
        </p:spPr>
        <p:txBody>
          <a:bodyPr>
            <a:normAutofit fontScale="92500" lnSpcReduction="20000"/>
          </a:bodyPr>
          <a:lstStyle/>
          <a:p>
            <a:pPr algn="l"/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that sensitive information is accessed only by authorized individuals, entities, or processes.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protects data from unauthorized disclosure.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0D55D8-5D48-DF0B-BB74-2CF453A42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2941043"/>
          </a:xfrm>
        </p:spPr>
        <p:txBody>
          <a:bodyPr anchor="b">
            <a:normAutofit/>
          </a:bodyPr>
          <a:lstStyle/>
          <a:p>
            <a:pPr algn="l"/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(✔️)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5F733-608E-F65C-7B4F-6B94FAB39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1005458" cy="1595178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that data is not tampered with and remains in its original state, providing assurance that the information is trustworthy and accurate.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can be changed only by authorized entities.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91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0D55D8-5D48-DF0B-BB74-2CF453A42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3187931"/>
          </a:xfrm>
        </p:spPr>
        <p:txBody>
          <a:bodyPr anchor="b">
            <a:normAutofit/>
          </a:bodyPr>
          <a:lstStyle/>
          <a:p>
            <a:pPr algn="l"/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(🕒)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5F733-608E-F65C-7B4F-6B94FAB39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1201401" cy="157689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that information, systems, and services are accessible and usable upon demand by authorized users.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Timely access to Google Drive, One Drive backups, etc.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347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D55D8-5D48-DF0B-BB74-2CF453A42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68087"/>
            <a:ext cx="9144000" cy="696684"/>
          </a:xfrm>
        </p:spPr>
        <p:txBody>
          <a:bodyPr>
            <a:no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Additional Security Goals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7F53E8-7B66-3313-2337-C0FA38784A4A}"/>
              </a:ext>
            </a:extLst>
          </p:cNvPr>
          <p:cNvSpPr txBox="1"/>
          <p:nvPr/>
        </p:nvSpPr>
        <p:spPr>
          <a:xfrm>
            <a:off x="1121229" y="1709057"/>
            <a:ext cx="5181600" cy="2739211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Authenticity (🔑):-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that an entity (user, device, or system) is who or what it claims to be.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examples could be Password based, Biometric based, etc.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1087D3-5FAE-34EE-7C38-09ECD9C173D6}"/>
              </a:ext>
            </a:extLst>
          </p:cNvPr>
          <p:cNvSpPr txBox="1"/>
          <p:nvPr/>
        </p:nvSpPr>
        <p:spPr>
          <a:xfrm>
            <a:off x="6836230" y="1709057"/>
            <a:ext cx="5181600" cy="200054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Accountability (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📜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Mechanisms which ensure that individuals or communicating entities can be held responsible for their actions.</a:t>
            </a:r>
          </a:p>
        </p:txBody>
      </p:sp>
    </p:spTree>
    <p:extLst>
      <p:ext uri="{BB962C8B-B14F-4D97-AF65-F5344CB8AC3E}">
        <p14:creationId xmlns:p14="http://schemas.microsoft.com/office/powerpoint/2010/main" val="144613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5F733-608E-F65C-7B4F-6B94FAB39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64771"/>
            <a:ext cx="9144000" cy="409302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ATTACKS</a:t>
            </a:r>
          </a:p>
        </p:txBody>
      </p:sp>
    </p:spTree>
    <p:extLst>
      <p:ext uri="{BB962C8B-B14F-4D97-AF65-F5344CB8AC3E}">
        <p14:creationId xmlns:p14="http://schemas.microsoft.com/office/powerpoint/2010/main" val="694271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D55D8-5D48-DF0B-BB74-2CF453A42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68087"/>
            <a:ext cx="9144000" cy="696684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Attacks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5F733-608E-F65C-7B4F-6B94FAB39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64771"/>
            <a:ext cx="9144000" cy="4093029"/>
          </a:xfrm>
        </p:spPr>
        <p:txBody>
          <a:bodyPr/>
          <a:lstStyle/>
          <a:p>
            <a:pPr algn="l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close-up of a computer&#10;&#10;Description automatically generated">
            <a:extLst>
              <a:ext uri="{FF2B5EF4-FFF2-40B4-BE49-F238E27FC236}">
                <a16:creationId xmlns:a16="http://schemas.microsoft.com/office/drawing/2014/main" id="{5DFB1E75-1DA1-EC07-1098-F49D655A8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571" y="1251857"/>
            <a:ext cx="8066315" cy="470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963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E898F71-5E9B-2B4E-2A55-0529C31AC7A1}"/>
              </a:ext>
            </a:extLst>
          </p:cNvPr>
          <p:cNvSpPr/>
          <p:nvPr/>
        </p:nvSpPr>
        <p:spPr>
          <a:xfrm>
            <a:off x="4190999" y="125186"/>
            <a:ext cx="4049486" cy="870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Attacks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066DE4-D148-92BC-9DEE-9B6341C498EC}"/>
              </a:ext>
            </a:extLst>
          </p:cNvPr>
          <p:cNvSpPr/>
          <p:nvPr/>
        </p:nvSpPr>
        <p:spPr>
          <a:xfrm>
            <a:off x="1371600" y="1785256"/>
            <a:ext cx="4245429" cy="48659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FDEAEE-DFE0-8CB0-2BEB-C5195F88CA00}"/>
              </a:ext>
            </a:extLst>
          </p:cNvPr>
          <p:cNvSpPr/>
          <p:nvPr/>
        </p:nvSpPr>
        <p:spPr>
          <a:xfrm>
            <a:off x="7663543" y="1828800"/>
            <a:ext cx="4299857" cy="4865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325EA59-D937-B058-5B3A-4EB4123B19EF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3494315" y="996043"/>
            <a:ext cx="2721427" cy="7892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E991D3-36DC-94BC-F730-2EBA2BC1C83C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6215742" y="996043"/>
            <a:ext cx="3597730" cy="8327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5273621-7EAB-F462-BDAD-E273E6B81E52}"/>
              </a:ext>
            </a:extLst>
          </p:cNvPr>
          <p:cNvSpPr/>
          <p:nvPr/>
        </p:nvSpPr>
        <p:spPr>
          <a:xfrm>
            <a:off x="2188029" y="1948543"/>
            <a:ext cx="2481942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Passive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937F8F-87D3-15C5-6F0A-ACBE94E4A668}"/>
              </a:ext>
            </a:extLst>
          </p:cNvPr>
          <p:cNvSpPr/>
          <p:nvPr/>
        </p:nvSpPr>
        <p:spPr>
          <a:xfrm>
            <a:off x="8752114" y="2024743"/>
            <a:ext cx="2307772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0A0AF3-D6D0-35B6-B155-F006C24687A5}"/>
              </a:ext>
            </a:extLst>
          </p:cNvPr>
          <p:cNvSpPr/>
          <p:nvPr/>
        </p:nvSpPr>
        <p:spPr>
          <a:xfrm>
            <a:off x="2378528" y="2841171"/>
            <a:ext cx="2149930" cy="6694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Snooping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758574-0136-C3AD-9807-038D7272E74A}"/>
              </a:ext>
            </a:extLst>
          </p:cNvPr>
          <p:cNvSpPr/>
          <p:nvPr/>
        </p:nvSpPr>
        <p:spPr>
          <a:xfrm>
            <a:off x="2378528" y="3951514"/>
            <a:ext cx="2149930" cy="751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Traffic Analysis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52B69F-39A8-6D20-AEA8-D16C16AFED52}"/>
              </a:ext>
            </a:extLst>
          </p:cNvPr>
          <p:cNvSpPr/>
          <p:nvPr/>
        </p:nvSpPr>
        <p:spPr>
          <a:xfrm>
            <a:off x="8371114" y="2721430"/>
            <a:ext cx="2862943" cy="533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Modification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616A2C-77F0-4FE5-6232-3237990112D8}"/>
              </a:ext>
            </a:extLst>
          </p:cNvPr>
          <p:cNvSpPr/>
          <p:nvPr/>
        </p:nvSpPr>
        <p:spPr>
          <a:xfrm>
            <a:off x="8371114" y="3510643"/>
            <a:ext cx="2862943" cy="440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Masquerading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C01057-9F2D-6832-06AC-40F8CAB52FA2}"/>
              </a:ext>
            </a:extLst>
          </p:cNvPr>
          <p:cNvSpPr/>
          <p:nvPr/>
        </p:nvSpPr>
        <p:spPr>
          <a:xfrm>
            <a:off x="8371114" y="4288971"/>
            <a:ext cx="2862943" cy="620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Replaying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354E4C-D208-FD65-D11B-369179146E75}"/>
              </a:ext>
            </a:extLst>
          </p:cNvPr>
          <p:cNvSpPr/>
          <p:nvPr/>
        </p:nvSpPr>
        <p:spPr>
          <a:xfrm>
            <a:off x="8371114" y="5246914"/>
            <a:ext cx="2862943" cy="495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Repudiation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AA8242-05D7-87E7-002E-F1B6796C7592}"/>
              </a:ext>
            </a:extLst>
          </p:cNvPr>
          <p:cNvSpPr/>
          <p:nvPr/>
        </p:nvSpPr>
        <p:spPr>
          <a:xfrm>
            <a:off x="8371114" y="6079671"/>
            <a:ext cx="2862943" cy="4082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Denial of Service (DoS)</a:t>
            </a:r>
          </a:p>
        </p:txBody>
      </p:sp>
    </p:spTree>
    <p:extLst>
      <p:ext uri="{BB962C8B-B14F-4D97-AF65-F5344CB8AC3E}">
        <p14:creationId xmlns:p14="http://schemas.microsoft.com/office/powerpoint/2010/main" val="3558616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0D55D8-5D48-DF0B-BB74-2CF453A42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639193"/>
            <a:ext cx="3571810" cy="3573516"/>
          </a:xfrm>
        </p:spPr>
        <p:txBody>
          <a:bodyPr>
            <a:normAutofit/>
          </a:bodyPr>
          <a:lstStyle/>
          <a:p>
            <a:pPr algn="l"/>
            <a:r>
              <a:rPr lang="en-US" sz="6600">
                <a:latin typeface="Times New Roman" panose="02020603050405020304" pitchFamily="18" charset="0"/>
                <a:cs typeface="Times New Roman" panose="02020603050405020304" pitchFamily="18" charset="0"/>
              </a:rPr>
              <a:t>Snooping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5F733-608E-F65C-7B4F-6B94FAB39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4631161"/>
            <a:ext cx="5097890" cy="1903316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and reads sensitive data transmitted across a network.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attacker concentrates on contents of the data.</a:t>
            </a:r>
          </a:p>
          <a:p>
            <a:pPr algn="l"/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person sitting at a desk&#10;&#10;Description automatically generated">
            <a:extLst>
              <a:ext uri="{FF2B5EF4-FFF2-40B4-BE49-F238E27FC236}">
                <a16:creationId xmlns:a16="http://schemas.microsoft.com/office/drawing/2014/main" id="{50583F5B-6B4A-99B6-85A7-3017877D2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639194"/>
            <a:ext cx="6458712" cy="437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33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0D55D8-5D48-DF0B-BB74-2CF453A42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639193"/>
            <a:ext cx="3571810" cy="2644374"/>
          </a:xfrm>
        </p:spPr>
        <p:txBody>
          <a:bodyPr>
            <a:normAutofit/>
          </a:bodyPr>
          <a:lstStyle/>
          <a:p>
            <a:pPr algn="l"/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5F733-608E-F65C-7B4F-6B94FAB39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2" y="4631161"/>
            <a:ext cx="5228518" cy="2001722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attacker collects information and analyzes the network communication patterns.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Concentrates on Metadata and traffic flow in a network.</a:t>
            </a:r>
          </a:p>
          <a:p>
            <a:pPr algn="l"/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diagram of a person sitting at a computer&#10;&#10;Description automatically generated">
            <a:extLst>
              <a:ext uri="{FF2B5EF4-FFF2-40B4-BE49-F238E27FC236}">
                <a16:creationId xmlns:a16="http://schemas.microsoft.com/office/drawing/2014/main" id="{BA36627C-8568-77D9-2692-0AB201D24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342" y="1539484"/>
            <a:ext cx="6186569" cy="375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69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0D55D8-5D48-DF0B-BB74-2CF453A42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639193"/>
            <a:ext cx="3571810" cy="3573516"/>
          </a:xfrm>
        </p:spPr>
        <p:txBody>
          <a:bodyPr>
            <a:normAutofit/>
          </a:bodyPr>
          <a:lstStyle/>
          <a:p>
            <a:pPr algn="l"/>
            <a:r>
              <a:rPr lang="en-US" sz="5100">
                <a:latin typeface="Times New Roman" panose="02020603050405020304" pitchFamily="18" charset="0"/>
                <a:cs typeface="Times New Roman" panose="02020603050405020304" pitchFamily="18" charset="0"/>
              </a:rPr>
              <a:t>Modification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5F733-608E-F65C-7B4F-6B94FAB39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2" y="4631161"/>
            <a:ext cx="5076118" cy="155932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manipulation, tampering, etc., of the legitimate data communicated over a network.</a:t>
            </a:r>
          </a:p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person sitting at a computer&#10;&#10;Description automatically generated">
            <a:extLst>
              <a:ext uri="{FF2B5EF4-FFF2-40B4-BE49-F238E27FC236}">
                <a16:creationId xmlns:a16="http://schemas.microsoft.com/office/drawing/2014/main" id="{D2AD800B-572C-23A3-38CE-1A5870084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056" y="333974"/>
            <a:ext cx="5968855" cy="50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977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0D55D8-5D48-DF0B-BB74-2CF453A42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639193"/>
            <a:ext cx="3571810" cy="3573516"/>
          </a:xfrm>
        </p:spPr>
        <p:txBody>
          <a:bodyPr>
            <a:normAutofit/>
          </a:bodyPr>
          <a:lstStyle/>
          <a:p>
            <a:pPr algn="l"/>
            <a:r>
              <a:rPr lang="en-US" sz="4600">
                <a:latin typeface="Times New Roman" panose="02020603050405020304" pitchFamily="18" charset="0"/>
                <a:cs typeface="Times New Roman" panose="02020603050405020304" pitchFamily="18" charset="0"/>
              </a:rPr>
              <a:t>Masquerading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5F733-608E-F65C-7B4F-6B94FAB39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2" y="4631161"/>
            <a:ext cx="3571810" cy="155932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 pretends to be a legitimate entity to other legitimate entities in a network.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diagram of a person sitting at a computer&#10;&#10;Description automatically generated">
            <a:extLst>
              <a:ext uri="{FF2B5EF4-FFF2-40B4-BE49-F238E27FC236}">
                <a16:creationId xmlns:a16="http://schemas.microsoft.com/office/drawing/2014/main" id="{E2BCEA39-C751-36CD-A145-4D5FBAB66C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70" y="1449302"/>
            <a:ext cx="6360741" cy="393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24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0D55D8-5D48-DF0B-BB74-2CF453A42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639193"/>
            <a:ext cx="3571810" cy="3573516"/>
          </a:xfrm>
        </p:spPr>
        <p:txBody>
          <a:bodyPr>
            <a:normAutofit/>
          </a:bodyPr>
          <a:lstStyle/>
          <a:p>
            <a:pPr algn="l"/>
            <a:r>
              <a:rPr lang="en-US" sz="6100">
                <a:latin typeface="Times New Roman" panose="02020603050405020304" pitchFamily="18" charset="0"/>
                <a:cs typeface="Times New Roman" panose="02020603050405020304" pitchFamily="18" charset="0"/>
              </a:rPr>
              <a:t>Replaying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5F733-608E-F65C-7B4F-6B94FAB39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4631161"/>
            <a:ext cx="4194375" cy="155932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Subsequent retransmissions of a previously captured data packet.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person sitting at a desk&#10;&#10;Description automatically generated">
            <a:extLst>
              <a:ext uri="{FF2B5EF4-FFF2-40B4-BE49-F238E27FC236}">
                <a16:creationId xmlns:a16="http://schemas.microsoft.com/office/drawing/2014/main" id="{6044ED53-CA4F-1AA4-DABB-692361EFE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028" y="1458320"/>
            <a:ext cx="6251883" cy="391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647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0D55D8-5D48-DF0B-BB74-2CF453A42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417576"/>
            <a:ext cx="10909640" cy="1249394"/>
          </a:xfrm>
        </p:spPr>
        <p:txBody>
          <a:bodyPr anchor="ctr">
            <a:normAutofit/>
          </a:bodyPr>
          <a:lstStyle/>
          <a:p>
            <a:r>
              <a:rPr lang="en-US" sz="6600">
                <a:latin typeface="Times New Roman" panose="02020603050405020304" pitchFamily="18" charset="0"/>
                <a:cs typeface="Times New Roman" panose="02020603050405020304" pitchFamily="18" charset="0"/>
              </a:rPr>
              <a:t>Repudiation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5F733-608E-F65C-7B4F-6B94FAB39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1809541"/>
            <a:ext cx="10909643" cy="687406"/>
          </a:xfrm>
        </p:spPr>
        <p:txBody>
          <a:bodyPr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Denying the fact that an entity was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involved in 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message box with text&#10;&#10;Description automatically generated">
            <a:extLst>
              <a:ext uri="{FF2B5EF4-FFF2-40B4-BE49-F238E27FC236}">
                <a16:creationId xmlns:a16="http://schemas.microsoft.com/office/drawing/2014/main" id="{733A56E1-221B-59A5-D2AE-96BCA1E3A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2665445"/>
            <a:ext cx="11548872" cy="352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390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0D55D8-5D48-DF0B-BB74-2CF453A42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417576"/>
            <a:ext cx="10909640" cy="1249394"/>
          </a:xfrm>
        </p:spPr>
        <p:txBody>
          <a:bodyPr anchor="ctr">
            <a:normAutofit/>
          </a:bodyPr>
          <a:lstStyle/>
          <a:p>
            <a:r>
              <a:rPr lang="en-US" sz="6600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5F733-608E-F65C-7B4F-6B94FAB39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1934174"/>
            <a:ext cx="10909643" cy="562773"/>
          </a:xfrm>
        </p:spPr>
        <p:txBody>
          <a:bodyPr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attacker degrades a computer network by overloading it with unnecessary data traffic.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diagram of a person sitting at a computer&#10;&#10;Description automatically generated">
            <a:extLst>
              <a:ext uri="{FF2B5EF4-FFF2-40B4-BE49-F238E27FC236}">
                <a16:creationId xmlns:a16="http://schemas.microsoft.com/office/drawing/2014/main" id="{88021B4C-6F65-FB20-7AD7-513CF86EA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547" y="2633472"/>
            <a:ext cx="5927857" cy="358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44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B89F785-A1BC-5B3C-FDB3-31A538B16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682987"/>
              </p:ext>
            </p:extLst>
          </p:nvPr>
        </p:nvGraphicFramePr>
        <p:xfrm>
          <a:off x="990600" y="1055635"/>
          <a:ext cx="10134601" cy="4686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8274">
                  <a:extLst>
                    <a:ext uri="{9D8B030D-6E8A-4147-A177-3AD203B41FA5}">
                      <a16:colId xmlns:a16="http://schemas.microsoft.com/office/drawing/2014/main" val="1692305887"/>
                    </a:ext>
                  </a:extLst>
                </a:gridCol>
                <a:gridCol w="4676327">
                  <a:extLst>
                    <a:ext uri="{9D8B030D-6E8A-4147-A177-3AD203B41FA5}">
                      <a16:colId xmlns:a16="http://schemas.microsoft.com/office/drawing/2014/main" val="3014536001"/>
                    </a:ext>
                  </a:extLst>
                </a:gridCol>
              </a:tblGrid>
              <a:tr h="938822">
                <a:tc>
                  <a:txBody>
                    <a:bodyPr/>
                    <a:lstStyle/>
                    <a:p>
                      <a:pPr algn="ctr"/>
                      <a:r>
                        <a:rPr lang="en-US" sz="5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Passive Attacks</a:t>
                      </a:r>
                    </a:p>
                  </a:txBody>
                  <a:tcPr marL="116383" marR="116383" marT="58191" marB="5819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Active Attacks</a:t>
                      </a:r>
                    </a:p>
                  </a:txBody>
                  <a:tcPr marL="116383" marR="116383" marT="58191" marB="58191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42514"/>
                  </a:ext>
                </a:extLst>
              </a:tr>
              <a:tr h="1093999"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Eavesdropping and/or Collecting Data</a:t>
                      </a:r>
                    </a:p>
                  </a:txBody>
                  <a:tcPr marL="116383" marR="116383" marT="58191" marB="5819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Altering/Manipulating Data</a:t>
                      </a:r>
                    </a:p>
                  </a:txBody>
                  <a:tcPr marL="116383" marR="116383" marT="58191" marB="58191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069208"/>
                  </a:ext>
                </a:extLst>
              </a:tr>
              <a:tr h="1559530"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Zero/Negligible impact on the system operations and/or the network performance.</a:t>
                      </a:r>
                    </a:p>
                  </a:txBody>
                  <a:tcPr marL="116383" marR="116383" marT="58191" marB="5819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Major impact on the system operations and/or the network performance</a:t>
                      </a:r>
                    </a:p>
                  </a:txBody>
                  <a:tcPr marL="116383" marR="116383" marT="58191" marB="58191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018700"/>
                  </a:ext>
                </a:extLst>
              </a:tr>
              <a:tr h="1093999"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Comparatively harder to detect</a:t>
                      </a:r>
                    </a:p>
                  </a:txBody>
                  <a:tcPr marL="116383" marR="116383" marT="58191" marB="5819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Comparatively easier to detect</a:t>
                      </a:r>
                    </a:p>
                  </a:txBody>
                  <a:tcPr marL="116383" marR="116383" marT="58191" marB="58191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969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1986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5F733-608E-F65C-7B4F-6B94FAB39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164771"/>
            <a:ext cx="10189029" cy="409302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SERVICES</a:t>
            </a:r>
          </a:p>
        </p:txBody>
      </p:sp>
    </p:spTree>
    <p:extLst>
      <p:ext uri="{BB962C8B-B14F-4D97-AF65-F5344CB8AC3E}">
        <p14:creationId xmlns:p14="http://schemas.microsoft.com/office/powerpoint/2010/main" val="3746338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70C484E-904A-1B1D-87A8-EB1D5F5E642D}"/>
              </a:ext>
            </a:extLst>
          </p:cNvPr>
          <p:cNvSpPr/>
          <p:nvPr/>
        </p:nvSpPr>
        <p:spPr>
          <a:xfrm>
            <a:off x="2286000" y="217714"/>
            <a:ext cx="7456714" cy="6248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CF583E-69D4-055C-4281-E88BD47745F5}"/>
              </a:ext>
            </a:extLst>
          </p:cNvPr>
          <p:cNvSpPr/>
          <p:nvPr/>
        </p:nvSpPr>
        <p:spPr>
          <a:xfrm>
            <a:off x="3864429" y="348343"/>
            <a:ext cx="4974771" cy="5007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Services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B86AB1-C85E-D0C8-AA83-A7BBB90AF55E}"/>
              </a:ext>
            </a:extLst>
          </p:cNvPr>
          <p:cNvSpPr/>
          <p:nvPr/>
        </p:nvSpPr>
        <p:spPr>
          <a:xfrm>
            <a:off x="3341914" y="1045029"/>
            <a:ext cx="5344885" cy="4354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Peer Entity Authentication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E6E90B-9FA3-DF62-FBBC-A3221024B400}"/>
              </a:ext>
            </a:extLst>
          </p:cNvPr>
          <p:cNvSpPr/>
          <p:nvPr/>
        </p:nvSpPr>
        <p:spPr>
          <a:xfrm>
            <a:off x="3341913" y="1600201"/>
            <a:ext cx="5344885" cy="4354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Origin Authentication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69048B-AB65-D316-B670-176E2E9CD29A}"/>
              </a:ext>
            </a:extLst>
          </p:cNvPr>
          <p:cNvSpPr/>
          <p:nvPr/>
        </p:nvSpPr>
        <p:spPr>
          <a:xfrm>
            <a:off x="3341912" y="2198916"/>
            <a:ext cx="5344885" cy="4354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Access Control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9B655C-EE5C-E727-889C-A117E8ADBAD1}"/>
              </a:ext>
            </a:extLst>
          </p:cNvPr>
          <p:cNvSpPr/>
          <p:nvPr/>
        </p:nvSpPr>
        <p:spPr>
          <a:xfrm>
            <a:off x="3341911" y="2808517"/>
            <a:ext cx="5344885" cy="4354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Confidentiality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C6019F-CE91-1989-795A-B55A44F7F9BE}"/>
              </a:ext>
            </a:extLst>
          </p:cNvPr>
          <p:cNvSpPr/>
          <p:nvPr/>
        </p:nvSpPr>
        <p:spPr>
          <a:xfrm>
            <a:off x="3341909" y="3603170"/>
            <a:ext cx="5344885" cy="5225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Data Integrity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92B6A9-71C6-9CF2-60A6-F42E30169F92}"/>
              </a:ext>
            </a:extLst>
          </p:cNvPr>
          <p:cNvSpPr/>
          <p:nvPr/>
        </p:nvSpPr>
        <p:spPr>
          <a:xfrm>
            <a:off x="3341908" y="4376054"/>
            <a:ext cx="5344885" cy="5225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Non-Repudiation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32043D-CCB3-D3AF-BC41-2391E5579C5E}"/>
              </a:ext>
            </a:extLst>
          </p:cNvPr>
          <p:cNvSpPr/>
          <p:nvPr/>
        </p:nvSpPr>
        <p:spPr>
          <a:xfrm>
            <a:off x="3341907" y="5105401"/>
            <a:ext cx="5344885" cy="5225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Availability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63039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FF8D2E5-2C4E-47B1-930B-6C82B7C3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B2BD2B-E628-4634-4989-314DEEF93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Security Services (Contd..)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1E4ADA-0EA9-4930-846E-3C11E8BED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4908E3D8-D303-9C48-F7E2-C6F9C48C0D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0137857"/>
              </p:ext>
            </p:extLst>
          </p:nvPr>
        </p:nvGraphicFramePr>
        <p:xfrm>
          <a:off x="838200" y="1650222"/>
          <a:ext cx="10506456" cy="4584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237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FF8D2E5-2C4E-47B1-930B-6C82B7C3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B2BD2B-E628-4634-4989-314DEEF93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Security Services (Contd..)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1E4ADA-0EA9-4930-846E-3C11E8BED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511EC1-4026-6390-FA62-4F8DC744E2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8767195"/>
              </p:ext>
            </p:extLst>
          </p:nvPr>
        </p:nvGraphicFramePr>
        <p:xfrm>
          <a:off x="838200" y="1650222"/>
          <a:ext cx="10506456" cy="4584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1921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5F733-608E-F65C-7B4F-6B94FAB39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164771"/>
            <a:ext cx="10189029" cy="409302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MECHANISMS</a:t>
            </a:r>
          </a:p>
        </p:txBody>
      </p:sp>
    </p:spTree>
    <p:extLst>
      <p:ext uri="{BB962C8B-B14F-4D97-AF65-F5344CB8AC3E}">
        <p14:creationId xmlns:p14="http://schemas.microsoft.com/office/powerpoint/2010/main" val="131951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70C484E-904A-1B1D-87A8-EB1D5F5E642D}"/>
              </a:ext>
            </a:extLst>
          </p:cNvPr>
          <p:cNvSpPr/>
          <p:nvPr/>
        </p:nvSpPr>
        <p:spPr>
          <a:xfrm>
            <a:off x="2286000" y="217714"/>
            <a:ext cx="7456714" cy="6248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CF583E-69D4-055C-4281-E88BD47745F5}"/>
              </a:ext>
            </a:extLst>
          </p:cNvPr>
          <p:cNvSpPr/>
          <p:nvPr/>
        </p:nvSpPr>
        <p:spPr>
          <a:xfrm>
            <a:off x="3864429" y="348343"/>
            <a:ext cx="4974771" cy="5007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Mechanisms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B86AB1-C85E-D0C8-AA83-A7BBB90AF55E}"/>
              </a:ext>
            </a:extLst>
          </p:cNvPr>
          <p:cNvSpPr/>
          <p:nvPr/>
        </p:nvSpPr>
        <p:spPr>
          <a:xfrm>
            <a:off x="3341914" y="1045029"/>
            <a:ext cx="5344885" cy="4354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Encipherment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E6E90B-9FA3-DF62-FBBC-A3221024B400}"/>
              </a:ext>
            </a:extLst>
          </p:cNvPr>
          <p:cNvSpPr/>
          <p:nvPr/>
        </p:nvSpPr>
        <p:spPr>
          <a:xfrm>
            <a:off x="3341913" y="1600201"/>
            <a:ext cx="5344885" cy="4354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69048B-AB65-D316-B670-176E2E9CD29A}"/>
              </a:ext>
            </a:extLst>
          </p:cNvPr>
          <p:cNvSpPr/>
          <p:nvPr/>
        </p:nvSpPr>
        <p:spPr>
          <a:xfrm>
            <a:off x="3341912" y="2198916"/>
            <a:ext cx="5344885" cy="4354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Access Control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9B655C-EE5C-E727-889C-A117E8ADBAD1}"/>
              </a:ext>
            </a:extLst>
          </p:cNvPr>
          <p:cNvSpPr/>
          <p:nvPr/>
        </p:nvSpPr>
        <p:spPr>
          <a:xfrm>
            <a:off x="3341911" y="2808517"/>
            <a:ext cx="5344885" cy="4354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Integrity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B1AC2C-9454-75FC-BA38-F5A8EAF9976F}"/>
              </a:ext>
            </a:extLst>
          </p:cNvPr>
          <p:cNvSpPr/>
          <p:nvPr/>
        </p:nvSpPr>
        <p:spPr>
          <a:xfrm>
            <a:off x="3341910" y="3429000"/>
            <a:ext cx="5344885" cy="5225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Authentication Exchange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C6019F-CE91-1989-795A-B55A44F7F9BE}"/>
              </a:ext>
            </a:extLst>
          </p:cNvPr>
          <p:cNvSpPr/>
          <p:nvPr/>
        </p:nvSpPr>
        <p:spPr>
          <a:xfrm>
            <a:off x="3341910" y="4125688"/>
            <a:ext cx="5344885" cy="5225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Traffic Padding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92B6A9-71C6-9CF2-60A6-F42E30169F92}"/>
              </a:ext>
            </a:extLst>
          </p:cNvPr>
          <p:cNvSpPr/>
          <p:nvPr/>
        </p:nvSpPr>
        <p:spPr>
          <a:xfrm>
            <a:off x="3341910" y="4822372"/>
            <a:ext cx="5344885" cy="5225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Routing Control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32043D-CCB3-D3AF-BC41-2391E5579C5E}"/>
              </a:ext>
            </a:extLst>
          </p:cNvPr>
          <p:cNvSpPr/>
          <p:nvPr/>
        </p:nvSpPr>
        <p:spPr>
          <a:xfrm>
            <a:off x="3341910" y="5562600"/>
            <a:ext cx="5344885" cy="5225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Notarization</a:t>
            </a:r>
          </a:p>
        </p:txBody>
      </p:sp>
    </p:spTree>
    <p:extLst>
      <p:ext uri="{BB962C8B-B14F-4D97-AF65-F5344CB8AC3E}">
        <p14:creationId xmlns:p14="http://schemas.microsoft.com/office/powerpoint/2010/main" val="860724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713222-3122-F42A-96B6-68B00B75C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E9DE608-7EC1-1A7A-BF6B-FBAFFC901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309728-A468-D7C4-E4EE-D3A358BEE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Security Services and Security Mechanisms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28A097-67FD-FD93-3FE9-58611035B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B246EB-7CE3-F4A3-8ED3-DBB8FEC2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Picture 5" descr="A diagram of a service&#10;&#10;AI-generated content may be incorrect.">
            <a:extLst>
              <a:ext uri="{FF2B5EF4-FFF2-40B4-BE49-F238E27FC236}">
                <a16:creationId xmlns:a16="http://schemas.microsoft.com/office/drawing/2014/main" id="{86290460-DB7A-442D-7522-7A03452FC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143" y="1512887"/>
            <a:ext cx="9318171" cy="523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653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F04EA-86D4-6238-9B24-5290036B5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DCD084-631C-6C18-1628-F9E50EE3B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164771"/>
            <a:ext cx="10189029" cy="409302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TECHNIQUES</a:t>
            </a:r>
          </a:p>
        </p:txBody>
      </p:sp>
    </p:spTree>
    <p:extLst>
      <p:ext uri="{BB962C8B-B14F-4D97-AF65-F5344CB8AC3E}">
        <p14:creationId xmlns:p14="http://schemas.microsoft.com/office/powerpoint/2010/main" val="2381904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7E6B57-0411-2A58-B47F-5F4F96B76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21A3C04-AFDA-1AEB-BEBA-20FBAED17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12F9D1-AFFD-3F26-6088-1F8BDD9F2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vs Steganography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FA6558-D3B5-95A1-E29C-ECAF508C7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517E1C-F296-D1FF-1DDA-7F3FC4C09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C07941B-9599-E0E9-2422-90D9BDD93D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213287"/>
              </p:ext>
            </p:extLst>
          </p:nvPr>
        </p:nvGraphicFramePr>
        <p:xfrm>
          <a:off x="402772" y="1842724"/>
          <a:ext cx="10515600" cy="33832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66973389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98840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Cryptography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Steganography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6351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Hides the contents of an information.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Hides the existence of an information.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378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Produces unreadable ciphertext.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Produces a normal-looking file containing hidden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2419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Anyone can see encrypted data exists.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Observers may not realize a secret message exists.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012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Example: AES-encrypted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Example: Secret text embedded in an image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1181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2642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CB4AB5-47E7-0CDD-5B56-1A7773764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1F7FFD9-8A05-850F-BA8C-5840ABB70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7DFFCF-C5BB-A668-E86B-7C0062933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Cryptography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ED0407-AD79-6915-6C82-FF71409F1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174EC6-7BEA-8083-D2C6-7E33F62B2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D668050-90B4-6574-27BD-CF706CCB0458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57" y="1764920"/>
            <a:ext cx="8654143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746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5AAFE4-6337-0949-FF96-FE9D99862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7A8E3C5-0445-674E-2940-4AC2AED54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C066DE-3B68-C6A4-F28F-048E9AE4D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Cryptography (Contd..)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936D91-5FBF-F7FB-DEA5-BB99B8670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87B16B-84BB-01F0-F4E8-A347F99C3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D5E6CC-3107-517F-AF81-36910D81B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365290"/>
              </p:ext>
            </p:extLst>
          </p:nvPr>
        </p:nvGraphicFramePr>
        <p:xfrm>
          <a:off x="275189" y="1728096"/>
          <a:ext cx="11274553" cy="301752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535052">
                  <a:extLst>
                    <a:ext uri="{9D8B030D-6E8A-4147-A177-3AD203B41FA5}">
                      <a16:colId xmlns:a16="http://schemas.microsoft.com/office/drawing/2014/main" val="3599764490"/>
                    </a:ext>
                  </a:extLst>
                </a:gridCol>
                <a:gridCol w="8739501">
                  <a:extLst>
                    <a:ext uri="{9D8B030D-6E8A-4147-A177-3AD203B41FA5}">
                      <a16:colId xmlns:a16="http://schemas.microsoft.com/office/drawing/2014/main" val="42703949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8337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Science and art of securing messages by transforming them into a protected form.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3070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Implements security mechanisms to protect information from attacks.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098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Greek: kryptos (secret) + graphein (writing) → "Secret writing."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0300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Symmetric-Key Encipherment, Asymmetric-Key Encipherment, Hashing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5548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045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62A94E-DD78-71D4-718D-92C7EE95D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9F53087-04AF-9359-4B0B-FE7F9F56A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0F9873-2D44-179A-09FB-A6118AD7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Steganography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3A2F8E-ACD3-5F3F-01A2-909DE70C3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DD1903-757E-6C3E-06AD-752394846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2EBFCE2-DD6F-5C19-6B68-AA5C468532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163811"/>
              </p:ext>
            </p:extLst>
          </p:nvPr>
        </p:nvGraphicFramePr>
        <p:xfrm>
          <a:off x="261258" y="1750129"/>
          <a:ext cx="11560628" cy="310896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785234">
                  <a:extLst>
                    <a:ext uri="{9D8B030D-6E8A-4147-A177-3AD203B41FA5}">
                      <a16:colId xmlns:a16="http://schemas.microsoft.com/office/drawing/2014/main" val="1275103418"/>
                    </a:ext>
                  </a:extLst>
                </a:gridCol>
                <a:gridCol w="8775394">
                  <a:extLst>
                    <a:ext uri="{9D8B030D-6E8A-4147-A177-3AD203B41FA5}">
                      <a16:colId xmlns:a16="http://schemas.microsoft.com/office/drawing/2014/main" val="19913408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114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Hides data in text using spaces, punctuation, or formatting.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2476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Embeds data in image pixels (e.g., LSB).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290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Conceals data within digital audio samples.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9150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Video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Hides data in video frames or audio tracks.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1484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Embeds data in network packets or protocol headers.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006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3893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124CBF-59EC-7C42-A71C-9C1017270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3E517C4-BDD5-DB6C-3AE1-AF193638D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EC3BEF-7977-BA9D-CEF6-569AE47D8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Cover (Examples)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5D8274-BF09-8546-591D-B699A9AC3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DB68D5-A1AD-E91D-C4F5-69DAEA02F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6FC0CC-A732-EE94-4947-C59687AC9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628" y="1929012"/>
            <a:ext cx="4604657" cy="32996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590AFA-F9F9-D78B-38E2-A9DF9940C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914" y="1929012"/>
            <a:ext cx="6052458" cy="329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84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487F29-C7DB-23DE-BDFF-0C994422D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B5CCD63-E4A0-CEDA-4B8D-423F568AD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03687C-3E1C-5EF3-0178-B7A37F38D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Cover (Examples)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(Contd..)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A9B5A1-FB2B-80BB-6121-6D1645C85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DE334D-9238-6D2B-4636-6DC572AAD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1AE684-5620-B05E-62F1-2D58975A3E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96" y="1814714"/>
            <a:ext cx="4685554" cy="30906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C36DF5-0B75-76A2-5DA3-395D76593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637" y="2047395"/>
            <a:ext cx="5590334" cy="309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752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3B33B2-F9DB-92A0-A424-422524817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CB6E5D-A3AB-9B0A-BBD8-B58101895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576447-EA56-B4A0-6FD7-616F14C48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Cover (Examples)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(Contd..)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E7AD6E-3EEF-94DC-95B3-A4511AB1F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AD16FF-1426-EB0E-B0AA-F91CBF94E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9C7F49A-65DC-A793-874D-519CCBC548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517860"/>
              </p:ext>
            </p:extLst>
          </p:nvPr>
        </p:nvGraphicFramePr>
        <p:xfrm>
          <a:off x="261257" y="1750129"/>
          <a:ext cx="10341429" cy="259080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0341429">
                  <a:extLst>
                    <a:ext uri="{9D8B030D-6E8A-4147-A177-3AD203B41FA5}">
                      <a16:colId xmlns:a16="http://schemas.microsoft.com/office/drawing/2014/main" val="12751034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Covers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114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Data|is||</a:t>
                      </a:r>
                      <a:r>
                        <a:rPr lang="en-IN" sz="2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secure|when|encrypted|using|modern|algorithms</a:t>
                      </a:r>
                      <a:r>
                        <a:rPr lang="en-IN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.||Today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2476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Computers|have</a:t>
                      </a:r>
                      <a:r>
                        <a:rPr lang="en-IN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||</a:t>
                      </a:r>
                      <a:r>
                        <a:rPr lang="en-IN" sz="2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become|an|essential|part|of|everyday</a:t>
                      </a:r>
                      <a:r>
                        <a:rPr lang="en-IN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||life.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290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Security|protects</a:t>
                      </a:r>
                      <a:r>
                        <a:rPr lang="en-IN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||</a:t>
                      </a:r>
                      <a:r>
                        <a:rPr lang="en-IN" sz="2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valuable|data|from|cyber</a:t>
                      </a:r>
                      <a:r>
                        <a:rPr lang="en-IN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||</a:t>
                      </a:r>
                      <a:r>
                        <a:rPr lang="en-IN" sz="2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attacks|every|day</a:t>
                      </a:r>
                      <a:endParaRPr lang="en-IN" sz="2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9150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Security|protects</a:t>
                      </a:r>
                      <a:r>
                        <a:rPr lang="en-IN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||</a:t>
                      </a:r>
                      <a:r>
                        <a:rPr lang="en-IN" sz="2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valuable|data|from|cyber</a:t>
                      </a:r>
                      <a:r>
                        <a:rPr lang="en-IN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||</a:t>
                      </a:r>
                      <a:r>
                        <a:rPr lang="en-IN" sz="2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attacks|every</a:t>
                      </a:r>
                      <a:r>
                        <a:rPr lang="en-IN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||day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1484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6252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4E6227-9824-9B80-036D-D9FC64CFB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8F79B5D-6D1E-3858-41B4-8865D4A32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E4EAD7-A2AB-1A7E-EE86-5CD6C28AA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Cover (Examples)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(Contd..)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3446DE-F25F-6999-B50A-448393AB8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110155-6816-1A18-3F25-D1BE10201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FCA3FD-DB71-1A01-4234-2F5909854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288585"/>
              </p:ext>
            </p:extLst>
          </p:nvPr>
        </p:nvGraphicFramePr>
        <p:xfrm>
          <a:off x="838200" y="1943894"/>
          <a:ext cx="8107680" cy="310896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849880">
                  <a:extLst>
                    <a:ext uri="{9D8B030D-6E8A-4147-A177-3AD203B41FA5}">
                      <a16:colId xmlns:a16="http://schemas.microsoft.com/office/drawing/2014/main" val="398217492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57706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052105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Sentence Pattern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Word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Encoded Bits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6221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081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friend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1560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154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2574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1053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6225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8E258B-F911-A35C-2CED-DDC573518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313E97-A4E7-1515-1B52-12C28A9D9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53098-B1B7-83A4-4E3D-EF521DBDB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Cover (Examples)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69D777-F6D6-EDDF-E6F7-B96A2296F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09B570-1544-8969-73D7-2504FA1E9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7DDF58-34CE-523F-58C5-1F00BD2EB0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728139"/>
              </p:ext>
            </p:extLst>
          </p:nvPr>
        </p:nvGraphicFramePr>
        <p:xfrm>
          <a:off x="381000" y="1669574"/>
          <a:ext cx="5802088" cy="207264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450522">
                  <a:extLst>
                    <a:ext uri="{9D8B030D-6E8A-4147-A177-3AD203B41FA5}">
                      <a16:colId xmlns:a16="http://schemas.microsoft.com/office/drawing/2014/main" val="3139127814"/>
                    </a:ext>
                  </a:extLst>
                </a:gridCol>
                <a:gridCol w="1450522">
                  <a:extLst>
                    <a:ext uri="{9D8B030D-6E8A-4147-A177-3AD203B41FA5}">
                      <a16:colId xmlns:a16="http://schemas.microsoft.com/office/drawing/2014/main" val="3143305595"/>
                    </a:ext>
                  </a:extLst>
                </a:gridCol>
                <a:gridCol w="1450522">
                  <a:extLst>
                    <a:ext uri="{9D8B030D-6E8A-4147-A177-3AD203B41FA5}">
                      <a16:colId xmlns:a16="http://schemas.microsoft.com/office/drawing/2014/main" val="1012016639"/>
                    </a:ext>
                  </a:extLst>
                </a:gridCol>
                <a:gridCol w="1450522">
                  <a:extLst>
                    <a:ext uri="{9D8B030D-6E8A-4147-A177-3AD203B41FA5}">
                      <a16:colId xmlns:a16="http://schemas.microsoft.com/office/drawing/2014/main" val="1004101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Pixel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194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385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5103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18382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22AF31-AF25-3CAD-2A5D-E7BEBCEA21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232282"/>
              </p:ext>
            </p:extLst>
          </p:nvPr>
        </p:nvGraphicFramePr>
        <p:xfrm>
          <a:off x="1992086" y="4150212"/>
          <a:ext cx="8577944" cy="207264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144486">
                  <a:extLst>
                    <a:ext uri="{9D8B030D-6E8A-4147-A177-3AD203B41FA5}">
                      <a16:colId xmlns:a16="http://schemas.microsoft.com/office/drawing/2014/main" val="3181896929"/>
                    </a:ext>
                  </a:extLst>
                </a:gridCol>
                <a:gridCol w="2144486">
                  <a:extLst>
                    <a:ext uri="{9D8B030D-6E8A-4147-A177-3AD203B41FA5}">
                      <a16:colId xmlns:a16="http://schemas.microsoft.com/office/drawing/2014/main" val="2805633105"/>
                    </a:ext>
                  </a:extLst>
                </a:gridCol>
                <a:gridCol w="2144486">
                  <a:extLst>
                    <a:ext uri="{9D8B030D-6E8A-4147-A177-3AD203B41FA5}">
                      <a16:colId xmlns:a16="http://schemas.microsoft.com/office/drawing/2014/main" val="198457502"/>
                    </a:ext>
                  </a:extLst>
                </a:gridCol>
                <a:gridCol w="2144486">
                  <a:extLst>
                    <a:ext uri="{9D8B030D-6E8A-4147-A177-3AD203B41FA5}">
                      <a16:colId xmlns:a16="http://schemas.microsoft.com/office/drawing/2014/main" val="14885518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Pixel</a:t>
                      </a:r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b="1" dirty="0"/>
                        <a:t>Red</a:t>
                      </a:r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b="1" dirty="0"/>
                        <a:t>Green</a:t>
                      </a:r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b="1" dirty="0"/>
                        <a:t>Blue</a:t>
                      </a:r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4645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P1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/>
                        <a:t>120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/>
                        <a:t>201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dirty="0"/>
                        <a:t>44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14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P2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/>
                        <a:t>34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/>
                        <a:t>150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/>
                        <a:t>220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5861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P3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/>
                        <a:t>78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/>
                        <a:t>67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dirty="0"/>
                        <a:t>190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8467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949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72C68F-A0DC-076C-9F96-33DD770BB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9D99484-E13A-9B18-72DD-77FEA9D99A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9BEE3B-CA82-1DFA-BA87-E4FA03559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Cover (Examples)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C081B7-A20A-28DE-FB43-5A9C44C3F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79C7D0-A906-4163-FEF9-9D4B347AC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74A57D3-6DA3-38D5-C276-67910A4A1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397033"/>
              </p:ext>
            </p:extLst>
          </p:nvPr>
        </p:nvGraphicFramePr>
        <p:xfrm>
          <a:off x="841248" y="1918360"/>
          <a:ext cx="8577944" cy="207264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144486">
                  <a:extLst>
                    <a:ext uri="{9D8B030D-6E8A-4147-A177-3AD203B41FA5}">
                      <a16:colId xmlns:a16="http://schemas.microsoft.com/office/drawing/2014/main" val="3181896929"/>
                    </a:ext>
                  </a:extLst>
                </a:gridCol>
                <a:gridCol w="2144486">
                  <a:extLst>
                    <a:ext uri="{9D8B030D-6E8A-4147-A177-3AD203B41FA5}">
                      <a16:colId xmlns:a16="http://schemas.microsoft.com/office/drawing/2014/main" val="2805633105"/>
                    </a:ext>
                  </a:extLst>
                </a:gridCol>
                <a:gridCol w="2144486">
                  <a:extLst>
                    <a:ext uri="{9D8B030D-6E8A-4147-A177-3AD203B41FA5}">
                      <a16:colId xmlns:a16="http://schemas.microsoft.com/office/drawing/2014/main" val="198457502"/>
                    </a:ext>
                  </a:extLst>
                </a:gridCol>
                <a:gridCol w="2144486">
                  <a:extLst>
                    <a:ext uri="{9D8B030D-6E8A-4147-A177-3AD203B41FA5}">
                      <a16:colId xmlns:a16="http://schemas.microsoft.com/office/drawing/2014/main" val="14885518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Pixel</a:t>
                      </a:r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b="1" dirty="0"/>
                        <a:t>Red</a:t>
                      </a:r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b="1" dirty="0"/>
                        <a:t>Green</a:t>
                      </a:r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b="1" dirty="0"/>
                        <a:t>Blue</a:t>
                      </a:r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4645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P1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/>
                        <a:t>120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dirty="0"/>
                        <a:t>200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dirty="0"/>
                        <a:t>45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14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P2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/>
                        <a:t>34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5861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P3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/>
                        <a:t>78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8467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0236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F2D09440F4D9459A0CF0214DD5C910" ma:contentTypeVersion="3" ma:contentTypeDescription="Create a new document." ma:contentTypeScope="" ma:versionID="ba484fcb5dfed80a3d7115e58284a243">
  <xsd:schema xmlns:xsd="http://www.w3.org/2001/XMLSchema" xmlns:xs="http://www.w3.org/2001/XMLSchema" xmlns:p="http://schemas.microsoft.com/office/2006/metadata/properties" xmlns:ns2="057aeae3-7329-4b03-a5d7-28276fbe520a" targetNamespace="http://schemas.microsoft.com/office/2006/metadata/properties" ma:root="true" ma:fieldsID="0322ee51ad78c066d755176867759605" ns2:_="">
    <xsd:import namespace="057aeae3-7329-4b03-a5d7-28276fbe52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7aeae3-7329-4b03-a5d7-28276fbe52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3CD74CC-80B7-4F55-BB11-FD049CEE73F1}"/>
</file>

<file path=customXml/itemProps2.xml><?xml version="1.0" encoding="utf-8"?>
<ds:datastoreItem xmlns:ds="http://schemas.openxmlformats.org/officeDocument/2006/customXml" ds:itemID="{8B960F38-CFAF-4EFA-8D17-94968E63AB22}"/>
</file>

<file path=customXml/itemProps3.xml><?xml version="1.0" encoding="utf-8"?>
<ds:datastoreItem xmlns:ds="http://schemas.openxmlformats.org/officeDocument/2006/customXml" ds:itemID="{580BE1BF-C9AD-4217-94AC-CC71E42E531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2399</TotalTime>
  <Words>1025</Words>
  <Application>Microsoft Office PowerPoint</Application>
  <PresentationFormat>Widescreen</PresentationFormat>
  <Paragraphs>227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Aptos</vt:lpstr>
      <vt:lpstr>Aptos Display</vt:lpstr>
      <vt:lpstr>Arial</vt:lpstr>
      <vt:lpstr>Calibri</vt:lpstr>
      <vt:lpstr>Times New Roman</vt:lpstr>
      <vt:lpstr>Office Theme</vt:lpstr>
      <vt:lpstr>Topics to Cover</vt:lpstr>
      <vt:lpstr>PowerPoint Presentation</vt:lpstr>
      <vt:lpstr>What’s Information</vt:lpstr>
      <vt:lpstr>What’s Computer Security</vt:lpstr>
      <vt:lpstr>PowerPoint Presentation</vt:lpstr>
      <vt:lpstr>Security goals defined by FIPS 199</vt:lpstr>
      <vt:lpstr>Confidentiality (🔒)</vt:lpstr>
      <vt:lpstr>Integrity (✔️)</vt:lpstr>
      <vt:lpstr>Availability (🕒)</vt:lpstr>
      <vt:lpstr>2 Additional Security Goals</vt:lpstr>
      <vt:lpstr>PowerPoint Presentation</vt:lpstr>
      <vt:lpstr>Security Attacks</vt:lpstr>
      <vt:lpstr>PowerPoint Presentation</vt:lpstr>
      <vt:lpstr>Snooping</vt:lpstr>
      <vt:lpstr>Traffic Analysis</vt:lpstr>
      <vt:lpstr>Modification</vt:lpstr>
      <vt:lpstr>Masquerading</vt:lpstr>
      <vt:lpstr>Replaying</vt:lpstr>
      <vt:lpstr>Repudiation</vt:lpstr>
      <vt:lpstr>DoS</vt:lpstr>
      <vt:lpstr>PowerPoint Presentation</vt:lpstr>
      <vt:lpstr>PowerPoint Presentation</vt:lpstr>
      <vt:lpstr>PowerPoint Presentation</vt:lpstr>
      <vt:lpstr>Security Services (Contd..)</vt:lpstr>
      <vt:lpstr>Security Services (Contd..)</vt:lpstr>
      <vt:lpstr>PowerPoint Presentation</vt:lpstr>
      <vt:lpstr>PowerPoint Presentation</vt:lpstr>
      <vt:lpstr>Relationship between Security Services and Security Mechanisms</vt:lpstr>
      <vt:lpstr>PowerPoint Presentation</vt:lpstr>
      <vt:lpstr>Cryptography vs Steganography</vt:lpstr>
      <vt:lpstr>What’s Cryptography</vt:lpstr>
      <vt:lpstr>What’s Cryptography (Contd..)</vt:lpstr>
      <vt:lpstr>Types of Steganography</vt:lpstr>
      <vt:lpstr>Text Cover (Examples)</vt:lpstr>
      <vt:lpstr>Text Cover (Examples) (Contd..)</vt:lpstr>
      <vt:lpstr>Text Cover (Examples) (Contd..)</vt:lpstr>
      <vt:lpstr>Text Cover (Examples) (Contd..)</vt:lpstr>
      <vt:lpstr>Image Cover (Examples)</vt:lpstr>
      <vt:lpstr>Image Cover (Examples)</vt:lpstr>
    </vt:vector>
  </TitlesOfParts>
  <Company>MAHE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Snehal Samanth [MAHE-MIT]</dc:creator>
  <cp:lastModifiedBy>Snehal Samanth [MAHE-MIT]</cp:lastModifiedBy>
  <cp:revision>138</cp:revision>
  <dcterms:created xsi:type="dcterms:W3CDTF">2024-07-21T03:07:08Z</dcterms:created>
  <dcterms:modified xsi:type="dcterms:W3CDTF">2026-07-28T08:08:14Z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0x010100DBF2D09440F4D9459A0CF0214DD5C910</vt:lpwstr>
  </property>
</Properties>
</file>