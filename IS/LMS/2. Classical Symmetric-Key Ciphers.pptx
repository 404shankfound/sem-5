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5"/>
  </p:notesMasterIdLst>
  <p:sldIdLst>
    <p:sldId id="359" r:id="rId5"/>
    <p:sldId id="259" r:id="rId6"/>
    <p:sldId id="256" r:id="rId7"/>
    <p:sldId id="257" r:id="rId8"/>
    <p:sldId id="258" r:id="rId9"/>
    <p:sldId id="262" r:id="rId10"/>
    <p:sldId id="261" r:id="rId11"/>
    <p:sldId id="263" r:id="rId12"/>
    <p:sldId id="264" r:id="rId13"/>
    <p:sldId id="265" r:id="rId14"/>
    <p:sldId id="266" r:id="rId15"/>
    <p:sldId id="267" r:id="rId16"/>
    <p:sldId id="268" r:id="rId17"/>
    <p:sldId id="269" r:id="rId18"/>
    <p:sldId id="270" r:id="rId19"/>
    <p:sldId id="272" r:id="rId20"/>
    <p:sldId id="273" r:id="rId21"/>
    <p:sldId id="360"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62" r:id="rId39"/>
    <p:sldId id="363" r:id="rId40"/>
    <p:sldId id="364" r:id="rId41"/>
    <p:sldId id="365" r:id="rId42"/>
    <p:sldId id="366" r:id="rId43"/>
    <p:sldId id="367" r:id="rId44"/>
    <p:sldId id="368" r:id="rId45"/>
    <p:sldId id="369" r:id="rId46"/>
    <p:sldId id="370" r:id="rId47"/>
    <p:sldId id="371" r:id="rId48"/>
    <p:sldId id="372" r:id="rId49"/>
    <p:sldId id="373" r:id="rId50"/>
    <p:sldId id="374" r:id="rId51"/>
    <p:sldId id="375" r:id="rId52"/>
    <p:sldId id="376" r:id="rId53"/>
    <p:sldId id="377" r:id="rId54"/>
    <p:sldId id="378" r:id="rId55"/>
    <p:sldId id="379" r:id="rId56"/>
    <p:sldId id="301" r:id="rId57"/>
    <p:sldId id="302" r:id="rId58"/>
    <p:sldId id="303" r:id="rId59"/>
    <p:sldId id="304" r:id="rId60"/>
    <p:sldId id="305" r:id="rId61"/>
    <p:sldId id="306" r:id="rId62"/>
    <p:sldId id="307" r:id="rId63"/>
    <p:sldId id="308" r:id="rId64"/>
    <p:sldId id="310" r:id="rId65"/>
    <p:sldId id="380" r:id="rId66"/>
    <p:sldId id="381" r:id="rId67"/>
    <p:sldId id="382" r:id="rId68"/>
    <p:sldId id="383" r:id="rId69"/>
    <p:sldId id="384" r:id="rId70"/>
    <p:sldId id="385" r:id="rId71"/>
    <p:sldId id="386" r:id="rId72"/>
    <p:sldId id="387" r:id="rId73"/>
    <p:sldId id="388" r:id="rId74"/>
    <p:sldId id="309" r:id="rId75"/>
    <p:sldId id="311" r:id="rId76"/>
    <p:sldId id="312" r:id="rId77"/>
    <p:sldId id="313" r:id="rId78"/>
    <p:sldId id="314" r:id="rId79"/>
    <p:sldId id="315" r:id="rId80"/>
    <p:sldId id="316" r:id="rId81"/>
    <p:sldId id="317" r:id="rId82"/>
    <p:sldId id="318" r:id="rId83"/>
    <p:sldId id="319" r:id="rId84"/>
    <p:sldId id="320" r:id="rId85"/>
    <p:sldId id="321" r:id="rId86"/>
    <p:sldId id="322" r:id="rId87"/>
    <p:sldId id="323" r:id="rId88"/>
    <p:sldId id="326" r:id="rId89"/>
    <p:sldId id="290" r:id="rId90"/>
    <p:sldId id="291" r:id="rId91"/>
    <p:sldId id="292" r:id="rId92"/>
    <p:sldId id="293" r:id="rId93"/>
    <p:sldId id="294" r:id="rId94"/>
    <p:sldId id="295" r:id="rId95"/>
    <p:sldId id="296" r:id="rId96"/>
    <p:sldId id="297" r:id="rId97"/>
    <p:sldId id="298" r:id="rId98"/>
    <p:sldId id="299" r:id="rId99"/>
    <p:sldId id="300" r:id="rId100"/>
    <p:sldId id="361" r:id="rId101"/>
    <p:sldId id="332" r:id="rId102"/>
    <p:sldId id="333" r:id="rId103"/>
    <p:sldId id="334" r:id="rId104"/>
    <p:sldId id="335" r:id="rId105"/>
    <p:sldId id="336" r:id="rId106"/>
    <p:sldId id="391" r:id="rId107"/>
    <p:sldId id="338" r:id="rId108"/>
    <p:sldId id="339" r:id="rId109"/>
    <p:sldId id="342" r:id="rId110"/>
    <p:sldId id="343" r:id="rId111"/>
    <p:sldId id="344" r:id="rId112"/>
    <p:sldId id="345" r:id="rId113"/>
    <p:sldId id="346" r:id="rId114"/>
    <p:sldId id="347" r:id="rId115"/>
    <p:sldId id="348" r:id="rId116"/>
    <p:sldId id="349" r:id="rId117"/>
    <p:sldId id="350" r:id="rId118"/>
    <p:sldId id="355" r:id="rId119"/>
    <p:sldId id="356" r:id="rId120"/>
    <p:sldId id="357" r:id="rId121"/>
    <p:sldId id="358" r:id="rId122"/>
    <p:sldId id="389" r:id="rId123"/>
    <p:sldId id="390"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7" autoAdjust="0"/>
  </p:normalViewPr>
  <p:slideViewPr>
    <p:cSldViewPr snapToGrid="0">
      <p:cViewPr varScale="1">
        <p:scale>
          <a:sx n="77" d="100"/>
          <a:sy n="77" d="100"/>
        </p:scale>
        <p:origin x="88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tableStyles" Target="tableStyle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2252F-BFB8-4758-B7B3-B1F028689E58}"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7A6908-904C-422F-96FD-FC120DE0DCBF}" type="slidenum">
              <a:rPr lang="en-US" smtClean="0"/>
              <a:t>‹#›</a:t>
            </a:fld>
            <a:endParaRPr lang="en-US"/>
          </a:p>
        </p:txBody>
      </p:sp>
    </p:spTree>
    <p:extLst>
      <p:ext uri="{BB962C8B-B14F-4D97-AF65-F5344CB8AC3E}">
        <p14:creationId xmlns:p14="http://schemas.microsoft.com/office/powerpoint/2010/main" val="842130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7A6908-904C-422F-96FD-FC120DE0DCBF}" type="slidenum">
              <a:rPr lang="en-US" smtClean="0"/>
              <a:t>105</a:t>
            </a:fld>
            <a:endParaRPr lang="en-US"/>
          </a:p>
        </p:txBody>
      </p:sp>
    </p:spTree>
    <p:extLst>
      <p:ext uri="{BB962C8B-B14F-4D97-AF65-F5344CB8AC3E}">
        <p14:creationId xmlns:p14="http://schemas.microsoft.com/office/powerpoint/2010/main" val="3955949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FBF6B-3120-BE4F-2D04-036EE0261F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2E7237-1A49-6709-B1D1-D2A67E9F7F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60C612-B163-0397-2A31-EC6F392A9174}"/>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9D1514E4-900F-6F19-4E6A-E8E0ECD266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9A941-91E9-432A-39E0-50FDD8C93CAA}"/>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4239349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97BE-14FB-B70F-1C9F-6E40A8317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AD5AF7-B4AA-BEBC-ED4C-7D8C170570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A8303-F310-059A-1BE1-F03CC5FB30EB}"/>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565CB2CB-2607-525C-B515-CAF2011CB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818EF-CBE2-7378-D84C-14FF8C62FB1B}"/>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3843596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94118-5676-295E-30C2-E6D40902F3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86D912-96F3-E6CE-8451-57285CCBFC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10E9FF-07F9-6D99-6EA0-E3C483D46DA6}"/>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8F10FB41-DEA3-F49A-71DD-62933FAA96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58A5F-0683-9AC1-4B6C-5D098025A3A1}"/>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2162639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868D-1418-EC6E-0A48-F6359AD7CE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8F4857-C6D1-38E2-253C-D5629F646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EDF6B7-7DE0-44B4-2BC7-7DEF4FF07F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972DF7-A84F-D0D0-107F-F12CEA620A1B}"/>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6" name="Footer Placeholder 5">
            <a:extLst>
              <a:ext uri="{FF2B5EF4-FFF2-40B4-BE49-F238E27FC236}">
                <a16:creationId xmlns:a16="http://schemas.microsoft.com/office/drawing/2014/main" id="{2D5139A0-B491-E2F2-0D5F-BE9181096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FE99C-8DF0-B953-B83F-E0E8D3AE5765}"/>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130140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DDD9B-BAEB-FDB1-18F6-6DFB902AB7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0A068D-85B6-184A-19A2-3780D0BA3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96C12F-E038-1276-A69F-1FF39711EC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B98CB5-7368-E000-0064-0567B15B2F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58DBCA-6896-547C-FCFD-4247A5FDE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C474AC-E444-11D1-8CAC-00910071BBCE}"/>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8" name="Footer Placeholder 7">
            <a:extLst>
              <a:ext uri="{FF2B5EF4-FFF2-40B4-BE49-F238E27FC236}">
                <a16:creationId xmlns:a16="http://schemas.microsoft.com/office/drawing/2014/main" id="{40877796-B4A5-152F-E9C9-82F1699C86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99FB73-7477-7F66-E0BD-22E5D499E333}"/>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200415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F73F-D99F-F710-B323-38D32C0436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4BA4AE-4898-C337-7F1B-AD486C7A46B5}"/>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4" name="Footer Placeholder 3">
            <a:extLst>
              <a:ext uri="{FF2B5EF4-FFF2-40B4-BE49-F238E27FC236}">
                <a16:creationId xmlns:a16="http://schemas.microsoft.com/office/drawing/2014/main" id="{E7494FC6-61E5-B555-C477-080B6BFBF5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F6B6AD-9F36-F5B0-9E21-DFC408473D8A}"/>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194463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04F944-B63B-E94E-EBBD-7F40E898D6C2}"/>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3" name="Footer Placeholder 2">
            <a:extLst>
              <a:ext uri="{FF2B5EF4-FFF2-40B4-BE49-F238E27FC236}">
                <a16:creationId xmlns:a16="http://schemas.microsoft.com/office/drawing/2014/main" id="{1E571166-29EE-EFEE-0B94-195EBBF68A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2AC58E-B092-CA31-4431-AD6F345B41DC}"/>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360729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2A906-08E3-3B75-3EF7-0BCBD0602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67511C-E407-0F88-AF42-AF1509237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23303E-C0E3-5617-5A94-B5D8ED751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2DF8C-A84D-8198-E440-E36D256CE370}"/>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6" name="Footer Placeholder 5">
            <a:extLst>
              <a:ext uri="{FF2B5EF4-FFF2-40B4-BE49-F238E27FC236}">
                <a16:creationId xmlns:a16="http://schemas.microsoft.com/office/drawing/2014/main" id="{DD787C8C-C9C9-17AA-D89A-B1AAE85AAD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CEB85-3F9A-6C04-F488-0291E8A32719}"/>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995449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FAE32-4E2E-E2E1-4194-45BF397C5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74A11F-4E6A-1C79-D3DE-3660489C28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D30D38-5E1E-B3F6-6CCF-B19926D55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26AEE8-84C2-F5CE-9A01-CFC4F94AF1B9}"/>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6" name="Footer Placeholder 5">
            <a:extLst>
              <a:ext uri="{FF2B5EF4-FFF2-40B4-BE49-F238E27FC236}">
                <a16:creationId xmlns:a16="http://schemas.microsoft.com/office/drawing/2014/main" id="{632456C4-0153-3172-DC5E-CDCD544F2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2FF752-9586-42AE-2AE1-D18EE31674CD}"/>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1675924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CCC15-EB45-EA77-EE64-5A08261B2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B50431-8C3A-3B80-4362-5A76F1A259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48EBA0-069F-4720-455C-948F4037D748}"/>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109BE355-2B85-8DB5-4999-657ABBD3D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3AEC0-9508-BB4E-31CF-54E3C2CFFFA7}"/>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2702314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DD9AD7-A195-7617-FA30-E78407722B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126140-54AC-C0AB-A755-DB47E3FA53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92E135-779C-6738-AFFE-0C0698CA53AE}"/>
              </a:ext>
            </a:extLst>
          </p:cNvPr>
          <p:cNvSpPr>
            <a:spLocks noGrp="1"/>
          </p:cNvSpPr>
          <p:nvPr>
            <p:ph type="dt" sz="half" idx="10"/>
          </p:nvPr>
        </p:nvSpPr>
        <p:spPr/>
        <p:txBody>
          <a:body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C434B5F1-8634-B886-6311-D4F2F33FF4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30087-40C0-A007-A8E8-D78F8B6DA34F}"/>
              </a:ext>
            </a:extLst>
          </p:cNvPr>
          <p:cNvSpPr>
            <a:spLocks noGrp="1"/>
          </p:cNvSpPr>
          <p:nvPr>
            <p:ph type="sldNum" sz="quarter" idx="12"/>
          </p:nvPr>
        </p:nvSpPr>
        <p:spPr/>
        <p:txBody>
          <a:bodyPr/>
          <a:lstStyle/>
          <a:p>
            <a:fld id="{FC6556E4-5912-4F7C-BD7F-D1E40A6CBF7A}" type="slidenum">
              <a:rPr lang="en-US" smtClean="0"/>
              <a:t>‹#›</a:t>
            </a:fld>
            <a:endParaRPr lang="en-US"/>
          </a:p>
        </p:txBody>
      </p:sp>
    </p:spTree>
    <p:extLst>
      <p:ext uri="{BB962C8B-B14F-4D97-AF65-F5344CB8AC3E}">
        <p14:creationId xmlns:p14="http://schemas.microsoft.com/office/powerpoint/2010/main" val="74969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A2A136-41B6-8092-D603-F268FAC03C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7FF217-24B5-189A-1D6D-B13EFA4FC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E4D779-06E8-0E55-E876-8210895122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10DDEE-5B41-409F-8C50-51CC5FDA4056}" type="datetimeFigureOut">
              <a:rPr lang="en-US" smtClean="0"/>
              <a:t>8/16/2026</a:t>
            </a:fld>
            <a:endParaRPr lang="en-US"/>
          </a:p>
        </p:txBody>
      </p:sp>
      <p:sp>
        <p:nvSpPr>
          <p:cNvPr id="5" name="Footer Placeholder 4">
            <a:extLst>
              <a:ext uri="{FF2B5EF4-FFF2-40B4-BE49-F238E27FC236}">
                <a16:creationId xmlns:a16="http://schemas.microsoft.com/office/drawing/2014/main" id="{17D4D236-8925-7164-2D96-DD1E45DE78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EFF7E8-28D2-3278-888B-0DDD87973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6556E4-5912-4F7C-BD7F-D1E40A6CBF7A}" type="slidenum">
              <a:rPr lang="en-US" smtClean="0"/>
              <a:t>‹#›</a:t>
            </a:fld>
            <a:endParaRPr lang="en-US"/>
          </a:p>
        </p:txBody>
      </p:sp>
    </p:spTree>
    <p:extLst>
      <p:ext uri="{BB962C8B-B14F-4D97-AF65-F5344CB8AC3E}">
        <p14:creationId xmlns:p14="http://schemas.microsoft.com/office/powerpoint/2010/main" val="485589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1785D3-1722-C128-BEA3-79B13DFF684A}"/>
              </a:ext>
            </a:extLst>
          </p:cNvPr>
          <p:cNvSpPr>
            <a:spLocks noGrp="1"/>
          </p:cNvSpPr>
          <p:nvPr>
            <p:ph type="ctrTitle"/>
          </p:nvPr>
        </p:nvSpPr>
        <p:spPr>
          <a:xfrm>
            <a:off x="686834" y="1153572"/>
            <a:ext cx="3200400" cy="4461163"/>
          </a:xfrm>
        </p:spPr>
        <p:txBody>
          <a:bodyPr vert="horz" lIns="91440" tIns="45720" rIns="91440" bIns="45720" rtlCol="0" anchor="ctr">
            <a:normAutofit/>
          </a:bodyPr>
          <a:lstStyle/>
          <a:p>
            <a:pPr algn="l"/>
            <a:r>
              <a:rPr lang="en-US" b="1" kern="1200" dirty="0">
                <a:solidFill>
                  <a:srgbClr val="FFFFFF"/>
                </a:solidFill>
                <a:latin typeface="Times New Roman" panose="02020603050405020304" pitchFamily="18" charset="0"/>
                <a:cs typeface="Times New Roman" panose="02020603050405020304" pitchFamily="18" charset="0"/>
              </a:rPr>
              <a:t>Topics to Cover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title 2">
            <a:extLst>
              <a:ext uri="{FF2B5EF4-FFF2-40B4-BE49-F238E27FC236}">
                <a16:creationId xmlns:a16="http://schemas.microsoft.com/office/drawing/2014/main" id="{04334C4D-CB46-9C68-7DD7-C6A9E08971AE}"/>
              </a:ext>
            </a:extLst>
          </p:cNvPr>
          <p:cNvSpPr>
            <a:spLocks noGrp="1"/>
          </p:cNvSpPr>
          <p:nvPr>
            <p:ph type="subTitle" idx="1"/>
          </p:nvPr>
        </p:nvSpPr>
        <p:spPr>
          <a:xfrm>
            <a:off x="4403765" y="319088"/>
            <a:ext cx="6906491" cy="5585619"/>
          </a:xfrm>
        </p:spPr>
        <p:txBody>
          <a:bodyPr vert="horz" lIns="91440" tIns="45720" rIns="91440" bIns="45720" rtlCol="0" anchor="ctr">
            <a:normAutofit/>
          </a:bodyPr>
          <a:lstStyle/>
          <a:p>
            <a:pPr marL="514350" indent="-228600" algn="l">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a:t>
            </a:r>
          </a:p>
          <a:p>
            <a:pPr marL="514350" indent="-228600" algn="l">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Substitution Ciphers</a:t>
            </a:r>
          </a:p>
          <a:p>
            <a:pPr marL="514350" indent="-228600" algn="l">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Transposition Ciphers</a:t>
            </a:r>
          </a:p>
          <a:p>
            <a:pPr marL="514350" indent="-228600" algn="l">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Stream and Block Ciphers</a:t>
            </a:r>
          </a:p>
        </p:txBody>
      </p:sp>
    </p:spTree>
    <p:extLst>
      <p:ext uri="{BB962C8B-B14F-4D97-AF65-F5344CB8AC3E}">
        <p14:creationId xmlns:p14="http://schemas.microsoft.com/office/powerpoint/2010/main" val="2862821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08A13-539F-DE54-95F4-4D826C34F4CF}"/>
              </a:ext>
            </a:extLst>
          </p:cNvPr>
          <p:cNvSpPr>
            <a:spLocks noGrp="1"/>
          </p:cNvSpPr>
          <p:nvPr>
            <p:ph idx="1"/>
          </p:nvPr>
        </p:nvSpPr>
        <p:spPr>
          <a:xfrm>
            <a:off x="838200" y="555171"/>
            <a:ext cx="10515600" cy="5621792"/>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721059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F54CC-9731-F33C-0825-F18CF4841E7E}"/>
              </a:ext>
            </a:extLst>
          </p:cNvPr>
          <p:cNvSpPr>
            <a:spLocks noGrp="1"/>
          </p:cNvSpPr>
          <p:nvPr>
            <p:ph type="ctrTitle"/>
          </p:nvPr>
        </p:nvSpPr>
        <p:spPr>
          <a:xfrm>
            <a:off x="699713" y="248038"/>
            <a:ext cx="9424001" cy="1159200"/>
          </a:xfrm>
        </p:spPr>
        <p:txBody>
          <a:bodyPr anchor="ctr">
            <a:noAutofit/>
          </a:bodyPr>
          <a:lstStyle/>
          <a:p>
            <a:r>
              <a:rPr lang="en-US" sz="5400" dirty="0">
                <a:solidFill>
                  <a:srgbClr val="FFFFFF"/>
                </a:solidFill>
                <a:latin typeface="Times New Roman" panose="02020603050405020304" pitchFamily="18" charset="0"/>
                <a:cs typeface="Times New Roman" panose="02020603050405020304" pitchFamily="18" charset="0"/>
              </a:rPr>
              <a:t>Symmetric Cipher Model</a:t>
            </a:r>
          </a:p>
        </p:txBody>
      </p:sp>
      <p:pic>
        <p:nvPicPr>
          <p:cNvPr id="4" name="Picture 3">
            <a:extLst>
              <a:ext uri="{FF2B5EF4-FFF2-40B4-BE49-F238E27FC236}">
                <a16:creationId xmlns:a16="http://schemas.microsoft.com/office/drawing/2014/main" id="{B8C5EF13-3815-40D0-78AF-81C5CA67A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713" y="1822348"/>
            <a:ext cx="10969773" cy="4273651"/>
          </a:xfrm>
          <a:prstGeom prst="rect">
            <a:avLst/>
          </a:prstGeom>
        </p:spPr>
      </p:pic>
    </p:spTree>
    <p:extLst>
      <p:ext uri="{BB962C8B-B14F-4D97-AF65-F5344CB8AC3E}">
        <p14:creationId xmlns:p14="http://schemas.microsoft.com/office/powerpoint/2010/main" val="325993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F54CC-9731-F33C-0825-F18CF4841E7E}"/>
              </a:ext>
            </a:extLst>
          </p:cNvPr>
          <p:cNvSpPr>
            <a:spLocks noGrp="1"/>
          </p:cNvSpPr>
          <p:nvPr>
            <p:ph type="ctrTitle"/>
          </p:nvPr>
        </p:nvSpPr>
        <p:spPr>
          <a:xfrm>
            <a:off x="699713" y="248038"/>
            <a:ext cx="10044487" cy="1159200"/>
          </a:xfrm>
        </p:spPr>
        <p:txBody>
          <a:bodyPr anchor="ctr">
            <a:noAutofit/>
          </a:bodyPr>
          <a:lstStyle/>
          <a:p>
            <a:r>
              <a:rPr lang="en-US" sz="5400" dirty="0">
                <a:solidFill>
                  <a:srgbClr val="FFFFFF"/>
                </a:solidFill>
                <a:latin typeface="Times New Roman" panose="02020603050405020304" pitchFamily="18" charset="0"/>
                <a:cs typeface="Times New Roman" panose="02020603050405020304" pitchFamily="18" charset="0"/>
              </a:rPr>
              <a:t>Symmetric Cipher Model (Contd..)</a:t>
            </a:r>
          </a:p>
        </p:txBody>
      </p:sp>
      <p:sp>
        <p:nvSpPr>
          <p:cNvPr id="3" name="TextBox 2">
            <a:extLst>
              <a:ext uri="{FF2B5EF4-FFF2-40B4-BE49-F238E27FC236}">
                <a16:creationId xmlns:a16="http://schemas.microsoft.com/office/drawing/2014/main" id="{AE66B956-66E8-1E8D-7409-D07865C18C5F}"/>
              </a:ext>
            </a:extLst>
          </p:cNvPr>
          <p:cNvSpPr txBox="1"/>
          <p:nvPr/>
        </p:nvSpPr>
        <p:spPr>
          <a:xfrm>
            <a:off x="699713" y="2002971"/>
            <a:ext cx="11056858" cy="2554545"/>
          </a:xfrm>
          <a:prstGeom prst="rect">
            <a:avLst/>
          </a:prstGeom>
          <a:noFill/>
        </p:spPr>
        <p:txBody>
          <a:bodyPr wrap="square" rtlCol="0">
            <a:spAutoFit/>
          </a:bodyPr>
          <a:lstStyle/>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Alice:- </a:t>
            </a:r>
            <a:r>
              <a:rPr lang="en-US" sz="3200" dirty="0">
                <a:solidFill>
                  <a:srgbClr val="FF0000"/>
                </a:solidFill>
                <a:latin typeface="Times New Roman" panose="02020603050405020304" pitchFamily="18" charset="0"/>
                <a:cs typeface="Times New Roman" panose="02020603050405020304" pitchFamily="18" charset="0"/>
              </a:rPr>
              <a:t>C = E</a:t>
            </a:r>
            <a:r>
              <a:rPr lang="en-US" sz="3200" baseline="-25000" dirty="0">
                <a:solidFill>
                  <a:srgbClr val="FF0000"/>
                </a:solidFill>
                <a:latin typeface="Times New Roman" panose="02020603050405020304" pitchFamily="18" charset="0"/>
                <a:cs typeface="Times New Roman" panose="02020603050405020304" pitchFamily="18" charset="0"/>
              </a:rPr>
              <a:t>k</a:t>
            </a:r>
            <a:r>
              <a:rPr lang="en-US" sz="3200" dirty="0">
                <a:solidFill>
                  <a:srgbClr val="FF0000"/>
                </a:solidFill>
                <a:latin typeface="Times New Roman" panose="02020603050405020304" pitchFamily="18" charset="0"/>
                <a:cs typeface="Times New Roman" panose="02020603050405020304" pitchFamily="18" charset="0"/>
              </a:rPr>
              <a:t>(P)</a:t>
            </a:r>
          </a:p>
          <a:p>
            <a:pPr marL="342900" indent="-34290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Bob:- </a:t>
            </a:r>
            <a:r>
              <a:rPr lang="en-US" sz="3200" dirty="0">
                <a:solidFill>
                  <a:srgbClr val="FF0000"/>
                </a:solidFill>
                <a:latin typeface="Times New Roman" panose="02020603050405020304" pitchFamily="18" charset="0"/>
                <a:cs typeface="Times New Roman" panose="02020603050405020304" pitchFamily="18" charset="0"/>
              </a:rPr>
              <a:t>D = D</a:t>
            </a:r>
            <a:r>
              <a:rPr lang="en-US" sz="3200" baseline="-25000" dirty="0">
                <a:solidFill>
                  <a:srgbClr val="FF0000"/>
                </a:solidFill>
                <a:latin typeface="Times New Roman" panose="02020603050405020304" pitchFamily="18" charset="0"/>
                <a:cs typeface="Times New Roman" panose="02020603050405020304" pitchFamily="18" charset="0"/>
              </a:rPr>
              <a:t>k</a:t>
            </a:r>
            <a:r>
              <a:rPr lang="en-US" sz="3200" dirty="0">
                <a:solidFill>
                  <a:srgbClr val="FF0000"/>
                </a:solidFill>
                <a:latin typeface="Times New Roman" panose="02020603050405020304" pitchFamily="18" charset="0"/>
                <a:cs typeface="Times New Roman" panose="02020603050405020304" pitchFamily="18" charset="0"/>
              </a:rPr>
              <a:t>(C) = D</a:t>
            </a:r>
            <a:r>
              <a:rPr lang="en-US" sz="3200" baseline="-25000" dirty="0">
                <a:solidFill>
                  <a:srgbClr val="FF0000"/>
                </a:solidFill>
                <a:latin typeface="Times New Roman" panose="02020603050405020304" pitchFamily="18" charset="0"/>
                <a:cs typeface="Times New Roman" panose="02020603050405020304" pitchFamily="18" charset="0"/>
              </a:rPr>
              <a:t>k</a:t>
            </a:r>
            <a:r>
              <a:rPr lang="en-US" sz="3200" dirty="0">
                <a:solidFill>
                  <a:srgbClr val="FF0000"/>
                </a:solidFill>
                <a:latin typeface="Times New Roman" panose="02020603050405020304" pitchFamily="18" charset="0"/>
                <a:cs typeface="Times New Roman" panose="02020603050405020304" pitchFamily="18" charset="0"/>
              </a:rPr>
              <a:t>(E</a:t>
            </a:r>
            <a:r>
              <a:rPr lang="en-US" sz="3200" baseline="-25000" dirty="0">
                <a:solidFill>
                  <a:srgbClr val="FF0000"/>
                </a:solidFill>
                <a:latin typeface="Times New Roman" panose="02020603050405020304" pitchFamily="18" charset="0"/>
                <a:cs typeface="Times New Roman" panose="02020603050405020304" pitchFamily="18" charset="0"/>
              </a:rPr>
              <a:t>k</a:t>
            </a:r>
            <a:r>
              <a:rPr lang="en-US" sz="3200" dirty="0">
                <a:solidFill>
                  <a:srgbClr val="FF0000"/>
                </a:solidFill>
                <a:latin typeface="Times New Roman" panose="02020603050405020304" pitchFamily="18" charset="0"/>
                <a:cs typeface="Times New Roman" panose="02020603050405020304" pitchFamily="18" charset="0"/>
              </a:rPr>
              <a:t>(P))</a:t>
            </a:r>
          </a:p>
          <a:p>
            <a:pPr marL="342900" indent="-34290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pic>
        <p:nvPicPr>
          <p:cNvPr id="5" name="Picture 4" descr="A long black line on a white background&#10;&#10;Description automatically generated">
            <a:extLst>
              <a:ext uri="{FF2B5EF4-FFF2-40B4-BE49-F238E27FC236}">
                <a16:creationId xmlns:a16="http://schemas.microsoft.com/office/drawing/2014/main" id="{AFF81D28-B015-E279-0E26-DF20D905CD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829" y="4125203"/>
            <a:ext cx="8000999" cy="2166740"/>
          </a:xfrm>
          <a:prstGeom prst="rect">
            <a:avLst/>
          </a:prstGeom>
        </p:spPr>
      </p:pic>
    </p:spTree>
    <p:extLst>
      <p:ext uri="{BB962C8B-B14F-4D97-AF65-F5344CB8AC3E}">
        <p14:creationId xmlns:p14="http://schemas.microsoft.com/office/powerpoint/2010/main" val="402707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F54CC-9731-F33C-0825-F18CF4841E7E}"/>
              </a:ext>
            </a:extLst>
          </p:cNvPr>
          <p:cNvSpPr>
            <a:spLocks noGrp="1"/>
          </p:cNvSpPr>
          <p:nvPr>
            <p:ph type="ctrTitle"/>
          </p:nvPr>
        </p:nvSpPr>
        <p:spPr>
          <a:xfrm>
            <a:off x="699713" y="248038"/>
            <a:ext cx="10044487" cy="1159200"/>
          </a:xfrm>
        </p:spPr>
        <p:txBody>
          <a:bodyPr anchor="ctr">
            <a:noAutofit/>
          </a:bodyPr>
          <a:lstStyle/>
          <a:p>
            <a:r>
              <a:rPr lang="en-US" sz="5400" dirty="0" err="1">
                <a:solidFill>
                  <a:srgbClr val="FFFFFF"/>
                </a:solidFill>
                <a:latin typeface="Times New Roman" panose="02020603050405020304" pitchFamily="18" charset="0"/>
                <a:cs typeface="Times New Roman" panose="02020603050405020304" pitchFamily="18" charset="0"/>
              </a:rPr>
              <a:t>Kerckhoff’s</a:t>
            </a:r>
            <a:r>
              <a:rPr lang="en-US" sz="5400" dirty="0">
                <a:solidFill>
                  <a:srgbClr val="FFFFFF"/>
                </a:solidFill>
                <a:latin typeface="Times New Roman" panose="02020603050405020304" pitchFamily="18" charset="0"/>
                <a:cs typeface="Times New Roman" panose="02020603050405020304" pitchFamily="18" charset="0"/>
              </a:rPr>
              <a:t> Principle</a:t>
            </a:r>
          </a:p>
        </p:txBody>
      </p:sp>
      <p:sp>
        <p:nvSpPr>
          <p:cNvPr id="3" name="TextBox 2">
            <a:extLst>
              <a:ext uri="{FF2B5EF4-FFF2-40B4-BE49-F238E27FC236}">
                <a16:creationId xmlns:a16="http://schemas.microsoft.com/office/drawing/2014/main" id="{AE66B956-66E8-1E8D-7409-D07865C18C5F}"/>
              </a:ext>
            </a:extLst>
          </p:cNvPr>
          <p:cNvSpPr txBox="1"/>
          <p:nvPr/>
        </p:nvSpPr>
        <p:spPr>
          <a:xfrm>
            <a:off x="699713" y="2002971"/>
            <a:ext cx="11056858" cy="2554545"/>
          </a:xfrm>
          <a:prstGeom prst="rect">
            <a:avLst/>
          </a:prstGeom>
          <a:noFill/>
        </p:spPr>
        <p:txBody>
          <a:bodyPr wrap="square" rtlCol="0">
            <a:spAutoFit/>
          </a:bodyPr>
          <a:lstStyle/>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Published by Auguste </a:t>
            </a:r>
            <a:r>
              <a:rPr lang="en-US" sz="3200" dirty="0" err="1">
                <a:latin typeface="Times New Roman" panose="02020603050405020304" pitchFamily="18" charset="0"/>
                <a:cs typeface="Times New Roman" panose="02020603050405020304" pitchFamily="18" charset="0"/>
              </a:rPr>
              <a:t>Kerckhoff</a:t>
            </a:r>
            <a:r>
              <a:rPr lang="en-US" sz="3200" dirty="0">
                <a:latin typeface="Times New Roman" panose="02020603050405020304" pitchFamily="18" charset="0"/>
                <a:cs typeface="Times New Roman" panose="02020603050405020304" pitchFamily="18" charset="0"/>
              </a:rPr>
              <a:t> in 1883.</a:t>
            </a:r>
          </a:p>
          <a:p>
            <a:endParaRPr lang="en-US" sz="3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Uses 2 key principles:- Algorithm Transparency, and Key Secrecy</a:t>
            </a:r>
          </a:p>
          <a:p>
            <a:pPr marL="342900" indent="-34290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99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F54CC-9731-F33C-0825-F18CF4841E7E}"/>
              </a:ext>
            </a:extLst>
          </p:cNvPr>
          <p:cNvSpPr>
            <a:spLocks noGrp="1"/>
          </p:cNvSpPr>
          <p:nvPr>
            <p:ph type="ctrTitle"/>
          </p:nvPr>
        </p:nvSpPr>
        <p:spPr>
          <a:xfrm>
            <a:off x="0" y="248038"/>
            <a:ext cx="12355286" cy="1159200"/>
          </a:xfrm>
        </p:spPr>
        <p:txBody>
          <a:bodyPr anchor="ctr">
            <a:noAutofit/>
          </a:bodyPr>
          <a:lstStyle/>
          <a:p>
            <a:r>
              <a:rPr lang="en-US" sz="4400" dirty="0">
                <a:solidFill>
                  <a:srgbClr val="FFFFFF"/>
                </a:solidFill>
                <a:latin typeface="Times New Roman" panose="02020603050405020304" pitchFamily="18" charset="0"/>
                <a:cs typeface="Times New Roman" panose="02020603050405020304" pitchFamily="18" charset="0"/>
              </a:rPr>
              <a:t>3 Independent Dimensions of Cryptographic Systems</a:t>
            </a:r>
          </a:p>
        </p:txBody>
      </p:sp>
      <p:sp>
        <p:nvSpPr>
          <p:cNvPr id="4" name="TextBox 3">
            <a:extLst>
              <a:ext uri="{FF2B5EF4-FFF2-40B4-BE49-F238E27FC236}">
                <a16:creationId xmlns:a16="http://schemas.microsoft.com/office/drawing/2014/main" id="{52CB9D1E-3722-D355-7FA5-98EFD32EC476}"/>
              </a:ext>
            </a:extLst>
          </p:cNvPr>
          <p:cNvSpPr txBox="1"/>
          <p:nvPr/>
        </p:nvSpPr>
        <p:spPr>
          <a:xfrm>
            <a:off x="217714" y="1796143"/>
            <a:ext cx="11658600" cy="2896947"/>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Types of Operations used for transformation of PT to CT</a:t>
            </a:r>
          </a:p>
          <a:p>
            <a:pPr marL="285750" indent="-285750">
              <a:lnSpc>
                <a:spcPct val="2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Number of keys used</a:t>
            </a:r>
          </a:p>
          <a:p>
            <a:pPr marL="285750" indent="-285750">
              <a:lnSpc>
                <a:spcPct val="2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How PT is processed</a:t>
            </a:r>
          </a:p>
        </p:txBody>
      </p:sp>
    </p:spTree>
    <p:extLst>
      <p:ext uri="{BB962C8B-B14F-4D97-AF65-F5344CB8AC3E}">
        <p14:creationId xmlns:p14="http://schemas.microsoft.com/office/powerpoint/2010/main" val="1046463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Cryptanalysis Techniques on Encrypted Data</a:t>
            </a:r>
          </a:p>
        </p:txBody>
      </p:sp>
      <p:sp>
        <p:nvSpPr>
          <p:cNvPr id="4" name="TextBox 3">
            <a:extLst>
              <a:ext uri="{FF2B5EF4-FFF2-40B4-BE49-F238E27FC236}">
                <a16:creationId xmlns:a16="http://schemas.microsoft.com/office/drawing/2014/main" id="{A115631C-5290-5D5D-4A4B-9DC557ABAFD7}"/>
              </a:ext>
            </a:extLst>
          </p:cNvPr>
          <p:cNvSpPr txBox="1"/>
          <p:nvPr/>
        </p:nvSpPr>
        <p:spPr>
          <a:xfrm>
            <a:off x="174171" y="1752600"/>
            <a:ext cx="11636829" cy="4457952"/>
          </a:xfrm>
          <a:prstGeom prst="rect">
            <a:avLst/>
          </a:prstGeom>
          <a:noFill/>
        </p:spPr>
        <p:txBody>
          <a:bodyPr wrap="square" rtlCol="0">
            <a:spAutoFit/>
          </a:bodyPr>
          <a:lstStyle/>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Brute Force Attack (BFA)</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Statistical Attack</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Pattern Attack</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Ciphertext Only Attack</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Known Plaintext Attack</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Chosen Plaintext Attack</a:t>
            </a:r>
          </a:p>
          <a:p>
            <a:pPr marL="457200" indent="-457200">
              <a:lnSpc>
                <a:spcPct val="150000"/>
              </a:lnSpc>
              <a:buAutoNum type="arabicParenR"/>
            </a:pPr>
            <a:r>
              <a:rPr lang="en-US" sz="2400" dirty="0">
                <a:latin typeface="Times New Roman" panose="02020603050405020304" pitchFamily="18" charset="0"/>
                <a:cs typeface="Times New Roman" panose="02020603050405020304" pitchFamily="18" charset="0"/>
              </a:rPr>
              <a:t>Chosen Ciphertext Attack</a:t>
            </a:r>
          </a:p>
          <a:p>
            <a:pPr marL="457200" indent="-457200">
              <a:lnSpc>
                <a:spcPct val="150000"/>
              </a:lnSpc>
              <a:buAutoNum type="arabicParen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74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BFA</a:t>
            </a:r>
          </a:p>
        </p:txBody>
      </p:sp>
      <p:pic>
        <p:nvPicPr>
          <p:cNvPr id="5" name="Picture 4" descr="A diagram of a computer network&#10;&#10;Description automatically generated">
            <a:extLst>
              <a:ext uri="{FF2B5EF4-FFF2-40B4-BE49-F238E27FC236}">
                <a16:creationId xmlns:a16="http://schemas.microsoft.com/office/drawing/2014/main" id="{FB92C154-D530-407D-1B43-C77CF7782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714" y="2054154"/>
            <a:ext cx="9644743" cy="3889446"/>
          </a:xfrm>
          <a:prstGeom prst="rect">
            <a:avLst/>
          </a:prstGeom>
        </p:spPr>
      </p:pic>
    </p:spTree>
    <p:extLst>
      <p:ext uri="{BB962C8B-B14F-4D97-AF65-F5344CB8AC3E}">
        <p14:creationId xmlns:p14="http://schemas.microsoft.com/office/powerpoint/2010/main" val="101831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Statistical Attack</a:t>
            </a:r>
          </a:p>
        </p:txBody>
      </p:sp>
      <p:pic>
        <p:nvPicPr>
          <p:cNvPr id="4" name="Picture 3">
            <a:extLst>
              <a:ext uri="{FF2B5EF4-FFF2-40B4-BE49-F238E27FC236}">
                <a16:creationId xmlns:a16="http://schemas.microsoft.com/office/drawing/2014/main" id="{8B9B3017-2A64-98BC-6F7F-7B6874077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4" y="1885279"/>
            <a:ext cx="5203372" cy="1097407"/>
          </a:xfrm>
          <a:prstGeom prst="rect">
            <a:avLst/>
          </a:prstGeom>
        </p:spPr>
      </p:pic>
      <p:sp>
        <p:nvSpPr>
          <p:cNvPr id="6" name="TextBox 5">
            <a:extLst>
              <a:ext uri="{FF2B5EF4-FFF2-40B4-BE49-F238E27FC236}">
                <a16:creationId xmlns:a16="http://schemas.microsoft.com/office/drawing/2014/main" id="{19D04F1F-E594-4CC7-BE48-E244B9BACC61}"/>
              </a:ext>
            </a:extLst>
          </p:cNvPr>
          <p:cNvSpPr txBox="1"/>
          <p:nvPr/>
        </p:nvSpPr>
        <p:spPr>
          <a:xfrm>
            <a:off x="1240970" y="3156857"/>
            <a:ext cx="10798629"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letter ‘e’ is the most frequently used English alphabet for plaintext.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Hence, for the above CT, the attacker makes a best case guess that most probably the ciphertext character ‘w’ maps to the plaintext character ‘e’.</a:t>
            </a:r>
          </a:p>
        </p:txBody>
      </p:sp>
      <p:sp>
        <p:nvSpPr>
          <p:cNvPr id="7" name="TextBox 6">
            <a:extLst>
              <a:ext uri="{FF2B5EF4-FFF2-40B4-BE49-F238E27FC236}">
                <a16:creationId xmlns:a16="http://schemas.microsoft.com/office/drawing/2014/main" id="{A849A3D6-55A3-09A2-F4E6-6A5BF97667B1}"/>
              </a:ext>
            </a:extLst>
          </p:cNvPr>
          <p:cNvSpPr txBox="1"/>
          <p:nvPr/>
        </p:nvSpPr>
        <p:spPr>
          <a:xfrm>
            <a:off x="1404257" y="1885279"/>
            <a:ext cx="1861457" cy="1015663"/>
          </a:xfrm>
          <a:prstGeom prst="rect">
            <a:avLst/>
          </a:prstGeom>
          <a:noFill/>
        </p:spPr>
        <p:txBody>
          <a:bodyPr wrap="square" rtlCol="0">
            <a:spAutoFit/>
          </a:bodyPr>
          <a:lstStyle/>
          <a:p>
            <a:r>
              <a:rPr lang="en-US" sz="6000" dirty="0">
                <a:solidFill>
                  <a:srgbClr val="FF0000"/>
                </a:solidFill>
                <a:latin typeface="Times New Roman" panose="02020603050405020304" pitchFamily="18" charset="0"/>
                <a:cs typeface="Times New Roman" panose="02020603050405020304" pitchFamily="18" charset="0"/>
              </a:rPr>
              <a:t>CT:-</a:t>
            </a:r>
          </a:p>
        </p:txBody>
      </p:sp>
    </p:spTree>
    <p:extLst>
      <p:ext uri="{BB962C8B-B14F-4D97-AF65-F5344CB8AC3E}">
        <p14:creationId xmlns:p14="http://schemas.microsoft.com/office/powerpoint/2010/main" val="329537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Statistical Attack (Contd..)</a:t>
            </a:r>
          </a:p>
        </p:txBody>
      </p:sp>
      <p:pic>
        <p:nvPicPr>
          <p:cNvPr id="5" name="Picture 4" descr="A table of letters and numbers&#10;&#10;Description automatically generated">
            <a:extLst>
              <a:ext uri="{FF2B5EF4-FFF2-40B4-BE49-F238E27FC236}">
                <a16:creationId xmlns:a16="http://schemas.microsoft.com/office/drawing/2014/main" id="{C0EB1A09-6286-8236-FAE2-74874CCFF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9286" y="1763486"/>
            <a:ext cx="7805057" cy="4799976"/>
          </a:xfrm>
          <a:prstGeom prst="rect">
            <a:avLst/>
          </a:prstGeom>
        </p:spPr>
      </p:pic>
    </p:spTree>
    <p:extLst>
      <p:ext uri="{BB962C8B-B14F-4D97-AF65-F5344CB8AC3E}">
        <p14:creationId xmlns:p14="http://schemas.microsoft.com/office/powerpoint/2010/main" val="279559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Pattern Attack</a:t>
            </a:r>
          </a:p>
        </p:txBody>
      </p:sp>
      <p:pic>
        <p:nvPicPr>
          <p:cNvPr id="6" name="Picture 5">
            <a:extLst>
              <a:ext uri="{FF2B5EF4-FFF2-40B4-BE49-F238E27FC236}">
                <a16:creationId xmlns:a16="http://schemas.microsoft.com/office/drawing/2014/main" id="{DE704CF4-9FBA-AD0B-F7E4-E9C8D95E8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6226" y="1696954"/>
            <a:ext cx="5867400" cy="1597433"/>
          </a:xfrm>
          <a:prstGeom prst="rect">
            <a:avLst/>
          </a:prstGeom>
          <a:ln>
            <a:solidFill>
              <a:schemeClr val="accent1"/>
            </a:solidFill>
          </a:ln>
        </p:spPr>
      </p:pic>
      <p:pic>
        <p:nvPicPr>
          <p:cNvPr id="9" name="Picture 8">
            <a:extLst>
              <a:ext uri="{FF2B5EF4-FFF2-40B4-BE49-F238E27FC236}">
                <a16:creationId xmlns:a16="http://schemas.microsoft.com/office/drawing/2014/main" id="{E10496B1-1715-E474-B27D-8988288FE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869" y="4801238"/>
            <a:ext cx="5704114" cy="1458686"/>
          </a:xfrm>
          <a:prstGeom prst="rect">
            <a:avLst/>
          </a:prstGeom>
          <a:ln>
            <a:solidFill>
              <a:schemeClr val="accent1"/>
            </a:solidFill>
          </a:ln>
        </p:spPr>
      </p:pic>
      <p:cxnSp>
        <p:nvCxnSpPr>
          <p:cNvPr id="13" name="Straight Arrow Connector 12">
            <a:extLst>
              <a:ext uri="{FF2B5EF4-FFF2-40B4-BE49-F238E27FC236}">
                <a16:creationId xmlns:a16="http://schemas.microsoft.com/office/drawing/2014/main" id="{69989B75-261C-E0D6-2EA4-39CF7BAFADC1}"/>
              </a:ext>
            </a:extLst>
          </p:cNvPr>
          <p:cNvCxnSpPr>
            <a:cxnSpLocks/>
            <a:stCxn id="6" idx="2"/>
            <a:endCxn id="9" idx="0"/>
          </p:cNvCxnSpPr>
          <p:nvPr/>
        </p:nvCxnSpPr>
        <p:spPr>
          <a:xfrm>
            <a:off x="5959926" y="3294387"/>
            <a:ext cx="0" cy="150685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531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Ciphertext Only Attack</a:t>
            </a:r>
          </a:p>
        </p:txBody>
      </p:sp>
      <p:pic>
        <p:nvPicPr>
          <p:cNvPr id="4" name="Picture 3" descr="A diagram of a computer&#10;&#10;Description automatically generated">
            <a:extLst>
              <a:ext uri="{FF2B5EF4-FFF2-40B4-BE49-F238E27FC236}">
                <a16:creationId xmlns:a16="http://schemas.microsoft.com/office/drawing/2014/main" id="{744AB1F8-6B50-1871-5E4B-72BB73DCC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180" y="2244664"/>
            <a:ext cx="10448693" cy="3442458"/>
          </a:xfrm>
          <a:prstGeom prst="rect">
            <a:avLst/>
          </a:prstGeom>
        </p:spPr>
      </p:pic>
    </p:spTree>
    <p:extLst>
      <p:ext uri="{BB962C8B-B14F-4D97-AF65-F5344CB8AC3E}">
        <p14:creationId xmlns:p14="http://schemas.microsoft.com/office/powerpoint/2010/main" val="140434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Known Plaintext Attack</a:t>
            </a:r>
          </a:p>
        </p:txBody>
      </p:sp>
      <p:pic>
        <p:nvPicPr>
          <p:cNvPr id="5" name="Picture 4" descr="A diagram of a computer system&#10;&#10;Description automatically generated">
            <a:extLst>
              <a:ext uri="{FF2B5EF4-FFF2-40B4-BE49-F238E27FC236}">
                <a16:creationId xmlns:a16="http://schemas.microsoft.com/office/drawing/2014/main" id="{6553F45C-CA9A-796E-0915-048ADE588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115" y="2273240"/>
            <a:ext cx="10025742" cy="3398217"/>
          </a:xfrm>
          <a:prstGeom prst="rect">
            <a:avLst/>
          </a:prstGeom>
        </p:spPr>
      </p:pic>
    </p:spTree>
    <p:extLst>
      <p:ext uri="{BB962C8B-B14F-4D97-AF65-F5344CB8AC3E}">
        <p14:creationId xmlns:p14="http://schemas.microsoft.com/office/powerpoint/2010/main" val="70219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Chosen Plaintext Attack</a:t>
            </a:r>
          </a:p>
        </p:txBody>
      </p:sp>
      <p:pic>
        <p:nvPicPr>
          <p:cNvPr id="4" name="Picture 3" descr="A diagram of a computer system&#10;&#10;Description automatically generated">
            <a:extLst>
              <a:ext uri="{FF2B5EF4-FFF2-40B4-BE49-F238E27FC236}">
                <a16:creationId xmlns:a16="http://schemas.microsoft.com/office/drawing/2014/main" id="{7A5D26FB-07BF-918A-E7A1-D097E672F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229" y="2120832"/>
            <a:ext cx="9895113" cy="3583281"/>
          </a:xfrm>
          <a:prstGeom prst="rect">
            <a:avLst/>
          </a:prstGeom>
        </p:spPr>
      </p:pic>
    </p:spTree>
    <p:extLst>
      <p:ext uri="{BB962C8B-B14F-4D97-AF65-F5344CB8AC3E}">
        <p14:creationId xmlns:p14="http://schemas.microsoft.com/office/powerpoint/2010/main" val="10122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6C548-EBFC-48BE-FBA2-2A03A13AF69C}"/>
              </a:ext>
            </a:extLst>
          </p:cNvPr>
          <p:cNvSpPr>
            <a:spLocks noGrp="1"/>
          </p:cNvSpPr>
          <p:nvPr>
            <p:ph type="title"/>
          </p:nvPr>
        </p:nvSpPr>
        <p:spPr>
          <a:xfrm>
            <a:off x="174171" y="294538"/>
            <a:ext cx="12975772" cy="1033669"/>
          </a:xfrm>
        </p:spPr>
        <p:txBody>
          <a:bodyPr>
            <a:noAutofit/>
          </a:bodyPr>
          <a:lstStyle/>
          <a:p>
            <a:pPr algn="ctr"/>
            <a:r>
              <a:rPr lang="en-US" sz="4500" dirty="0">
                <a:solidFill>
                  <a:srgbClr val="FFFFFF"/>
                </a:solidFill>
                <a:latin typeface="Times New Roman" panose="02020603050405020304" pitchFamily="18" charset="0"/>
                <a:cs typeface="Times New Roman" panose="02020603050405020304" pitchFamily="18" charset="0"/>
              </a:rPr>
              <a:t>Chosen Ciphertext Attack</a:t>
            </a:r>
          </a:p>
        </p:txBody>
      </p:sp>
      <p:pic>
        <p:nvPicPr>
          <p:cNvPr id="5" name="Picture 4" descr="A diagram of a computer system&#10;&#10;Description automatically generated">
            <a:extLst>
              <a:ext uri="{FF2B5EF4-FFF2-40B4-BE49-F238E27FC236}">
                <a16:creationId xmlns:a16="http://schemas.microsoft.com/office/drawing/2014/main" id="{B57AA1EC-A83E-2F90-B5BA-B3E203E79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629" y="2197036"/>
            <a:ext cx="9459685" cy="3267593"/>
          </a:xfrm>
          <a:prstGeom prst="rect">
            <a:avLst/>
          </a:prstGeom>
        </p:spPr>
      </p:pic>
    </p:spTree>
    <p:extLst>
      <p:ext uri="{BB962C8B-B14F-4D97-AF65-F5344CB8AC3E}">
        <p14:creationId xmlns:p14="http://schemas.microsoft.com/office/powerpoint/2010/main" val="224877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985F10-4685-8806-E2F1-A87781E1F43C}"/>
              </a:ext>
            </a:extLst>
          </p:cNvPr>
          <p:cNvSpPr>
            <a:spLocks noGrp="1"/>
          </p:cNvSpPr>
          <p:nvPr>
            <p:ph idx="1"/>
          </p:nvPr>
        </p:nvSpPr>
        <p:spPr>
          <a:xfrm>
            <a:off x="734784" y="-16330"/>
            <a:ext cx="10515600" cy="6874330"/>
          </a:xfrm>
        </p:spPr>
        <p:txBody>
          <a:bodyPr/>
          <a:lstStyle/>
          <a:p>
            <a:pPr marL="0" indent="0">
              <a:buNone/>
            </a:pPr>
            <a:endParaRPr lang="en-US" dirty="0"/>
          </a:p>
        </p:txBody>
      </p:sp>
      <p:sp>
        <p:nvSpPr>
          <p:cNvPr id="4" name="Rectangle 3">
            <a:extLst>
              <a:ext uri="{FF2B5EF4-FFF2-40B4-BE49-F238E27FC236}">
                <a16:creationId xmlns:a16="http://schemas.microsoft.com/office/drawing/2014/main" id="{B76077B0-658D-4350-0134-4AA5BDECF421}"/>
              </a:ext>
            </a:extLst>
          </p:cNvPr>
          <p:cNvSpPr/>
          <p:nvPr/>
        </p:nvSpPr>
        <p:spPr>
          <a:xfrm>
            <a:off x="4898570" y="277586"/>
            <a:ext cx="3167743" cy="544285"/>
          </a:xfrm>
          <a:prstGeom prst="rect">
            <a:avLst/>
          </a:prstGeom>
          <a:solidFill>
            <a:schemeClr val="bg2"/>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latin typeface="Times New Roman" panose="02020603050405020304" pitchFamily="18" charset="0"/>
                <a:cs typeface="Times New Roman" panose="02020603050405020304" pitchFamily="18" charset="0"/>
              </a:rPr>
              <a:t>Classical Ciphers</a:t>
            </a:r>
          </a:p>
        </p:txBody>
      </p:sp>
      <p:sp>
        <p:nvSpPr>
          <p:cNvPr id="5" name="Rectangle 4">
            <a:extLst>
              <a:ext uri="{FF2B5EF4-FFF2-40B4-BE49-F238E27FC236}">
                <a16:creationId xmlns:a16="http://schemas.microsoft.com/office/drawing/2014/main" id="{D19BB9E8-07B3-0E41-7B6B-08E7772FFCA8}"/>
              </a:ext>
            </a:extLst>
          </p:cNvPr>
          <p:cNvSpPr/>
          <p:nvPr/>
        </p:nvSpPr>
        <p:spPr>
          <a:xfrm>
            <a:off x="3331029" y="1317171"/>
            <a:ext cx="2373085" cy="6749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C00000"/>
                </a:solidFill>
                <a:latin typeface="Times New Roman" panose="02020603050405020304" pitchFamily="18" charset="0"/>
                <a:cs typeface="Times New Roman" panose="02020603050405020304" pitchFamily="18" charset="0"/>
              </a:rPr>
              <a:t>Substitution</a:t>
            </a:r>
          </a:p>
        </p:txBody>
      </p:sp>
      <p:sp>
        <p:nvSpPr>
          <p:cNvPr id="6" name="Rectangle 5">
            <a:extLst>
              <a:ext uri="{FF2B5EF4-FFF2-40B4-BE49-F238E27FC236}">
                <a16:creationId xmlns:a16="http://schemas.microsoft.com/office/drawing/2014/main" id="{3C764808-3852-DD7B-C3D0-30EA5A1C0947}"/>
              </a:ext>
            </a:extLst>
          </p:cNvPr>
          <p:cNvSpPr/>
          <p:nvPr/>
        </p:nvSpPr>
        <p:spPr>
          <a:xfrm>
            <a:off x="7598229" y="1317171"/>
            <a:ext cx="2612572" cy="6749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i="1" dirty="0">
                <a:solidFill>
                  <a:srgbClr val="C00000"/>
                </a:solidFill>
                <a:latin typeface="Times New Roman" panose="02020603050405020304" pitchFamily="18" charset="0"/>
                <a:cs typeface="Times New Roman" panose="02020603050405020304" pitchFamily="18" charset="0"/>
              </a:rPr>
              <a:t>Transposition</a:t>
            </a:r>
          </a:p>
        </p:txBody>
      </p:sp>
      <p:cxnSp>
        <p:nvCxnSpPr>
          <p:cNvPr id="8" name="Straight Arrow Connector 7">
            <a:extLst>
              <a:ext uri="{FF2B5EF4-FFF2-40B4-BE49-F238E27FC236}">
                <a16:creationId xmlns:a16="http://schemas.microsoft.com/office/drawing/2014/main" id="{36C3286E-B145-DB22-5896-3BA961804F0D}"/>
              </a:ext>
            </a:extLst>
          </p:cNvPr>
          <p:cNvCxnSpPr>
            <a:stCxn id="4" idx="2"/>
            <a:endCxn id="5" idx="0"/>
          </p:cNvCxnSpPr>
          <p:nvPr/>
        </p:nvCxnSpPr>
        <p:spPr>
          <a:xfrm flipH="1">
            <a:off x="4517572" y="821871"/>
            <a:ext cx="1964870" cy="495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5EA974E-15B7-395A-3C77-E24ABF152F7C}"/>
              </a:ext>
            </a:extLst>
          </p:cNvPr>
          <p:cNvCxnSpPr/>
          <p:nvPr/>
        </p:nvCxnSpPr>
        <p:spPr>
          <a:xfrm>
            <a:off x="6482441" y="821871"/>
            <a:ext cx="2422074" cy="495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A1D5F27F-4526-18BF-40D0-263D50CC8B76}"/>
              </a:ext>
            </a:extLst>
          </p:cNvPr>
          <p:cNvSpPr/>
          <p:nvPr/>
        </p:nvSpPr>
        <p:spPr>
          <a:xfrm>
            <a:off x="9198429" y="2656114"/>
            <a:ext cx="1872342" cy="5987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Rail Fence</a:t>
            </a:r>
          </a:p>
        </p:txBody>
      </p:sp>
      <p:sp>
        <p:nvSpPr>
          <p:cNvPr id="12" name="Rectangle 11">
            <a:extLst>
              <a:ext uri="{FF2B5EF4-FFF2-40B4-BE49-F238E27FC236}">
                <a16:creationId xmlns:a16="http://schemas.microsoft.com/office/drawing/2014/main" id="{82FD526C-93D0-D31A-8621-8E60A4328856}"/>
              </a:ext>
            </a:extLst>
          </p:cNvPr>
          <p:cNvSpPr/>
          <p:nvPr/>
        </p:nvSpPr>
        <p:spPr>
          <a:xfrm>
            <a:off x="9198429" y="4452257"/>
            <a:ext cx="1872342" cy="5987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Permutation</a:t>
            </a:r>
          </a:p>
        </p:txBody>
      </p:sp>
      <p:sp>
        <p:nvSpPr>
          <p:cNvPr id="13" name="Rectangle 12">
            <a:extLst>
              <a:ext uri="{FF2B5EF4-FFF2-40B4-BE49-F238E27FC236}">
                <a16:creationId xmlns:a16="http://schemas.microsoft.com/office/drawing/2014/main" id="{3FB425BE-9BD5-27DF-3E9E-FFE98493CF11}"/>
              </a:ext>
            </a:extLst>
          </p:cNvPr>
          <p:cNvSpPr/>
          <p:nvPr/>
        </p:nvSpPr>
        <p:spPr>
          <a:xfrm>
            <a:off x="9176658" y="5421084"/>
            <a:ext cx="1872342" cy="59871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Route</a:t>
            </a:r>
          </a:p>
        </p:txBody>
      </p:sp>
      <p:cxnSp>
        <p:nvCxnSpPr>
          <p:cNvPr id="17" name="Straight Connector 16">
            <a:extLst>
              <a:ext uri="{FF2B5EF4-FFF2-40B4-BE49-F238E27FC236}">
                <a16:creationId xmlns:a16="http://schemas.microsoft.com/office/drawing/2014/main" id="{A4B415C4-0A1D-37B6-7D84-ED953B4C9466}"/>
              </a:ext>
            </a:extLst>
          </p:cNvPr>
          <p:cNvCxnSpPr>
            <a:cxnSpLocks/>
          </p:cNvCxnSpPr>
          <p:nvPr/>
        </p:nvCxnSpPr>
        <p:spPr>
          <a:xfrm>
            <a:off x="8382001" y="1992086"/>
            <a:ext cx="0" cy="37555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2E96D18-7440-072F-095B-C021BE8C54A3}"/>
              </a:ext>
            </a:extLst>
          </p:cNvPr>
          <p:cNvCxnSpPr>
            <a:cxnSpLocks/>
          </p:cNvCxnSpPr>
          <p:nvPr/>
        </p:nvCxnSpPr>
        <p:spPr>
          <a:xfrm>
            <a:off x="8360229" y="5747657"/>
            <a:ext cx="838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3FEF25B-5A0A-B0E3-E589-62C346E0350A}"/>
              </a:ext>
            </a:extLst>
          </p:cNvPr>
          <p:cNvCxnSpPr>
            <a:cxnSpLocks/>
          </p:cNvCxnSpPr>
          <p:nvPr/>
        </p:nvCxnSpPr>
        <p:spPr>
          <a:xfrm>
            <a:off x="8360229" y="3864429"/>
            <a:ext cx="838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723C87F6-4502-1ED1-8D31-B04F6FD979F4}"/>
              </a:ext>
            </a:extLst>
          </p:cNvPr>
          <p:cNvCxnSpPr>
            <a:cxnSpLocks/>
          </p:cNvCxnSpPr>
          <p:nvPr/>
        </p:nvCxnSpPr>
        <p:spPr>
          <a:xfrm flipV="1">
            <a:off x="8360229" y="2860223"/>
            <a:ext cx="838200" cy="136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AB405BAD-E7DE-E725-706C-4755F531BCAC}"/>
              </a:ext>
            </a:extLst>
          </p:cNvPr>
          <p:cNvSpPr/>
          <p:nvPr/>
        </p:nvSpPr>
        <p:spPr>
          <a:xfrm>
            <a:off x="2057400" y="2569029"/>
            <a:ext cx="2373085" cy="783771"/>
          </a:xfrm>
          <a:prstGeom prst="rect">
            <a:avLst/>
          </a:prstGeom>
          <a:solidFill>
            <a:schemeClr val="bg2"/>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Monoalphabetic</a:t>
            </a:r>
          </a:p>
        </p:txBody>
      </p:sp>
      <p:sp>
        <p:nvSpPr>
          <p:cNvPr id="29" name="Rectangle 28">
            <a:extLst>
              <a:ext uri="{FF2B5EF4-FFF2-40B4-BE49-F238E27FC236}">
                <a16:creationId xmlns:a16="http://schemas.microsoft.com/office/drawing/2014/main" id="{F89799D0-8D33-E4C4-EB87-EDAF05DCE551}"/>
              </a:ext>
            </a:extLst>
          </p:cNvPr>
          <p:cNvSpPr/>
          <p:nvPr/>
        </p:nvSpPr>
        <p:spPr>
          <a:xfrm>
            <a:off x="5366659" y="2569029"/>
            <a:ext cx="1964866" cy="783771"/>
          </a:xfrm>
          <a:prstGeom prst="rect">
            <a:avLst/>
          </a:prstGeom>
          <a:solidFill>
            <a:schemeClr val="bg2"/>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Polyalphabetic</a:t>
            </a:r>
          </a:p>
        </p:txBody>
      </p:sp>
      <p:cxnSp>
        <p:nvCxnSpPr>
          <p:cNvPr id="31" name="Straight Arrow Connector 30">
            <a:extLst>
              <a:ext uri="{FF2B5EF4-FFF2-40B4-BE49-F238E27FC236}">
                <a16:creationId xmlns:a16="http://schemas.microsoft.com/office/drawing/2014/main" id="{3DF3C9BD-CC17-C1A6-AE09-341195F4C5E7}"/>
              </a:ext>
            </a:extLst>
          </p:cNvPr>
          <p:cNvCxnSpPr>
            <a:cxnSpLocks/>
            <a:endCxn id="28" idx="0"/>
          </p:cNvCxnSpPr>
          <p:nvPr/>
        </p:nvCxnSpPr>
        <p:spPr>
          <a:xfrm flipH="1">
            <a:off x="3243943" y="1992086"/>
            <a:ext cx="1273629" cy="576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66FC169C-A2F9-DB7F-30CD-1780664589B5}"/>
              </a:ext>
            </a:extLst>
          </p:cNvPr>
          <p:cNvCxnSpPr>
            <a:cxnSpLocks/>
            <a:stCxn id="5" idx="2"/>
            <a:endCxn id="29" idx="0"/>
          </p:cNvCxnSpPr>
          <p:nvPr/>
        </p:nvCxnSpPr>
        <p:spPr>
          <a:xfrm>
            <a:off x="4517572" y="1992086"/>
            <a:ext cx="1831520" cy="576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6333468A-9142-4221-4ED0-9B5D9BA9618E}"/>
              </a:ext>
            </a:extLst>
          </p:cNvPr>
          <p:cNvSpPr/>
          <p:nvPr/>
        </p:nvSpPr>
        <p:spPr>
          <a:xfrm>
            <a:off x="990600" y="3766457"/>
            <a:ext cx="1774371" cy="685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Additive</a:t>
            </a:r>
            <a:r>
              <a:rPr lang="en-US" sz="2000" dirty="0">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Cipher</a:t>
            </a:r>
          </a:p>
        </p:txBody>
      </p:sp>
      <p:sp>
        <p:nvSpPr>
          <p:cNvPr id="37" name="Rectangle 36">
            <a:extLst>
              <a:ext uri="{FF2B5EF4-FFF2-40B4-BE49-F238E27FC236}">
                <a16:creationId xmlns:a16="http://schemas.microsoft.com/office/drawing/2014/main" id="{0EF0DAE7-4551-044D-E730-A121C5F45E9F}"/>
              </a:ext>
            </a:extLst>
          </p:cNvPr>
          <p:cNvSpPr/>
          <p:nvPr/>
        </p:nvSpPr>
        <p:spPr>
          <a:xfrm>
            <a:off x="941616" y="4735285"/>
            <a:ext cx="1774365" cy="6857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Multiplicative Cipher</a:t>
            </a:r>
          </a:p>
        </p:txBody>
      </p:sp>
      <p:sp>
        <p:nvSpPr>
          <p:cNvPr id="38" name="Rectangle 37">
            <a:extLst>
              <a:ext uri="{FF2B5EF4-FFF2-40B4-BE49-F238E27FC236}">
                <a16:creationId xmlns:a16="http://schemas.microsoft.com/office/drawing/2014/main" id="{9329F7BD-D412-549D-CB6D-05E386F98A05}"/>
              </a:ext>
            </a:extLst>
          </p:cNvPr>
          <p:cNvSpPr/>
          <p:nvPr/>
        </p:nvSpPr>
        <p:spPr>
          <a:xfrm>
            <a:off x="990593" y="5823859"/>
            <a:ext cx="1774365" cy="60959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Affine Cipher</a:t>
            </a:r>
          </a:p>
        </p:txBody>
      </p:sp>
      <p:cxnSp>
        <p:nvCxnSpPr>
          <p:cNvPr id="40" name="Straight Connector 39">
            <a:extLst>
              <a:ext uri="{FF2B5EF4-FFF2-40B4-BE49-F238E27FC236}">
                <a16:creationId xmlns:a16="http://schemas.microsoft.com/office/drawing/2014/main" id="{D526A835-2210-8C8F-8E2A-9960D12289D5}"/>
              </a:ext>
            </a:extLst>
          </p:cNvPr>
          <p:cNvCxnSpPr>
            <a:cxnSpLocks/>
          </p:cNvCxnSpPr>
          <p:nvPr/>
        </p:nvCxnSpPr>
        <p:spPr>
          <a:xfrm>
            <a:off x="3592286" y="3352800"/>
            <a:ext cx="10884" cy="2775858"/>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7AFB7426-7E4F-D571-128E-458873C96005}"/>
              </a:ext>
            </a:extLst>
          </p:cNvPr>
          <p:cNvCxnSpPr>
            <a:cxnSpLocks/>
          </p:cNvCxnSpPr>
          <p:nvPr/>
        </p:nvCxnSpPr>
        <p:spPr>
          <a:xfrm flipH="1">
            <a:off x="2726871" y="3929743"/>
            <a:ext cx="8762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3F8BF7B-8CF1-565C-D8AB-E6D87143803E}"/>
              </a:ext>
            </a:extLst>
          </p:cNvPr>
          <p:cNvCxnSpPr>
            <a:cxnSpLocks/>
          </p:cNvCxnSpPr>
          <p:nvPr/>
        </p:nvCxnSpPr>
        <p:spPr>
          <a:xfrm flipH="1">
            <a:off x="2715981" y="4958443"/>
            <a:ext cx="8763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BB4F1E50-3B08-7734-7FE0-99EE82EC082D}"/>
              </a:ext>
            </a:extLst>
          </p:cNvPr>
          <p:cNvCxnSpPr>
            <a:cxnSpLocks/>
            <a:endCxn id="38" idx="3"/>
          </p:cNvCxnSpPr>
          <p:nvPr/>
        </p:nvCxnSpPr>
        <p:spPr>
          <a:xfrm flipH="1">
            <a:off x="2764958" y="6128658"/>
            <a:ext cx="8381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D6A8CD0F-DCAC-1F8E-E94E-C7FF1454C407}"/>
              </a:ext>
            </a:extLst>
          </p:cNvPr>
          <p:cNvSpPr/>
          <p:nvPr/>
        </p:nvSpPr>
        <p:spPr>
          <a:xfrm>
            <a:off x="4503969" y="3624947"/>
            <a:ext cx="1703612" cy="5878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Hill</a:t>
            </a:r>
          </a:p>
        </p:txBody>
      </p:sp>
      <p:sp>
        <p:nvSpPr>
          <p:cNvPr id="52" name="Rectangle 51">
            <a:extLst>
              <a:ext uri="{FF2B5EF4-FFF2-40B4-BE49-F238E27FC236}">
                <a16:creationId xmlns:a16="http://schemas.microsoft.com/office/drawing/2014/main" id="{4D227D32-B0C9-DF53-8EA6-F31D9614F2C7}"/>
              </a:ext>
            </a:extLst>
          </p:cNvPr>
          <p:cNvSpPr/>
          <p:nvPr/>
        </p:nvSpPr>
        <p:spPr>
          <a:xfrm>
            <a:off x="4422324" y="4397829"/>
            <a:ext cx="1690008" cy="5878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Vigenere</a:t>
            </a:r>
          </a:p>
        </p:txBody>
      </p:sp>
      <p:sp>
        <p:nvSpPr>
          <p:cNvPr id="53" name="Rectangle 52">
            <a:extLst>
              <a:ext uri="{FF2B5EF4-FFF2-40B4-BE49-F238E27FC236}">
                <a16:creationId xmlns:a16="http://schemas.microsoft.com/office/drawing/2014/main" id="{BEBFBD85-57FF-87F7-F02C-4280251B207F}"/>
              </a:ext>
            </a:extLst>
          </p:cNvPr>
          <p:cNvSpPr/>
          <p:nvPr/>
        </p:nvSpPr>
        <p:spPr>
          <a:xfrm>
            <a:off x="4495788" y="6112338"/>
            <a:ext cx="1692728" cy="60959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Playfair</a:t>
            </a:r>
          </a:p>
        </p:txBody>
      </p:sp>
      <p:cxnSp>
        <p:nvCxnSpPr>
          <p:cNvPr id="56" name="Straight Connector 55">
            <a:extLst>
              <a:ext uri="{FF2B5EF4-FFF2-40B4-BE49-F238E27FC236}">
                <a16:creationId xmlns:a16="http://schemas.microsoft.com/office/drawing/2014/main" id="{524DD2C4-246B-0A78-390F-3EFBA48BBAB6}"/>
              </a:ext>
            </a:extLst>
          </p:cNvPr>
          <p:cNvCxnSpPr>
            <a:cxnSpLocks/>
          </p:cNvCxnSpPr>
          <p:nvPr/>
        </p:nvCxnSpPr>
        <p:spPr>
          <a:xfrm>
            <a:off x="6672943" y="3352800"/>
            <a:ext cx="0" cy="3064336"/>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F46686D0-A10C-DDCB-AD9A-DF57A0069412}"/>
              </a:ext>
            </a:extLst>
          </p:cNvPr>
          <p:cNvCxnSpPr>
            <a:cxnSpLocks/>
            <a:endCxn id="51" idx="3"/>
          </p:cNvCxnSpPr>
          <p:nvPr/>
        </p:nvCxnSpPr>
        <p:spPr>
          <a:xfrm flipH="1">
            <a:off x="6207581" y="3918861"/>
            <a:ext cx="4762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EE9F37B-4F09-0FDC-E4FD-99F095B623D2}"/>
              </a:ext>
            </a:extLst>
          </p:cNvPr>
          <p:cNvCxnSpPr>
            <a:cxnSpLocks/>
            <a:endCxn id="52" idx="3"/>
          </p:cNvCxnSpPr>
          <p:nvPr/>
        </p:nvCxnSpPr>
        <p:spPr>
          <a:xfrm flipH="1">
            <a:off x="6112332" y="4669976"/>
            <a:ext cx="549728" cy="217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83626372-ACB7-6653-79E8-31A2372D9B24}"/>
              </a:ext>
            </a:extLst>
          </p:cNvPr>
          <p:cNvCxnSpPr>
            <a:cxnSpLocks/>
            <a:endCxn id="53" idx="3"/>
          </p:cNvCxnSpPr>
          <p:nvPr/>
        </p:nvCxnSpPr>
        <p:spPr>
          <a:xfrm flipH="1">
            <a:off x="6188516" y="6417136"/>
            <a:ext cx="4762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6E7B5AEC-B79C-0DF0-223D-28B55F04560A}"/>
              </a:ext>
            </a:extLst>
          </p:cNvPr>
          <p:cNvSpPr/>
          <p:nvPr/>
        </p:nvSpPr>
        <p:spPr>
          <a:xfrm>
            <a:off x="6988629" y="4582886"/>
            <a:ext cx="1251857" cy="59871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rgbClr val="C00000"/>
                </a:solidFill>
                <a:latin typeface="Times New Roman" panose="02020603050405020304" pitchFamily="18" charset="0"/>
                <a:cs typeface="Times New Roman" panose="02020603050405020304" pitchFamily="18" charset="0"/>
              </a:rPr>
              <a:t>Vernam</a:t>
            </a:r>
            <a:endParaRPr lang="en-US" sz="2000" dirty="0">
              <a:solidFill>
                <a:srgbClr val="C00000"/>
              </a:solidFill>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9B0E39AB-5B5F-C03C-12EE-09EBFB36A932}"/>
              </a:ext>
            </a:extLst>
          </p:cNvPr>
          <p:cNvCxnSpPr/>
          <p:nvPr/>
        </p:nvCxnSpPr>
        <p:spPr>
          <a:xfrm>
            <a:off x="6672943" y="5007432"/>
            <a:ext cx="3156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3993E3D-3F2A-CA37-5779-D0815820FEEE}"/>
              </a:ext>
            </a:extLst>
          </p:cNvPr>
          <p:cNvCxnSpPr>
            <a:cxnSpLocks/>
            <a:endCxn id="12" idx="1"/>
          </p:cNvCxnSpPr>
          <p:nvPr/>
        </p:nvCxnSpPr>
        <p:spPr>
          <a:xfrm flipV="1">
            <a:off x="8382001" y="4751615"/>
            <a:ext cx="816428" cy="598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9BF0C517-9854-3FCF-C51B-15532BB38BDA}"/>
              </a:ext>
            </a:extLst>
          </p:cNvPr>
          <p:cNvSpPr/>
          <p:nvPr/>
        </p:nvSpPr>
        <p:spPr>
          <a:xfrm>
            <a:off x="9176658" y="3483430"/>
            <a:ext cx="2024741" cy="7483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Columnar</a:t>
            </a:r>
          </a:p>
        </p:txBody>
      </p:sp>
      <p:sp>
        <p:nvSpPr>
          <p:cNvPr id="21" name="Rectangle 20">
            <a:extLst>
              <a:ext uri="{FF2B5EF4-FFF2-40B4-BE49-F238E27FC236}">
                <a16:creationId xmlns:a16="http://schemas.microsoft.com/office/drawing/2014/main" id="{A5AD1FFF-E1BB-8000-4248-8D700E6B4B0A}"/>
              </a:ext>
            </a:extLst>
          </p:cNvPr>
          <p:cNvSpPr/>
          <p:nvPr/>
        </p:nvSpPr>
        <p:spPr>
          <a:xfrm>
            <a:off x="4110713" y="5132613"/>
            <a:ext cx="1690008" cy="58782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Times New Roman" panose="02020603050405020304" pitchFamily="18" charset="0"/>
                <a:cs typeface="Times New Roman" panose="02020603050405020304" pitchFamily="18" charset="0"/>
              </a:rPr>
              <a:t>Autokey</a:t>
            </a:r>
          </a:p>
        </p:txBody>
      </p:sp>
      <p:cxnSp>
        <p:nvCxnSpPr>
          <p:cNvPr id="22" name="Straight Arrow Connector 21">
            <a:extLst>
              <a:ext uri="{FF2B5EF4-FFF2-40B4-BE49-F238E27FC236}">
                <a16:creationId xmlns:a16="http://schemas.microsoft.com/office/drawing/2014/main" id="{777B866A-A470-2732-7AF3-E3B746215535}"/>
              </a:ext>
            </a:extLst>
          </p:cNvPr>
          <p:cNvCxnSpPr>
            <a:cxnSpLocks/>
            <a:endCxn id="21" idx="3"/>
          </p:cNvCxnSpPr>
          <p:nvPr/>
        </p:nvCxnSpPr>
        <p:spPr>
          <a:xfrm flipH="1">
            <a:off x="5800721" y="5418377"/>
            <a:ext cx="861339" cy="81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67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24C228-466C-A0EB-BA52-83FB7C475F54}"/>
              </a:ext>
            </a:extLst>
          </p:cNvPr>
          <p:cNvSpPr>
            <a:spLocks noGrp="1"/>
          </p:cNvSpPr>
          <p:nvPr>
            <p:ph type="title"/>
          </p:nvPr>
        </p:nvSpPr>
        <p:spPr>
          <a:xfrm>
            <a:off x="1371599" y="294538"/>
            <a:ext cx="9895951" cy="1033669"/>
          </a:xfrm>
        </p:spPr>
        <p:txBody>
          <a:bodyPr>
            <a:normAutofit/>
          </a:bodyPr>
          <a:lstStyle/>
          <a:p>
            <a:pPr algn="ctr"/>
            <a:r>
              <a:rPr lang="en-US" sz="6000" dirty="0">
                <a:solidFill>
                  <a:srgbClr val="FFFFFF"/>
                </a:solidFill>
                <a:latin typeface="Times New Roman" panose="02020603050405020304" pitchFamily="18" charset="0"/>
                <a:cs typeface="Times New Roman" panose="02020603050405020304" pitchFamily="18" charset="0"/>
              </a:rPr>
              <a:t>Default Numerical Values</a:t>
            </a:r>
          </a:p>
        </p:txBody>
      </p:sp>
      <p:graphicFrame>
        <p:nvGraphicFramePr>
          <p:cNvPr id="4" name="Content Placeholder 3">
            <a:extLst>
              <a:ext uri="{FF2B5EF4-FFF2-40B4-BE49-F238E27FC236}">
                <a16:creationId xmlns:a16="http://schemas.microsoft.com/office/drawing/2014/main" id="{880DF793-01C2-6192-9254-2E7E9867A3CF}"/>
              </a:ext>
            </a:extLst>
          </p:cNvPr>
          <p:cNvGraphicFramePr>
            <a:graphicFrameLocks noGrp="1"/>
          </p:cNvGraphicFramePr>
          <p:nvPr>
            <p:ph idx="1"/>
            <p:extLst>
              <p:ext uri="{D42A27DB-BD31-4B8C-83A1-F6EECF244321}">
                <p14:modId xmlns:p14="http://schemas.microsoft.com/office/powerpoint/2010/main" val="3259470252"/>
              </p:ext>
            </p:extLst>
          </p:nvPr>
        </p:nvGraphicFramePr>
        <p:xfrm>
          <a:off x="870857" y="1825625"/>
          <a:ext cx="10482943" cy="4754880"/>
        </p:xfrm>
        <a:graphic>
          <a:graphicData uri="http://schemas.openxmlformats.org/drawingml/2006/table">
            <a:tbl>
              <a:tblPr firstRow="1" bandRow="1">
                <a:tableStyleId>{5C22544A-7EE6-4342-B048-85BDC9FD1C3A}</a:tableStyleId>
              </a:tblPr>
              <a:tblGrid>
                <a:gridCol w="2596243">
                  <a:extLst>
                    <a:ext uri="{9D8B030D-6E8A-4147-A177-3AD203B41FA5}">
                      <a16:colId xmlns:a16="http://schemas.microsoft.com/office/drawing/2014/main" val="4203188042"/>
                    </a:ext>
                  </a:extLst>
                </a:gridCol>
                <a:gridCol w="2628900">
                  <a:extLst>
                    <a:ext uri="{9D8B030D-6E8A-4147-A177-3AD203B41FA5}">
                      <a16:colId xmlns:a16="http://schemas.microsoft.com/office/drawing/2014/main" val="2851375183"/>
                    </a:ext>
                  </a:extLst>
                </a:gridCol>
                <a:gridCol w="2628900">
                  <a:extLst>
                    <a:ext uri="{9D8B030D-6E8A-4147-A177-3AD203B41FA5}">
                      <a16:colId xmlns:a16="http://schemas.microsoft.com/office/drawing/2014/main" val="2438711780"/>
                    </a:ext>
                  </a:extLst>
                </a:gridCol>
                <a:gridCol w="2628900">
                  <a:extLst>
                    <a:ext uri="{9D8B030D-6E8A-4147-A177-3AD203B41FA5}">
                      <a16:colId xmlns:a16="http://schemas.microsoft.com/office/drawing/2014/main" val="4059471773"/>
                    </a:ext>
                  </a:extLst>
                </a:gridCol>
              </a:tblGrid>
              <a:tr h="383419">
                <a:tc>
                  <a:txBody>
                    <a:bodyPr/>
                    <a:lstStyle/>
                    <a:p>
                      <a:pPr algn="ctr"/>
                      <a:r>
                        <a:rPr lang="en-US" sz="2000" b="1" dirty="0">
                          <a:latin typeface="Times New Roman" panose="02020603050405020304" pitchFamily="18" charset="0"/>
                          <a:cs typeface="Times New Roman" panose="02020603050405020304" pitchFamily="18" charset="0"/>
                        </a:rPr>
                        <a:t>Character</a:t>
                      </a:r>
                    </a:p>
                  </a:txBody>
                  <a:tcPr/>
                </a:tc>
                <a:tc>
                  <a:txBody>
                    <a:bodyPr/>
                    <a:lstStyle/>
                    <a:p>
                      <a:pPr algn="ctr"/>
                      <a:r>
                        <a:rPr lang="en-US" sz="2000" b="1" dirty="0">
                          <a:latin typeface="Times New Roman" panose="02020603050405020304" pitchFamily="18" charset="0"/>
                          <a:cs typeface="Times New Roman" panose="02020603050405020304" pitchFamily="18" charset="0"/>
                        </a:rPr>
                        <a:t>Numerical Equivalent</a:t>
                      </a:r>
                    </a:p>
                  </a:txBody>
                  <a:tcPr/>
                </a:tc>
                <a:tc>
                  <a:txBody>
                    <a:bodyPr/>
                    <a:lstStyle/>
                    <a:p>
                      <a:pPr algn="ctr"/>
                      <a:r>
                        <a:rPr lang="en-US" sz="2000" b="1" dirty="0">
                          <a:latin typeface="Times New Roman" panose="02020603050405020304" pitchFamily="18" charset="0"/>
                          <a:cs typeface="Times New Roman" panose="02020603050405020304" pitchFamily="18" charset="0"/>
                        </a:rPr>
                        <a:t>Character</a:t>
                      </a:r>
                    </a:p>
                  </a:txBody>
                  <a:tcPr/>
                </a:tc>
                <a:tc>
                  <a:txBody>
                    <a:bodyPr/>
                    <a:lstStyle/>
                    <a:p>
                      <a:pPr algn="ctr"/>
                      <a:r>
                        <a:rPr lang="en-US" sz="2000" b="1" dirty="0">
                          <a:latin typeface="Times New Roman" panose="02020603050405020304" pitchFamily="18" charset="0"/>
                          <a:cs typeface="Times New Roman" panose="02020603050405020304" pitchFamily="18" charset="0"/>
                        </a:rPr>
                        <a:t>Numerical Equivalent</a:t>
                      </a:r>
                    </a:p>
                  </a:txBody>
                  <a:tcPr/>
                </a:tc>
                <a:extLst>
                  <a:ext uri="{0D108BD9-81ED-4DB2-BD59-A6C34878D82A}">
                    <a16:rowId xmlns:a16="http://schemas.microsoft.com/office/drawing/2014/main" val="2329376494"/>
                  </a:ext>
                </a:extLst>
              </a:tr>
              <a:tr h="327467">
                <a:tc>
                  <a:txBody>
                    <a:bodyPr/>
                    <a:lstStyle/>
                    <a:p>
                      <a:pPr algn="ctr"/>
                      <a:r>
                        <a:rPr lang="en-US" sz="1600" dirty="0">
                          <a:latin typeface="Times New Roman" panose="02020603050405020304" pitchFamily="18" charset="0"/>
                          <a:cs typeface="Times New Roman" panose="02020603050405020304" pitchFamily="18" charset="0"/>
                        </a:rPr>
                        <a:t>a</a:t>
                      </a:r>
                    </a:p>
                  </a:txBody>
                  <a:tcPr/>
                </a:tc>
                <a:tc>
                  <a:txBody>
                    <a:bodyPr/>
                    <a:lstStyle/>
                    <a:p>
                      <a:pPr algn="ctr"/>
                      <a:r>
                        <a:rPr lang="en-US" sz="1600" dirty="0">
                          <a:latin typeface="Times New Roman" panose="02020603050405020304" pitchFamily="18" charset="0"/>
                          <a:cs typeface="Times New Roman" panose="02020603050405020304" pitchFamily="18" charset="0"/>
                        </a:rPr>
                        <a:t>0</a:t>
                      </a:r>
                    </a:p>
                  </a:txBody>
                  <a:tcPr/>
                </a:tc>
                <a:tc>
                  <a:txBody>
                    <a:bodyPr/>
                    <a:lstStyle/>
                    <a:p>
                      <a:pPr algn="ctr"/>
                      <a:r>
                        <a:rPr lang="en-US" sz="1600" dirty="0">
                          <a:latin typeface="Times New Roman" panose="02020603050405020304" pitchFamily="18" charset="0"/>
                          <a:cs typeface="Times New Roman" panose="02020603050405020304" pitchFamily="18" charset="0"/>
                        </a:rPr>
                        <a:t>n</a:t>
                      </a:r>
                    </a:p>
                  </a:txBody>
                  <a:tcPr/>
                </a:tc>
                <a:tc>
                  <a:txBody>
                    <a:bodyPr/>
                    <a:lstStyle/>
                    <a:p>
                      <a:pPr algn="ctr"/>
                      <a:r>
                        <a:rPr lang="en-US" sz="1600" dirty="0">
                          <a:latin typeface="Times New Roman" panose="02020603050405020304" pitchFamily="18" charset="0"/>
                          <a:cs typeface="Times New Roman" panose="02020603050405020304" pitchFamily="18" charset="0"/>
                        </a:rPr>
                        <a:t>13</a:t>
                      </a:r>
                    </a:p>
                  </a:txBody>
                  <a:tcPr/>
                </a:tc>
                <a:extLst>
                  <a:ext uri="{0D108BD9-81ED-4DB2-BD59-A6C34878D82A}">
                    <a16:rowId xmlns:a16="http://schemas.microsoft.com/office/drawing/2014/main" val="1894967545"/>
                  </a:ext>
                </a:extLst>
              </a:tr>
              <a:tr h="327467">
                <a:tc>
                  <a:txBody>
                    <a:bodyPr/>
                    <a:lstStyle/>
                    <a:p>
                      <a:pPr algn="ctr"/>
                      <a:r>
                        <a:rPr lang="en-US" sz="1600" dirty="0">
                          <a:latin typeface="Times New Roman" panose="02020603050405020304" pitchFamily="18" charset="0"/>
                          <a:cs typeface="Times New Roman" panose="02020603050405020304" pitchFamily="18" charset="0"/>
                        </a:rPr>
                        <a:t>b</a:t>
                      </a:r>
                    </a:p>
                  </a:txBody>
                  <a:tcPr/>
                </a:tc>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ctr"/>
                      <a:r>
                        <a:rPr lang="en-US" sz="1600" dirty="0">
                          <a:latin typeface="Times New Roman" panose="02020603050405020304" pitchFamily="18" charset="0"/>
                          <a:cs typeface="Times New Roman" panose="02020603050405020304" pitchFamily="18" charset="0"/>
                        </a:rPr>
                        <a:t>o</a:t>
                      </a:r>
                    </a:p>
                  </a:txBody>
                  <a:tcPr/>
                </a:tc>
                <a:tc>
                  <a:txBody>
                    <a:bodyPr/>
                    <a:lstStyle/>
                    <a:p>
                      <a:pPr algn="ctr"/>
                      <a:r>
                        <a:rPr lang="en-US" sz="1600"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4217148919"/>
                  </a:ext>
                </a:extLst>
              </a:tr>
              <a:tr h="327467">
                <a:tc>
                  <a:txBody>
                    <a:bodyPr/>
                    <a:lstStyle/>
                    <a:p>
                      <a:pPr algn="ctr"/>
                      <a:r>
                        <a:rPr lang="en-US" sz="1600" dirty="0">
                          <a:latin typeface="Times New Roman" panose="02020603050405020304" pitchFamily="18" charset="0"/>
                          <a:cs typeface="Times New Roman" panose="02020603050405020304" pitchFamily="18" charset="0"/>
                        </a:rPr>
                        <a:t>c</a:t>
                      </a:r>
                    </a:p>
                  </a:txBody>
                  <a:tcPr/>
                </a:tc>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ctr"/>
                      <a:r>
                        <a:rPr lang="en-US" sz="1600" dirty="0">
                          <a:latin typeface="Times New Roman" panose="02020603050405020304" pitchFamily="18" charset="0"/>
                          <a:cs typeface="Times New Roman" panose="02020603050405020304" pitchFamily="18" charset="0"/>
                        </a:rPr>
                        <a:t>p</a:t>
                      </a:r>
                    </a:p>
                  </a:txBody>
                  <a:tcPr/>
                </a:tc>
                <a:tc>
                  <a:txBody>
                    <a:bodyPr/>
                    <a:lstStyle/>
                    <a:p>
                      <a:pPr algn="ctr"/>
                      <a:r>
                        <a:rPr lang="en-US" sz="1600" dirty="0">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1662380485"/>
                  </a:ext>
                </a:extLst>
              </a:tr>
              <a:tr h="327467">
                <a:tc>
                  <a:txBody>
                    <a:bodyPr/>
                    <a:lstStyle/>
                    <a:p>
                      <a:pPr algn="ctr"/>
                      <a:r>
                        <a:rPr lang="en-US" sz="1600" dirty="0">
                          <a:latin typeface="Times New Roman" panose="02020603050405020304" pitchFamily="18" charset="0"/>
                          <a:cs typeface="Times New Roman" panose="02020603050405020304" pitchFamily="18" charset="0"/>
                        </a:rPr>
                        <a:t>d</a:t>
                      </a:r>
                    </a:p>
                  </a:txBody>
                  <a:tcPr/>
                </a:tc>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ctr"/>
                      <a:r>
                        <a:rPr lang="en-US" sz="1600" dirty="0">
                          <a:latin typeface="Times New Roman" panose="02020603050405020304" pitchFamily="18" charset="0"/>
                          <a:cs typeface="Times New Roman" panose="02020603050405020304" pitchFamily="18" charset="0"/>
                        </a:rPr>
                        <a:t>q</a:t>
                      </a:r>
                    </a:p>
                  </a:txBody>
                  <a:tcPr/>
                </a:tc>
                <a:tc>
                  <a:txBody>
                    <a:bodyPr/>
                    <a:lstStyle/>
                    <a:p>
                      <a:pPr algn="ctr"/>
                      <a:r>
                        <a:rPr lang="en-US" sz="1600" dirty="0">
                          <a:latin typeface="Times New Roman" panose="02020603050405020304" pitchFamily="18" charset="0"/>
                          <a:cs typeface="Times New Roman" panose="02020603050405020304" pitchFamily="18" charset="0"/>
                        </a:rPr>
                        <a:t>16</a:t>
                      </a:r>
                    </a:p>
                  </a:txBody>
                  <a:tcPr/>
                </a:tc>
                <a:extLst>
                  <a:ext uri="{0D108BD9-81ED-4DB2-BD59-A6C34878D82A}">
                    <a16:rowId xmlns:a16="http://schemas.microsoft.com/office/drawing/2014/main" val="2993145526"/>
                  </a:ext>
                </a:extLst>
              </a:tr>
              <a:tr h="327467">
                <a:tc>
                  <a:txBody>
                    <a:bodyPr/>
                    <a:lstStyle/>
                    <a:p>
                      <a:pPr algn="ctr"/>
                      <a:r>
                        <a:rPr lang="en-US" sz="1600" dirty="0">
                          <a:latin typeface="Times New Roman" panose="02020603050405020304" pitchFamily="18" charset="0"/>
                          <a:cs typeface="Times New Roman" panose="02020603050405020304" pitchFamily="18" charset="0"/>
                        </a:rPr>
                        <a:t>e</a:t>
                      </a:r>
                    </a:p>
                  </a:txBody>
                  <a:tcPr/>
                </a:tc>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pPr algn="ctr"/>
                      <a:r>
                        <a:rPr lang="en-US" sz="1600" dirty="0">
                          <a:latin typeface="Times New Roman" panose="02020603050405020304" pitchFamily="18" charset="0"/>
                          <a:cs typeface="Times New Roman" panose="02020603050405020304" pitchFamily="18" charset="0"/>
                        </a:rPr>
                        <a:t>r</a:t>
                      </a:r>
                    </a:p>
                  </a:txBody>
                  <a:tcPr/>
                </a:tc>
                <a:tc>
                  <a:txBody>
                    <a:bodyPr/>
                    <a:lstStyle/>
                    <a:p>
                      <a:pPr algn="ctr"/>
                      <a:r>
                        <a:rPr lang="en-US" sz="1600" dirty="0">
                          <a:latin typeface="Times New Roman" panose="02020603050405020304" pitchFamily="18" charset="0"/>
                          <a:cs typeface="Times New Roman" panose="02020603050405020304" pitchFamily="18" charset="0"/>
                        </a:rPr>
                        <a:t>17</a:t>
                      </a:r>
                    </a:p>
                  </a:txBody>
                  <a:tcPr/>
                </a:tc>
                <a:extLst>
                  <a:ext uri="{0D108BD9-81ED-4DB2-BD59-A6C34878D82A}">
                    <a16:rowId xmlns:a16="http://schemas.microsoft.com/office/drawing/2014/main" val="592281253"/>
                  </a:ext>
                </a:extLst>
              </a:tr>
              <a:tr h="327467">
                <a:tc>
                  <a:txBody>
                    <a:bodyPr/>
                    <a:lstStyle/>
                    <a:p>
                      <a:pPr algn="ctr"/>
                      <a:r>
                        <a:rPr lang="en-US" sz="1600" dirty="0">
                          <a:latin typeface="Times New Roman" panose="02020603050405020304" pitchFamily="18" charset="0"/>
                          <a:cs typeface="Times New Roman" panose="02020603050405020304" pitchFamily="18" charset="0"/>
                        </a:rPr>
                        <a:t>f</a:t>
                      </a:r>
                    </a:p>
                  </a:txBody>
                  <a:tcPr/>
                </a:tc>
                <a:tc>
                  <a:txBody>
                    <a:bodyPr/>
                    <a:lstStyle/>
                    <a:p>
                      <a:pPr algn="ctr"/>
                      <a:r>
                        <a:rPr lang="en-US" sz="1600" dirty="0">
                          <a:latin typeface="Times New Roman" panose="02020603050405020304" pitchFamily="18" charset="0"/>
                          <a:cs typeface="Times New Roman" panose="02020603050405020304" pitchFamily="18" charset="0"/>
                        </a:rPr>
                        <a:t>5</a:t>
                      </a:r>
                    </a:p>
                  </a:txBody>
                  <a:tcPr/>
                </a:tc>
                <a:tc>
                  <a:txBody>
                    <a:bodyPr/>
                    <a:lstStyle/>
                    <a:p>
                      <a:pPr algn="ctr"/>
                      <a:r>
                        <a:rPr lang="en-US" sz="1600" dirty="0">
                          <a:latin typeface="Times New Roman" panose="02020603050405020304" pitchFamily="18" charset="0"/>
                          <a:cs typeface="Times New Roman" panose="02020603050405020304" pitchFamily="18" charset="0"/>
                        </a:rPr>
                        <a:t>s</a:t>
                      </a:r>
                    </a:p>
                  </a:txBody>
                  <a:tcPr/>
                </a:tc>
                <a:tc>
                  <a:txBody>
                    <a:bodyPr/>
                    <a:lstStyle/>
                    <a:p>
                      <a:pPr algn="ctr"/>
                      <a:r>
                        <a:rPr lang="en-US" sz="1600" dirty="0">
                          <a:latin typeface="Times New Roman" panose="02020603050405020304" pitchFamily="18" charset="0"/>
                          <a:cs typeface="Times New Roman" panose="02020603050405020304" pitchFamily="18" charset="0"/>
                        </a:rPr>
                        <a:t>18</a:t>
                      </a:r>
                    </a:p>
                  </a:txBody>
                  <a:tcPr/>
                </a:tc>
                <a:extLst>
                  <a:ext uri="{0D108BD9-81ED-4DB2-BD59-A6C34878D82A}">
                    <a16:rowId xmlns:a16="http://schemas.microsoft.com/office/drawing/2014/main" val="240497162"/>
                  </a:ext>
                </a:extLst>
              </a:tr>
              <a:tr h="327467">
                <a:tc>
                  <a:txBody>
                    <a:bodyPr/>
                    <a:lstStyle/>
                    <a:p>
                      <a:pPr algn="ctr"/>
                      <a:r>
                        <a:rPr lang="en-US" sz="1600" dirty="0">
                          <a:latin typeface="Times New Roman" panose="02020603050405020304" pitchFamily="18" charset="0"/>
                          <a:cs typeface="Times New Roman" panose="02020603050405020304" pitchFamily="18" charset="0"/>
                        </a:rPr>
                        <a:t>g</a:t>
                      </a:r>
                    </a:p>
                  </a:txBody>
                  <a:tcPr/>
                </a:tc>
                <a:tc>
                  <a:txBody>
                    <a:bodyPr/>
                    <a:lstStyle/>
                    <a:p>
                      <a:pPr algn="ctr"/>
                      <a:r>
                        <a:rPr lang="en-US" sz="1600" dirty="0">
                          <a:latin typeface="Times New Roman" panose="02020603050405020304" pitchFamily="18" charset="0"/>
                          <a:cs typeface="Times New Roman" panose="02020603050405020304" pitchFamily="18" charset="0"/>
                        </a:rPr>
                        <a:t>6</a:t>
                      </a:r>
                    </a:p>
                  </a:txBody>
                  <a:tcPr/>
                </a:tc>
                <a:tc>
                  <a:txBody>
                    <a:bodyPr/>
                    <a:lstStyle/>
                    <a:p>
                      <a:pPr algn="ctr"/>
                      <a:r>
                        <a:rPr lang="en-US" sz="1600" dirty="0">
                          <a:latin typeface="Times New Roman" panose="02020603050405020304" pitchFamily="18" charset="0"/>
                          <a:cs typeface="Times New Roman" panose="02020603050405020304" pitchFamily="18" charset="0"/>
                        </a:rPr>
                        <a:t>t</a:t>
                      </a:r>
                    </a:p>
                  </a:txBody>
                  <a:tcPr/>
                </a:tc>
                <a:tc>
                  <a:txBody>
                    <a:bodyPr/>
                    <a:lstStyle/>
                    <a:p>
                      <a:pPr algn="ctr"/>
                      <a:r>
                        <a:rPr lang="en-US" sz="1600" dirty="0">
                          <a:latin typeface="Times New Roman" panose="02020603050405020304" pitchFamily="18" charset="0"/>
                          <a:cs typeface="Times New Roman" panose="02020603050405020304" pitchFamily="18" charset="0"/>
                        </a:rPr>
                        <a:t>19</a:t>
                      </a:r>
                    </a:p>
                  </a:txBody>
                  <a:tcPr/>
                </a:tc>
                <a:extLst>
                  <a:ext uri="{0D108BD9-81ED-4DB2-BD59-A6C34878D82A}">
                    <a16:rowId xmlns:a16="http://schemas.microsoft.com/office/drawing/2014/main" val="2286249044"/>
                  </a:ext>
                </a:extLst>
              </a:tr>
              <a:tr h="327467">
                <a:tc>
                  <a:txBody>
                    <a:bodyPr/>
                    <a:lstStyle/>
                    <a:p>
                      <a:pPr algn="ctr"/>
                      <a:r>
                        <a:rPr lang="en-US" sz="1600" dirty="0">
                          <a:latin typeface="Times New Roman" panose="02020603050405020304" pitchFamily="18" charset="0"/>
                          <a:cs typeface="Times New Roman" panose="02020603050405020304" pitchFamily="18" charset="0"/>
                        </a:rPr>
                        <a:t>h</a:t>
                      </a:r>
                    </a:p>
                  </a:txBody>
                  <a:tcPr/>
                </a:tc>
                <a:tc>
                  <a:txBody>
                    <a:bodyPr/>
                    <a:lstStyle/>
                    <a:p>
                      <a:pPr algn="ctr"/>
                      <a:r>
                        <a:rPr lang="en-US" sz="1600" dirty="0">
                          <a:latin typeface="Times New Roman" panose="02020603050405020304" pitchFamily="18" charset="0"/>
                          <a:cs typeface="Times New Roman" panose="02020603050405020304" pitchFamily="18" charset="0"/>
                        </a:rPr>
                        <a:t>7</a:t>
                      </a:r>
                    </a:p>
                  </a:txBody>
                  <a:tcPr/>
                </a:tc>
                <a:tc>
                  <a:txBody>
                    <a:bodyPr/>
                    <a:lstStyle/>
                    <a:p>
                      <a:pPr algn="ctr"/>
                      <a:r>
                        <a:rPr lang="en-US" sz="1600" dirty="0">
                          <a:latin typeface="Times New Roman" panose="02020603050405020304" pitchFamily="18" charset="0"/>
                          <a:cs typeface="Times New Roman" panose="02020603050405020304" pitchFamily="18" charset="0"/>
                        </a:rPr>
                        <a:t>u</a:t>
                      </a:r>
                    </a:p>
                  </a:txBody>
                  <a:tcPr/>
                </a:tc>
                <a:tc>
                  <a:txBody>
                    <a:bodyPr/>
                    <a:lstStyle/>
                    <a:p>
                      <a:pPr algn="ctr"/>
                      <a:r>
                        <a:rPr lang="en-US" sz="1600" dirty="0">
                          <a:latin typeface="Times New Roman" panose="02020603050405020304" pitchFamily="18" charset="0"/>
                          <a:cs typeface="Times New Roman" panose="02020603050405020304" pitchFamily="18" charset="0"/>
                        </a:rPr>
                        <a:t>20</a:t>
                      </a:r>
                    </a:p>
                  </a:txBody>
                  <a:tcPr/>
                </a:tc>
                <a:extLst>
                  <a:ext uri="{0D108BD9-81ED-4DB2-BD59-A6C34878D82A}">
                    <a16:rowId xmlns:a16="http://schemas.microsoft.com/office/drawing/2014/main" val="3237945243"/>
                  </a:ext>
                </a:extLst>
              </a:tr>
              <a:tr h="327467">
                <a:tc>
                  <a:txBody>
                    <a:bodyPr/>
                    <a:lstStyle/>
                    <a:p>
                      <a:pPr algn="ctr"/>
                      <a:r>
                        <a:rPr lang="en-US" sz="1600" dirty="0" err="1">
                          <a:latin typeface="Times New Roman" panose="02020603050405020304" pitchFamily="18" charset="0"/>
                          <a:cs typeface="Times New Roman" panose="02020603050405020304" pitchFamily="18" charset="0"/>
                        </a:rPr>
                        <a:t>i</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8</a:t>
                      </a:r>
                    </a:p>
                  </a:txBody>
                  <a:tcPr/>
                </a:tc>
                <a:tc>
                  <a:txBody>
                    <a:bodyPr/>
                    <a:lstStyle/>
                    <a:p>
                      <a:pPr algn="ctr"/>
                      <a:r>
                        <a:rPr lang="en-US" sz="1600" dirty="0">
                          <a:latin typeface="Times New Roman" panose="02020603050405020304" pitchFamily="18" charset="0"/>
                          <a:cs typeface="Times New Roman" panose="02020603050405020304" pitchFamily="18" charset="0"/>
                        </a:rPr>
                        <a:t>v</a:t>
                      </a:r>
                    </a:p>
                  </a:txBody>
                  <a:tcPr/>
                </a:tc>
                <a:tc>
                  <a:txBody>
                    <a:bodyPr/>
                    <a:lstStyle/>
                    <a:p>
                      <a:pPr algn="ctr"/>
                      <a:r>
                        <a:rPr lang="en-US" sz="1600" dirty="0">
                          <a:latin typeface="Times New Roman" panose="02020603050405020304" pitchFamily="18" charset="0"/>
                          <a:cs typeface="Times New Roman" panose="02020603050405020304" pitchFamily="18" charset="0"/>
                        </a:rPr>
                        <a:t>21</a:t>
                      </a:r>
                    </a:p>
                  </a:txBody>
                  <a:tcPr/>
                </a:tc>
                <a:extLst>
                  <a:ext uri="{0D108BD9-81ED-4DB2-BD59-A6C34878D82A}">
                    <a16:rowId xmlns:a16="http://schemas.microsoft.com/office/drawing/2014/main" val="922991379"/>
                  </a:ext>
                </a:extLst>
              </a:tr>
              <a:tr h="327467">
                <a:tc>
                  <a:txBody>
                    <a:bodyPr/>
                    <a:lstStyle/>
                    <a:p>
                      <a:pPr algn="ctr"/>
                      <a:r>
                        <a:rPr lang="en-US" sz="1600" dirty="0">
                          <a:latin typeface="Times New Roman" panose="02020603050405020304" pitchFamily="18" charset="0"/>
                          <a:cs typeface="Times New Roman" panose="02020603050405020304" pitchFamily="18" charset="0"/>
                        </a:rPr>
                        <a:t>j</a:t>
                      </a:r>
                    </a:p>
                  </a:txBody>
                  <a:tcPr/>
                </a:tc>
                <a:tc>
                  <a:txBody>
                    <a:bodyPr/>
                    <a:lstStyle/>
                    <a:p>
                      <a:pPr algn="ctr"/>
                      <a:r>
                        <a:rPr lang="en-US" sz="1600" dirty="0">
                          <a:latin typeface="Times New Roman" panose="02020603050405020304" pitchFamily="18" charset="0"/>
                          <a:cs typeface="Times New Roman" panose="02020603050405020304" pitchFamily="18" charset="0"/>
                        </a:rPr>
                        <a:t>9</a:t>
                      </a:r>
                    </a:p>
                  </a:txBody>
                  <a:tcPr/>
                </a:tc>
                <a:tc>
                  <a:txBody>
                    <a:bodyPr/>
                    <a:lstStyle/>
                    <a:p>
                      <a:pPr algn="ctr"/>
                      <a:r>
                        <a:rPr lang="en-US" sz="1600" dirty="0">
                          <a:latin typeface="Times New Roman" panose="02020603050405020304" pitchFamily="18" charset="0"/>
                          <a:cs typeface="Times New Roman" panose="02020603050405020304" pitchFamily="18" charset="0"/>
                        </a:rPr>
                        <a:t>w</a:t>
                      </a:r>
                    </a:p>
                  </a:txBody>
                  <a:tcPr/>
                </a:tc>
                <a:tc>
                  <a:txBody>
                    <a:bodyPr/>
                    <a:lstStyle/>
                    <a:p>
                      <a:pPr algn="ctr"/>
                      <a:r>
                        <a:rPr lang="en-US" sz="1600" dirty="0">
                          <a:latin typeface="Times New Roman" panose="02020603050405020304" pitchFamily="18" charset="0"/>
                          <a:cs typeface="Times New Roman" panose="02020603050405020304" pitchFamily="18" charset="0"/>
                        </a:rPr>
                        <a:t>22</a:t>
                      </a:r>
                    </a:p>
                  </a:txBody>
                  <a:tcPr/>
                </a:tc>
                <a:extLst>
                  <a:ext uri="{0D108BD9-81ED-4DB2-BD59-A6C34878D82A}">
                    <a16:rowId xmlns:a16="http://schemas.microsoft.com/office/drawing/2014/main" val="981607392"/>
                  </a:ext>
                </a:extLst>
              </a:tr>
              <a:tr h="327467">
                <a:tc>
                  <a:txBody>
                    <a:bodyPr/>
                    <a:lstStyle/>
                    <a:p>
                      <a:pPr algn="ctr"/>
                      <a:r>
                        <a:rPr lang="en-US" sz="1600" dirty="0">
                          <a:latin typeface="Times New Roman" panose="02020603050405020304" pitchFamily="18" charset="0"/>
                          <a:cs typeface="Times New Roman" panose="02020603050405020304" pitchFamily="18" charset="0"/>
                        </a:rPr>
                        <a:t>k</a:t>
                      </a:r>
                    </a:p>
                  </a:txBody>
                  <a:tcPr/>
                </a:tc>
                <a:tc>
                  <a:txBody>
                    <a:bodyPr/>
                    <a:lstStyle/>
                    <a:p>
                      <a:pPr algn="ctr"/>
                      <a:r>
                        <a:rPr lang="en-US" sz="1600" dirty="0">
                          <a:latin typeface="Times New Roman" panose="02020603050405020304" pitchFamily="18" charset="0"/>
                          <a:cs typeface="Times New Roman" panose="02020603050405020304" pitchFamily="18" charset="0"/>
                        </a:rPr>
                        <a:t>10</a:t>
                      </a:r>
                    </a:p>
                  </a:txBody>
                  <a:tcPr/>
                </a:tc>
                <a:tc>
                  <a:txBody>
                    <a:bodyPr/>
                    <a:lstStyle/>
                    <a:p>
                      <a:pPr algn="ctr"/>
                      <a:r>
                        <a:rPr lang="en-US" sz="1600" dirty="0">
                          <a:latin typeface="Times New Roman" panose="02020603050405020304" pitchFamily="18" charset="0"/>
                          <a:cs typeface="Times New Roman" panose="02020603050405020304" pitchFamily="18" charset="0"/>
                        </a:rPr>
                        <a:t>x</a:t>
                      </a:r>
                    </a:p>
                  </a:txBody>
                  <a:tcPr/>
                </a:tc>
                <a:tc>
                  <a:txBody>
                    <a:bodyPr/>
                    <a:lstStyle/>
                    <a:p>
                      <a:pPr algn="ctr"/>
                      <a:r>
                        <a:rPr lang="en-US" sz="1600" dirty="0">
                          <a:latin typeface="Times New Roman" panose="02020603050405020304" pitchFamily="18" charset="0"/>
                          <a:cs typeface="Times New Roman" panose="02020603050405020304" pitchFamily="18" charset="0"/>
                        </a:rPr>
                        <a:t>23</a:t>
                      </a:r>
                    </a:p>
                  </a:txBody>
                  <a:tcPr/>
                </a:tc>
                <a:extLst>
                  <a:ext uri="{0D108BD9-81ED-4DB2-BD59-A6C34878D82A}">
                    <a16:rowId xmlns:a16="http://schemas.microsoft.com/office/drawing/2014/main" val="2948367735"/>
                  </a:ext>
                </a:extLst>
              </a:tr>
              <a:tr h="327467">
                <a:tc>
                  <a:txBody>
                    <a:bodyPr/>
                    <a:lstStyle/>
                    <a:p>
                      <a:pPr algn="ctr"/>
                      <a:r>
                        <a:rPr lang="en-US" sz="1600" dirty="0">
                          <a:latin typeface="Times New Roman" panose="02020603050405020304" pitchFamily="18" charset="0"/>
                          <a:cs typeface="Times New Roman" panose="02020603050405020304" pitchFamily="18" charset="0"/>
                        </a:rPr>
                        <a:t>l</a:t>
                      </a:r>
                    </a:p>
                  </a:txBody>
                  <a:tcPr/>
                </a:tc>
                <a:tc>
                  <a:txBody>
                    <a:bodyPr/>
                    <a:lstStyle/>
                    <a:p>
                      <a:pPr algn="ctr"/>
                      <a:r>
                        <a:rPr lang="en-US" sz="1600" dirty="0">
                          <a:latin typeface="Times New Roman" panose="02020603050405020304" pitchFamily="18" charset="0"/>
                          <a:cs typeface="Times New Roman" panose="02020603050405020304" pitchFamily="18" charset="0"/>
                        </a:rPr>
                        <a:t>11</a:t>
                      </a:r>
                    </a:p>
                  </a:txBody>
                  <a:tcPr/>
                </a:tc>
                <a:tc>
                  <a:txBody>
                    <a:bodyPr/>
                    <a:lstStyle/>
                    <a:p>
                      <a:pPr algn="ctr"/>
                      <a:r>
                        <a:rPr lang="en-US" sz="1600" dirty="0">
                          <a:latin typeface="Times New Roman" panose="02020603050405020304" pitchFamily="18" charset="0"/>
                          <a:cs typeface="Times New Roman" panose="02020603050405020304" pitchFamily="18" charset="0"/>
                        </a:rPr>
                        <a:t>y</a:t>
                      </a:r>
                    </a:p>
                  </a:txBody>
                  <a:tcPr/>
                </a:tc>
                <a:tc>
                  <a:txBody>
                    <a:bodyPr/>
                    <a:lstStyle/>
                    <a:p>
                      <a:pPr algn="ctr"/>
                      <a:r>
                        <a:rPr lang="en-US" sz="1600" dirty="0">
                          <a:latin typeface="Times New Roman" panose="02020603050405020304" pitchFamily="18" charset="0"/>
                          <a:cs typeface="Times New Roman" panose="02020603050405020304" pitchFamily="18" charset="0"/>
                        </a:rPr>
                        <a:t>24</a:t>
                      </a:r>
                    </a:p>
                  </a:txBody>
                  <a:tcPr/>
                </a:tc>
                <a:extLst>
                  <a:ext uri="{0D108BD9-81ED-4DB2-BD59-A6C34878D82A}">
                    <a16:rowId xmlns:a16="http://schemas.microsoft.com/office/drawing/2014/main" val="1358328924"/>
                  </a:ext>
                </a:extLst>
              </a:tr>
              <a:tr h="327467">
                <a:tc>
                  <a:txBody>
                    <a:bodyPr/>
                    <a:lstStyle/>
                    <a:p>
                      <a:pPr algn="ctr"/>
                      <a:r>
                        <a:rPr lang="en-US" sz="1600" dirty="0">
                          <a:latin typeface="Times New Roman" panose="02020603050405020304" pitchFamily="18" charset="0"/>
                          <a:cs typeface="Times New Roman" panose="02020603050405020304" pitchFamily="18" charset="0"/>
                        </a:rPr>
                        <a:t>m</a:t>
                      </a:r>
                    </a:p>
                  </a:txBody>
                  <a:tcPr/>
                </a:tc>
                <a:tc>
                  <a:txBody>
                    <a:bodyPr/>
                    <a:lstStyle/>
                    <a:p>
                      <a:pPr algn="ctr"/>
                      <a:r>
                        <a:rPr lang="en-US" sz="1600" dirty="0">
                          <a:latin typeface="Times New Roman" panose="02020603050405020304" pitchFamily="18" charset="0"/>
                          <a:cs typeface="Times New Roman" panose="02020603050405020304" pitchFamily="18" charset="0"/>
                        </a:rPr>
                        <a:t>12</a:t>
                      </a:r>
                    </a:p>
                  </a:txBody>
                  <a:tcPr/>
                </a:tc>
                <a:tc>
                  <a:txBody>
                    <a:bodyPr/>
                    <a:lstStyle/>
                    <a:p>
                      <a:pPr algn="ctr"/>
                      <a:r>
                        <a:rPr lang="en-US" sz="1600" dirty="0">
                          <a:latin typeface="Times New Roman" panose="02020603050405020304" pitchFamily="18" charset="0"/>
                          <a:cs typeface="Times New Roman" panose="02020603050405020304" pitchFamily="18" charset="0"/>
                        </a:rPr>
                        <a:t>z</a:t>
                      </a:r>
                    </a:p>
                  </a:txBody>
                  <a:tcPr/>
                </a:tc>
                <a:tc>
                  <a:txBody>
                    <a:bodyPr/>
                    <a:lstStyle/>
                    <a:p>
                      <a:pPr algn="ctr"/>
                      <a:r>
                        <a:rPr lang="en-US" sz="1600" dirty="0">
                          <a:latin typeface="Times New Roman" panose="02020603050405020304" pitchFamily="18" charset="0"/>
                          <a:cs typeface="Times New Roman" panose="02020603050405020304" pitchFamily="18" charset="0"/>
                        </a:rPr>
                        <a:t>25</a:t>
                      </a:r>
                    </a:p>
                  </a:txBody>
                  <a:tcPr/>
                </a:tc>
                <a:extLst>
                  <a:ext uri="{0D108BD9-81ED-4DB2-BD59-A6C34878D82A}">
                    <a16:rowId xmlns:a16="http://schemas.microsoft.com/office/drawing/2014/main" val="759251545"/>
                  </a:ext>
                </a:extLst>
              </a:tr>
            </a:tbl>
          </a:graphicData>
        </a:graphic>
      </p:graphicFrame>
    </p:spTree>
    <p:extLst>
      <p:ext uri="{BB962C8B-B14F-4D97-AF65-F5344CB8AC3E}">
        <p14:creationId xmlns:p14="http://schemas.microsoft.com/office/powerpoint/2010/main" val="141699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CEAE-996B-40A4-78E7-CD22045F0E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39A283-48FD-D6EA-02D0-E06C4C65F3FE}"/>
              </a:ext>
            </a:extLst>
          </p:cNvPr>
          <p:cNvSpPr>
            <a:spLocks noGrp="1"/>
          </p:cNvSpPr>
          <p:nvPr>
            <p:ph idx="1"/>
          </p:nvPr>
        </p:nvSpPr>
        <p:spPr>
          <a:xfrm>
            <a:off x="838200" y="555171"/>
            <a:ext cx="10515600" cy="5621792"/>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285750" indent="0" algn="ctr">
              <a:lnSpc>
                <a:spcPct val="200000"/>
              </a:lnSpc>
              <a:buNone/>
            </a:pPr>
            <a:r>
              <a:rPr lang="en-US" sz="6000" dirty="0">
                <a:latin typeface="Times New Roman" panose="02020603050405020304" pitchFamily="18" charset="0"/>
                <a:cs typeface="Times New Roman" panose="02020603050405020304" pitchFamily="18" charset="0"/>
              </a:rPr>
              <a:t>SUBSTITUTION CIPHERS</a:t>
            </a:r>
          </a:p>
        </p:txBody>
      </p:sp>
    </p:spTree>
    <p:extLst>
      <p:ext uri="{BB962C8B-B14F-4D97-AF65-F5344CB8AC3E}">
        <p14:creationId xmlns:p14="http://schemas.microsoft.com/office/powerpoint/2010/main" val="3696816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Additive Cipher</a:t>
            </a:r>
          </a:p>
        </p:txBody>
      </p:sp>
    </p:spTree>
    <p:extLst>
      <p:ext uri="{BB962C8B-B14F-4D97-AF65-F5344CB8AC3E}">
        <p14:creationId xmlns:p14="http://schemas.microsoft.com/office/powerpoint/2010/main" val="4042996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E253DC-1FC0-970A-EBA7-EA644F8A3907}"/>
              </a:ext>
            </a:extLst>
          </p:cNvPr>
          <p:cNvSpPr>
            <a:spLocks noGrp="1"/>
          </p:cNvSpPr>
          <p:nvPr>
            <p:ph type="title"/>
          </p:nvPr>
        </p:nvSpPr>
        <p:spPr>
          <a:xfrm>
            <a:off x="630936" y="640823"/>
            <a:ext cx="3419856" cy="5583148"/>
          </a:xfrm>
        </p:spPr>
        <p:txBody>
          <a:bodyPr anchor="ctr">
            <a:normAutofit/>
          </a:bodyPr>
          <a:lstStyle/>
          <a:p>
            <a:r>
              <a:rPr lang="en-US" sz="5400">
                <a:latin typeface="Times New Roman" panose="02020603050405020304" pitchFamily="18" charset="0"/>
                <a:cs typeface="Times New Roman" panose="02020603050405020304" pitchFamily="18" charset="0"/>
              </a:rPr>
              <a:t>Additive Cipher</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key system&#10;&#10;Description automatically generated">
            <a:extLst>
              <a:ext uri="{FF2B5EF4-FFF2-40B4-BE49-F238E27FC236}">
                <a16:creationId xmlns:a16="http://schemas.microsoft.com/office/drawing/2014/main" id="{4F5651B4-34B6-3EB1-0117-3914DF0AF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630936"/>
            <a:ext cx="6894576" cy="3068566"/>
          </a:xfrm>
          <a:prstGeom prst="rect">
            <a:avLst/>
          </a:prstGeom>
        </p:spPr>
      </p:pic>
      <p:sp>
        <p:nvSpPr>
          <p:cNvPr id="3" name="Content Placeholder 2">
            <a:extLst>
              <a:ext uri="{FF2B5EF4-FFF2-40B4-BE49-F238E27FC236}">
                <a16:creationId xmlns:a16="http://schemas.microsoft.com/office/drawing/2014/main" id="{62E8F1C5-4056-BF5A-CA11-EE09C2B533B4}"/>
              </a:ext>
            </a:extLst>
          </p:cNvPr>
          <p:cNvSpPr>
            <a:spLocks noGrp="1"/>
          </p:cNvSpPr>
          <p:nvPr>
            <p:ph idx="1"/>
          </p:nvPr>
        </p:nvSpPr>
        <p:spPr>
          <a:xfrm>
            <a:off x="4654296" y="4798577"/>
            <a:ext cx="6894576" cy="1428487"/>
          </a:xfrm>
        </p:spPr>
        <p:txBody>
          <a:bodyPr anchor="t">
            <a:normAutofit/>
          </a:bodyPr>
          <a:lstStyle/>
          <a:p>
            <a:r>
              <a:rPr lang="en-US" sz="2200" dirty="0">
                <a:latin typeface="Times New Roman" panose="02020603050405020304" pitchFamily="18" charset="0"/>
                <a:cs typeface="Times New Roman" panose="02020603050405020304" pitchFamily="18" charset="0"/>
              </a:rPr>
              <a:t>Also called as Shift cipher.</a:t>
            </a:r>
          </a:p>
          <a:p>
            <a:r>
              <a:rPr lang="en-US" sz="2200" dirty="0">
                <a:latin typeface="Times New Roman" panose="02020603050405020304" pitchFamily="18" charset="0"/>
                <a:cs typeface="Times New Roman" panose="02020603050405020304" pitchFamily="18" charset="0"/>
              </a:rPr>
              <a:t>Here the key, PT and CT are in Z</a:t>
            </a:r>
            <a:r>
              <a:rPr lang="en-US" sz="2200" baseline="-25000" dirty="0">
                <a:latin typeface="Times New Roman" panose="02020603050405020304" pitchFamily="18" charset="0"/>
                <a:cs typeface="Times New Roman" panose="02020603050405020304" pitchFamily="18" charset="0"/>
              </a:rPr>
              <a:t>26</a:t>
            </a:r>
            <a:r>
              <a:rPr lang="en-US" sz="2200" dirty="0">
                <a:latin typeface="Times New Roman" panose="02020603050405020304" pitchFamily="18" charset="0"/>
                <a:cs typeface="Times New Roman" panose="02020603050405020304" pitchFamily="18" charset="0"/>
              </a:rPr>
              <a:t>. </a:t>
            </a:r>
          </a:p>
          <a:p>
            <a:pPr marL="0" indent="0">
              <a:buNone/>
            </a:pP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72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1251E2AA-C9F4-ECA8-CAAA-0836BE506001}"/>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kern="1200" dirty="0">
                <a:solidFill>
                  <a:schemeClr val="tx1"/>
                </a:solidFill>
                <a:latin typeface="Times New Roman" panose="02020603050405020304" pitchFamily="18" charset="0"/>
                <a:ea typeface="+mn-ea"/>
                <a:cs typeface="Times New Roman" panose="02020603050405020304" pitchFamily="18" charset="0"/>
              </a:rPr>
              <a:t>Encrypt the message “</a:t>
            </a:r>
            <a:r>
              <a:rPr lang="en-US" sz="2400" b="1" kern="1200" dirty="0" err="1">
                <a:solidFill>
                  <a:schemeClr val="tx1"/>
                </a:solidFill>
                <a:latin typeface="Times New Roman" panose="02020603050405020304" pitchFamily="18" charset="0"/>
                <a:ea typeface="+mn-ea"/>
                <a:cs typeface="Times New Roman" panose="02020603050405020304" pitchFamily="18" charset="0"/>
              </a:rPr>
              <a:t>manipal</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13, and additive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472100C-DD7E-8392-1EB1-C3563D65F9A3}"/>
              </a:ext>
            </a:extLst>
          </p:cNvPr>
          <p:cNvGraphicFramePr>
            <a:graphicFrameLocks noGrp="1"/>
          </p:cNvGraphicFramePr>
          <p:nvPr>
            <p:extLst>
              <p:ext uri="{D42A27DB-BD31-4B8C-83A1-F6EECF244321}">
                <p14:modId xmlns:p14="http://schemas.microsoft.com/office/powerpoint/2010/main" val="1119422235"/>
              </p:ext>
            </p:extLst>
          </p:nvPr>
        </p:nvGraphicFramePr>
        <p:xfrm>
          <a:off x="2789673" y="3886630"/>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29660367-F13E-36E0-C2AC-D65A4FDA0D26}"/>
              </a:ext>
            </a:extLst>
          </p:cNvPr>
          <p:cNvGraphicFramePr>
            <a:graphicFrameLocks noGrp="1"/>
          </p:cNvGraphicFramePr>
          <p:nvPr>
            <p:extLst>
              <p:ext uri="{D42A27DB-BD31-4B8C-83A1-F6EECF244321}">
                <p14:modId xmlns:p14="http://schemas.microsoft.com/office/powerpoint/2010/main" val="4279891602"/>
              </p:ext>
            </p:extLst>
          </p:nvPr>
        </p:nvGraphicFramePr>
        <p:xfrm>
          <a:off x="2789673" y="4766384"/>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5C5BFDD1-14EE-25B3-4135-E139BCA6D5C3}"/>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kern="1200" dirty="0">
                <a:solidFill>
                  <a:srgbClr val="B30000"/>
                </a:solidFill>
                <a:latin typeface="Times New Roman" panose="02020603050405020304" pitchFamily="18" charset="0"/>
                <a:cs typeface="Times New Roman" panose="02020603050405020304" pitchFamily="18" charset="0"/>
              </a:rPr>
              <a:t>c = (</a:t>
            </a:r>
            <a:r>
              <a:rPr lang="en-US" sz="2000" kern="1200" dirty="0" err="1">
                <a:solidFill>
                  <a:srgbClr val="B30000"/>
                </a:solidFill>
                <a:latin typeface="Times New Roman" panose="02020603050405020304" pitchFamily="18" charset="0"/>
                <a:cs typeface="Times New Roman" panose="02020603050405020304" pitchFamily="18" charset="0"/>
              </a:rPr>
              <a:t>p+k</a:t>
            </a:r>
            <a:r>
              <a:rPr lang="en-US" sz="2000" kern="1200" dirty="0">
                <a:solidFill>
                  <a:srgbClr val="B30000"/>
                </a:solidFill>
                <a:latin typeface="Times New Roman" panose="02020603050405020304" pitchFamily="18" charset="0"/>
                <a:cs typeface="Times New Roman" panose="02020603050405020304" pitchFamily="18" charset="0"/>
              </a:rPr>
              <a:t>) mod 26 = (p+13)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1B3080C-4622-4D5D-2BC3-29D746085909}"/>
              </a:ext>
            </a:extLst>
          </p:cNvPr>
          <p:cNvCxnSpPr>
            <a:cxnSpLocks/>
            <a:stCxn id="4" idx="2"/>
            <a:endCxn id="5" idx="0"/>
          </p:cNvCxnSpPr>
          <p:nvPr/>
        </p:nvCxnSpPr>
        <p:spPr>
          <a:xfrm>
            <a:off x="6853673"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7D6C1D8-D6BF-1F08-05AB-F854286D116F}"/>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3A6CF9B-7F2E-7E2B-9DF5-14BE1A46E12F}"/>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122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7E2A1002-CC0C-7A65-E60C-6539372E0775}"/>
              </a:ext>
            </a:extLst>
          </p:cNvPr>
          <p:cNvGraphicFramePr>
            <a:graphicFrameLocks/>
          </p:cNvGraphicFramePr>
          <p:nvPr>
            <p:extLst>
              <p:ext uri="{D42A27DB-BD31-4B8C-83A1-F6EECF244321}">
                <p14:modId xmlns:p14="http://schemas.microsoft.com/office/powerpoint/2010/main" val="3969441507"/>
              </p:ext>
            </p:extLst>
          </p:nvPr>
        </p:nvGraphicFramePr>
        <p:xfrm>
          <a:off x="644063" y="2770284"/>
          <a:ext cx="10515596" cy="396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56479667"/>
                    </a:ext>
                  </a:extLst>
                </a:gridCol>
                <a:gridCol w="1502228">
                  <a:extLst>
                    <a:ext uri="{9D8B030D-6E8A-4147-A177-3AD203B41FA5}">
                      <a16:colId xmlns:a16="http://schemas.microsoft.com/office/drawing/2014/main" val="1492750462"/>
                    </a:ext>
                  </a:extLst>
                </a:gridCol>
                <a:gridCol w="1502228">
                  <a:extLst>
                    <a:ext uri="{9D8B030D-6E8A-4147-A177-3AD203B41FA5}">
                      <a16:colId xmlns:a16="http://schemas.microsoft.com/office/drawing/2014/main" val="1090095785"/>
                    </a:ext>
                  </a:extLst>
                </a:gridCol>
                <a:gridCol w="1502228">
                  <a:extLst>
                    <a:ext uri="{9D8B030D-6E8A-4147-A177-3AD203B41FA5}">
                      <a16:colId xmlns:a16="http://schemas.microsoft.com/office/drawing/2014/main" val="2489026204"/>
                    </a:ext>
                  </a:extLst>
                </a:gridCol>
                <a:gridCol w="1502228">
                  <a:extLst>
                    <a:ext uri="{9D8B030D-6E8A-4147-A177-3AD203B41FA5}">
                      <a16:colId xmlns:a16="http://schemas.microsoft.com/office/drawing/2014/main" val="2286868626"/>
                    </a:ext>
                  </a:extLst>
                </a:gridCol>
                <a:gridCol w="1502228">
                  <a:extLst>
                    <a:ext uri="{9D8B030D-6E8A-4147-A177-3AD203B41FA5}">
                      <a16:colId xmlns:a16="http://schemas.microsoft.com/office/drawing/2014/main" val="3567624916"/>
                    </a:ext>
                  </a:extLst>
                </a:gridCol>
                <a:gridCol w="1502228">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7DC85679-7DB0-074A-EDAC-F4D790274C3B}"/>
              </a:ext>
            </a:extLst>
          </p:cNvPr>
          <p:cNvGraphicFramePr>
            <a:graphicFrameLocks noGrp="1"/>
          </p:cNvGraphicFramePr>
          <p:nvPr>
            <p:extLst>
              <p:ext uri="{D42A27DB-BD31-4B8C-83A1-F6EECF244321}">
                <p14:modId xmlns:p14="http://schemas.microsoft.com/office/powerpoint/2010/main" val="2845066982"/>
              </p:ext>
            </p:extLst>
          </p:nvPr>
        </p:nvGraphicFramePr>
        <p:xfrm>
          <a:off x="644056" y="3769080"/>
          <a:ext cx="10515603" cy="396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39594564"/>
                    </a:ext>
                  </a:extLst>
                </a:gridCol>
                <a:gridCol w="1502229">
                  <a:extLst>
                    <a:ext uri="{9D8B030D-6E8A-4147-A177-3AD203B41FA5}">
                      <a16:colId xmlns:a16="http://schemas.microsoft.com/office/drawing/2014/main" val="695031733"/>
                    </a:ext>
                  </a:extLst>
                </a:gridCol>
                <a:gridCol w="1502229">
                  <a:extLst>
                    <a:ext uri="{9D8B030D-6E8A-4147-A177-3AD203B41FA5}">
                      <a16:colId xmlns:a16="http://schemas.microsoft.com/office/drawing/2014/main" val="682140076"/>
                    </a:ext>
                  </a:extLst>
                </a:gridCol>
                <a:gridCol w="1502229">
                  <a:extLst>
                    <a:ext uri="{9D8B030D-6E8A-4147-A177-3AD203B41FA5}">
                      <a16:colId xmlns:a16="http://schemas.microsoft.com/office/drawing/2014/main" val="2036262340"/>
                    </a:ext>
                  </a:extLst>
                </a:gridCol>
                <a:gridCol w="1502229">
                  <a:extLst>
                    <a:ext uri="{9D8B030D-6E8A-4147-A177-3AD203B41FA5}">
                      <a16:colId xmlns:a16="http://schemas.microsoft.com/office/drawing/2014/main" val="1694826755"/>
                    </a:ext>
                  </a:extLst>
                </a:gridCol>
                <a:gridCol w="1502229">
                  <a:extLst>
                    <a:ext uri="{9D8B030D-6E8A-4147-A177-3AD203B41FA5}">
                      <a16:colId xmlns:a16="http://schemas.microsoft.com/office/drawing/2014/main" val="277827796"/>
                    </a:ext>
                  </a:extLst>
                </a:gridCol>
                <a:gridCol w="1502229">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BF1FD2B7-DDA8-A152-A152-B401881CB26F}"/>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CB3E202-7DAB-5845-7262-C412C8B70217}"/>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encrypted message is </a:t>
            </a:r>
            <a:r>
              <a:rPr lang="en-US" sz="2884" b="1" kern="1200" dirty="0" err="1">
                <a:solidFill>
                  <a:srgbClr val="B30000"/>
                </a:solidFill>
                <a:latin typeface="Times New Roman" panose="02020603050405020304" pitchFamily="18" charset="0"/>
                <a:ea typeface="+mn-ea"/>
                <a:cs typeface="Times New Roman" panose="02020603050405020304" pitchFamily="18" charset="0"/>
              </a:rPr>
              <a:t>znavcny</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22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1251E2AA-C9F4-ECA8-CAAA-0836BE506001}"/>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dirty="0">
                <a:latin typeface="Times New Roman" panose="02020603050405020304" pitchFamily="18" charset="0"/>
                <a:cs typeface="Times New Roman" panose="02020603050405020304" pitchFamily="18" charset="0"/>
              </a:rPr>
              <a:t>Decrypt</a:t>
            </a:r>
            <a:r>
              <a:rPr lang="en-US" sz="2400" kern="1200" dirty="0">
                <a:solidFill>
                  <a:schemeClr val="tx1"/>
                </a:solidFill>
                <a:latin typeface="Times New Roman" panose="02020603050405020304" pitchFamily="18" charset="0"/>
                <a:ea typeface="+mn-ea"/>
                <a:cs typeface="Times New Roman" panose="02020603050405020304" pitchFamily="18" charset="0"/>
              </a:rPr>
              <a:t> the message “</a:t>
            </a:r>
            <a:r>
              <a:rPr lang="en-US" sz="2400" b="1" dirty="0" err="1">
                <a:latin typeface="Times New Roman" panose="02020603050405020304" pitchFamily="18" charset="0"/>
                <a:cs typeface="Times New Roman" panose="02020603050405020304" pitchFamily="18" charset="0"/>
              </a:rPr>
              <a:t>znavcny</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13, and additive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472100C-DD7E-8392-1EB1-C3563D65F9A3}"/>
              </a:ext>
            </a:extLst>
          </p:cNvPr>
          <p:cNvGraphicFramePr>
            <a:graphicFrameLocks noGrp="1"/>
          </p:cNvGraphicFramePr>
          <p:nvPr>
            <p:extLst>
              <p:ext uri="{D42A27DB-BD31-4B8C-83A1-F6EECF244321}">
                <p14:modId xmlns:p14="http://schemas.microsoft.com/office/powerpoint/2010/main" val="356026376"/>
              </p:ext>
            </p:extLst>
          </p:nvPr>
        </p:nvGraphicFramePr>
        <p:xfrm>
          <a:off x="2789673" y="3886630"/>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29660367-F13E-36E0-C2AC-D65A4FDA0D26}"/>
              </a:ext>
            </a:extLst>
          </p:cNvPr>
          <p:cNvGraphicFramePr>
            <a:graphicFrameLocks noGrp="1"/>
          </p:cNvGraphicFramePr>
          <p:nvPr>
            <p:extLst>
              <p:ext uri="{D42A27DB-BD31-4B8C-83A1-F6EECF244321}">
                <p14:modId xmlns:p14="http://schemas.microsoft.com/office/powerpoint/2010/main" val="4006670441"/>
              </p:ext>
            </p:extLst>
          </p:nvPr>
        </p:nvGraphicFramePr>
        <p:xfrm>
          <a:off x="2789673" y="4766384"/>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5C5BFDD1-14EE-25B3-4135-E139BCA6D5C3}"/>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dirty="0">
                <a:solidFill>
                  <a:srgbClr val="B30000"/>
                </a:solidFill>
                <a:latin typeface="Times New Roman" panose="02020603050405020304" pitchFamily="18" charset="0"/>
                <a:cs typeface="Times New Roman" panose="02020603050405020304" pitchFamily="18" charset="0"/>
              </a:rPr>
              <a:t>d</a:t>
            </a:r>
            <a:r>
              <a:rPr lang="en-US" sz="2000" kern="1200" dirty="0">
                <a:solidFill>
                  <a:srgbClr val="B30000"/>
                </a:solidFill>
                <a:latin typeface="Times New Roman" panose="02020603050405020304" pitchFamily="18" charset="0"/>
                <a:cs typeface="Times New Roman" panose="02020603050405020304" pitchFamily="18" charset="0"/>
              </a:rPr>
              <a:t> = (</a:t>
            </a:r>
            <a:r>
              <a:rPr lang="en-US" sz="2000" dirty="0">
                <a:solidFill>
                  <a:srgbClr val="B30000"/>
                </a:solidFill>
                <a:latin typeface="Times New Roman" panose="02020603050405020304" pitchFamily="18" charset="0"/>
                <a:cs typeface="Times New Roman" panose="02020603050405020304" pitchFamily="18" charset="0"/>
              </a:rPr>
              <a:t>c-k</a:t>
            </a:r>
            <a:r>
              <a:rPr lang="en-US" sz="2000" kern="1200" dirty="0">
                <a:solidFill>
                  <a:srgbClr val="B30000"/>
                </a:solidFill>
                <a:latin typeface="Times New Roman" panose="02020603050405020304" pitchFamily="18" charset="0"/>
                <a:cs typeface="Times New Roman" panose="02020603050405020304" pitchFamily="18" charset="0"/>
              </a:rPr>
              <a:t>) mod 26 = (</a:t>
            </a:r>
            <a:r>
              <a:rPr lang="en-US" sz="2000" dirty="0">
                <a:solidFill>
                  <a:srgbClr val="B30000"/>
                </a:solidFill>
                <a:latin typeface="Times New Roman" panose="02020603050405020304" pitchFamily="18" charset="0"/>
                <a:cs typeface="Times New Roman" panose="02020603050405020304" pitchFamily="18" charset="0"/>
              </a:rPr>
              <a:t>c-13</a:t>
            </a:r>
            <a:r>
              <a:rPr lang="en-US" sz="2000" kern="1200" dirty="0">
                <a:solidFill>
                  <a:srgbClr val="B30000"/>
                </a:solidFill>
                <a:latin typeface="Times New Roman" panose="02020603050405020304" pitchFamily="18" charset="0"/>
                <a:cs typeface="Times New Roman" panose="02020603050405020304" pitchFamily="18" charset="0"/>
              </a:rPr>
              <a:t>)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1B3080C-4622-4D5D-2BC3-29D746085909}"/>
              </a:ext>
            </a:extLst>
          </p:cNvPr>
          <p:cNvCxnSpPr>
            <a:cxnSpLocks/>
            <a:stCxn id="4" idx="2"/>
            <a:endCxn id="5" idx="0"/>
          </p:cNvCxnSpPr>
          <p:nvPr/>
        </p:nvCxnSpPr>
        <p:spPr>
          <a:xfrm>
            <a:off x="6853673"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7D6C1D8-D6BF-1F08-05AB-F854286D116F}"/>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3A6CF9B-7F2E-7E2B-9DF5-14BE1A46E12F}"/>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33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7E2A1002-CC0C-7A65-E60C-6539372E0775}"/>
              </a:ext>
            </a:extLst>
          </p:cNvPr>
          <p:cNvGraphicFramePr>
            <a:graphicFrameLocks/>
          </p:cNvGraphicFramePr>
          <p:nvPr>
            <p:extLst>
              <p:ext uri="{D42A27DB-BD31-4B8C-83A1-F6EECF244321}">
                <p14:modId xmlns:p14="http://schemas.microsoft.com/office/powerpoint/2010/main" val="1117722669"/>
              </p:ext>
            </p:extLst>
          </p:nvPr>
        </p:nvGraphicFramePr>
        <p:xfrm>
          <a:off x="644063" y="2770284"/>
          <a:ext cx="10515596" cy="396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56479667"/>
                    </a:ext>
                  </a:extLst>
                </a:gridCol>
                <a:gridCol w="1502228">
                  <a:extLst>
                    <a:ext uri="{9D8B030D-6E8A-4147-A177-3AD203B41FA5}">
                      <a16:colId xmlns:a16="http://schemas.microsoft.com/office/drawing/2014/main" val="1492750462"/>
                    </a:ext>
                  </a:extLst>
                </a:gridCol>
                <a:gridCol w="1502228">
                  <a:extLst>
                    <a:ext uri="{9D8B030D-6E8A-4147-A177-3AD203B41FA5}">
                      <a16:colId xmlns:a16="http://schemas.microsoft.com/office/drawing/2014/main" val="1090095785"/>
                    </a:ext>
                  </a:extLst>
                </a:gridCol>
                <a:gridCol w="1502228">
                  <a:extLst>
                    <a:ext uri="{9D8B030D-6E8A-4147-A177-3AD203B41FA5}">
                      <a16:colId xmlns:a16="http://schemas.microsoft.com/office/drawing/2014/main" val="2489026204"/>
                    </a:ext>
                  </a:extLst>
                </a:gridCol>
                <a:gridCol w="1502228">
                  <a:extLst>
                    <a:ext uri="{9D8B030D-6E8A-4147-A177-3AD203B41FA5}">
                      <a16:colId xmlns:a16="http://schemas.microsoft.com/office/drawing/2014/main" val="2286868626"/>
                    </a:ext>
                  </a:extLst>
                </a:gridCol>
                <a:gridCol w="1502228">
                  <a:extLst>
                    <a:ext uri="{9D8B030D-6E8A-4147-A177-3AD203B41FA5}">
                      <a16:colId xmlns:a16="http://schemas.microsoft.com/office/drawing/2014/main" val="3567624916"/>
                    </a:ext>
                  </a:extLst>
                </a:gridCol>
                <a:gridCol w="1502228">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7DC85679-7DB0-074A-EDAC-F4D790274C3B}"/>
              </a:ext>
            </a:extLst>
          </p:cNvPr>
          <p:cNvGraphicFramePr>
            <a:graphicFrameLocks noGrp="1"/>
          </p:cNvGraphicFramePr>
          <p:nvPr>
            <p:extLst>
              <p:ext uri="{D42A27DB-BD31-4B8C-83A1-F6EECF244321}">
                <p14:modId xmlns:p14="http://schemas.microsoft.com/office/powerpoint/2010/main" val="1643303943"/>
              </p:ext>
            </p:extLst>
          </p:nvPr>
        </p:nvGraphicFramePr>
        <p:xfrm>
          <a:off x="644056" y="3769080"/>
          <a:ext cx="10515603" cy="396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39594564"/>
                    </a:ext>
                  </a:extLst>
                </a:gridCol>
                <a:gridCol w="1502229">
                  <a:extLst>
                    <a:ext uri="{9D8B030D-6E8A-4147-A177-3AD203B41FA5}">
                      <a16:colId xmlns:a16="http://schemas.microsoft.com/office/drawing/2014/main" val="695031733"/>
                    </a:ext>
                  </a:extLst>
                </a:gridCol>
                <a:gridCol w="1502229">
                  <a:extLst>
                    <a:ext uri="{9D8B030D-6E8A-4147-A177-3AD203B41FA5}">
                      <a16:colId xmlns:a16="http://schemas.microsoft.com/office/drawing/2014/main" val="682140076"/>
                    </a:ext>
                  </a:extLst>
                </a:gridCol>
                <a:gridCol w="1502229">
                  <a:extLst>
                    <a:ext uri="{9D8B030D-6E8A-4147-A177-3AD203B41FA5}">
                      <a16:colId xmlns:a16="http://schemas.microsoft.com/office/drawing/2014/main" val="2036262340"/>
                    </a:ext>
                  </a:extLst>
                </a:gridCol>
                <a:gridCol w="1502229">
                  <a:extLst>
                    <a:ext uri="{9D8B030D-6E8A-4147-A177-3AD203B41FA5}">
                      <a16:colId xmlns:a16="http://schemas.microsoft.com/office/drawing/2014/main" val="1694826755"/>
                    </a:ext>
                  </a:extLst>
                </a:gridCol>
                <a:gridCol w="1502229">
                  <a:extLst>
                    <a:ext uri="{9D8B030D-6E8A-4147-A177-3AD203B41FA5}">
                      <a16:colId xmlns:a16="http://schemas.microsoft.com/office/drawing/2014/main" val="277827796"/>
                    </a:ext>
                  </a:extLst>
                </a:gridCol>
                <a:gridCol w="1502229">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BF1FD2B7-DDA8-A152-A152-B401881CB26F}"/>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CB3E202-7DAB-5845-7262-C412C8B70217}"/>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a:t>
            </a:r>
            <a:r>
              <a:rPr lang="en-US" sz="2884" dirty="0">
                <a:solidFill>
                  <a:srgbClr val="B30000"/>
                </a:solidFill>
                <a:latin typeface="Times New Roman" panose="02020603050405020304" pitchFamily="18" charset="0"/>
                <a:cs typeface="Times New Roman" panose="02020603050405020304" pitchFamily="18" charset="0"/>
              </a:rPr>
              <a:t>decrypted</a:t>
            </a:r>
            <a:r>
              <a:rPr lang="en-US" sz="2884" kern="1200" dirty="0">
                <a:solidFill>
                  <a:srgbClr val="B30000"/>
                </a:solidFill>
                <a:latin typeface="Times New Roman" panose="02020603050405020304" pitchFamily="18" charset="0"/>
                <a:ea typeface="+mn-ea"/>
                <a:cs typeface="Times New Roman" panose="02020603050405020304" pitchFamily="18" charset="0"/>
              </a:rPr>
              <a:t> message is </a:t>
            </a:r>
            <a:r>
              <a:rPr lang="en-US" sz="2884" b="1" dirty="0" err="1">
                <a:solidFill>
                  <a:srgbClr val="B30000"/>
                </a:solidFill>
                <a:latin typeface="Times New Roman" panose="02020603050405020304" pitchFamily="18" charset="0"/>
                <a:cs typeface="Times New Roman" panose="02020603050405020304" pitchFamily="18" charset="0"/>
              </a:rPr>
              <a:t>manipal</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04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1251E2AA-C9F4-ECA8-CAAA-0836BE506001}"/>
              </a:ext>
            </a:extLst>
          </p:cNvPr>
          <p:cNvSpPr>
            <a:spLocks/>
          </p:cNvSpPr>
          <p:nvPr/>
        </p:nvSpPr>
        <p:spPr>
          <a:xfrm>
            <a:off x="968830" y="2112579"/>
            <a:ext cx="10863941" cy="4088186"/>
          </a:xfrm>
          <a:prstGeom prst="rect">
            <a:avLst/>
          </a:prstGeom>
        </p:spPr>
        <p:txBody>
          <a:bodyPr>
            <a:normAutofit/>
          </a:bodyPr>
          <a:lstStyle/>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8B8A057-E851-AC1D-1582-CAD026BAB7D5}"/>
              </a:ext>
            </a:extLst>
          </p:cNvPr>
          <p:cNvSpPr txBox="1"/>
          <p:nvPr/>
        </p:nvSpPr>
        <p:spPr>
          <a:xfrm>
            <a:off x="435429" y="1828800"/>
            <a:ext cx="11484428"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Assume that Additive cipher is used with some special characters with their corresponding numerical equivalents as displayed in the table below. </a:t>
            </a:r>
            <a:r>
              <a:rPr lang="en-US" sz="2400" kern="1200" dirty="0">
                <a:solidFill>
                  <a:schemeClr val="tx1"/>
                </a:solidFill>
                <a:latin typeface="Times New Roman" panose="02020603050405020304" pitchFamily="18" charset="0"/>
                <a:cs typeface="Times New Roman" panose="02020603050405020304" pitchFamily="18" charset="0"/>
              </a:rPr>
              <a:t>Assume that the alphabets which are used are case-insensitive and use the default numerical equivalents. Decrypt the ciphertext </a:t>
            </a:r>
            <a:r>
              <a:rPr lang="en-US" sz="2400" kern="1200" dirty="0">
                <a:latin typeface="Times New Roman" panose="02020603050405020304" pitchFamily="18" charset="0"/>
                <a:cs typeface="Times New Roman" panose="02020603050405020304" pitchFamily="18" charset="0"/>
              </a:rPr>
              <a:t>“</a:t>
            </a:r>
            <a:r>
              <a:rPr lang="en-US" sz="2400" b="1" kern="1200" dirty="0">
                <a:solidFill>
                  <a:srgbClr val="FF0000"/>
                </a:solidFill>
                <a:latin typeface="Times New Roman" panose="02020603050405020304" pitchFamily="18" charset="0"/>
                <a:cs typeface="Times New Roman" panose="02020603050405020304" pitchFamily="18" charset="0"/>
              </a:rPr>
              <a:t>&gt;d@$d&gt;&gt;</a:t>
            </a:r>
            <a:r>
              <a:rPr lang="en-US" sz="2400" b="1" kern="1200" dirty="0" err="1">
                <a:solidFill>
                  <a:srgbClr val="FF0000"/>
                </a:solidFill>
                <a:latin typeface="Times New Roman" panose="02020603050405020304" pitchFamily="18" charset="0"/>
                <a:cs typeface="Times New Roman" panose="02020603050405020304" pitchFamily="18" charset="0"/>
              </a:rPr>
              <a:t>h$d@w</a:t>
            </a:r>
            <a:r>
              <a:rPr lang="en-US" sz="2400" kern="1200" dirty="0">
                <a:solidFill>
                  <a:schemeClr val="tx1"/>
                </a:solidFill>
                <a:latin typeface="Times New Roman" panose="02020603050405020304" pitchFamily="18" charset="0"/>
                <a:cs typeface="Times New Roman" panose="02020603050405020304" pitchFamily="18" charset="0"/>
              </a:rPr>
              <a:t>” using key = 23.</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2C9892A-453E-12B5-24EA-366D52F96499}"/>
              </a:ext>
            </a:extLst>
          </p:cNvPr>
          <p:cNvGraphicFramePr>
            <a:graphicFrameLocks noGrp="1"/>
          </p:cNvGraphicFramePr>
          <p:nvPr>
            <p:extLst>
              <p:ext uri="{D42A27DB-BD31-4B8C-83A1-F6EECF244321}">
                <p14:modId xmlns:p14="http://schemas.microsoft.com/office/powerpoint/2010/main" val="220624744"/>
              </p:ext>
            </p:extLst>
          </p:nvPr>
        </p:nvGraphicFramePr>
        <p:xfrm>
          <a:off x="1803400" y="3562663"/>
          <a:ext cx="8128000" cy="31699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45332400"/>
                    </a:ext>
                  </a:extLst>
                </a:gridCol>
                <a:gridCol w="4064000">
                  <a:extLst>
                    <a:ext uri="{9D8B030D-6E8A-4147-A177-3AD203B41FA5}">
                      <a16:colId xmlns:a16="http://schemas.microsoft.com/office/drawing/2014/main" val="2288206275"/>
                    </a:ext>
                  </a:extLst>
                </a:gridCol>
              </a:tblGrid>
              <a:tr h="370840">
                <a:tc>
                  <a:txBody>
                    <a:bodyPr/>
                    <a:lstStyle/>
                    <a:p>
                      <a:pPr algn="ctr"/>
                      <a:r>
                        <a:rPr lang="en-US" sz="2000" b="1" dirty="0">
                          <a:latin typeface="Times New Roman" panose="02020603050405020304" pitchFamily="18" charset="0"/>
                          <a:cs typeface="Times New Roman" panose="02020603050405020304" pitchFamily="18" charset="0"/>
                        </a:rPr>
                        <a:t>Special Characters</a:t>
                      </a:r>
                    </a:p>
                  </a:txBody>
                  <a:tcPr/>
                </a:tc>
                <a:tc>
                  <a:txBody>
                    <a:bodyPr/>
                    <a:lstStyle/>
                    <a:p>
                      <a:pPr algn="ctr"/>
                      <a:r>
                        <a:rPr lang="en-US" sz="2000" b="1" dirty="0">
                          <a:latin typeface="Times New Roman" panose="02020603050405020304" pitchFamily="18" charset="0"/>
                          <a:cs typeface="Times New Roman" panose="02020603050405020304" pitchFamily="18" charset="0"/>
                        </a:rPr>
                        <a:t>Numerical Equivalents</a:t>
                      </a:r>
                    </a:p>
                  </a:txBody>
                  <a:tcPr/>
                </a:tc>
                <a:extLst>
                  <a:ext uri="{0D108BD9-81ED-4DB2-BD59-A6C34878D82A}">
                    <a16:rowId xmlns:a16="http://schemas.microsoft.com/office/drawing/2014/main" val="3842551978"/>
                  </a:ext>
                </a:extLst>
              </a:tr>
              <a:tr h="370840">
                <a:tc>
                  <a:txBody>
                    <a:bodyPr/>
                    <a:lstStyle/>
                    <a:p>
                      <a:pPr algn="ctr"/>
                      <a:r>
                        <a:rPr lang="en-US" sz="2000" dirty="0">
                          <a:latin typeface="Times New Roman" panose="02020603050405020304" pitchFamily="18" charset="0"/>
                          <a:cs typeface="Times New Roman" panose="02020603050405020304" pitchFamily="18" charset="0"/>
                        </a:rPr>
                        <a:t>?</a:t>
                      </a:r>
                    </a:p>
                  </a:txBody>
                  <a:tcPr/>
                </a:tc>
                <a:tc>
                  <a:txBody>
                    <a:bodyPr/>
                    <a:lstStyle/>
                    <a:p>
                      <a:pPr algn="ctr"/>
                      <a:r>
                        <a:rPr lang="en-US" sz="2000" dirty="0">
                          <a:latin typeface="Times New Roman" panose="02020603050405020304" pitchFamily="18" charset="0"/>
                          <a:cs typeface="Times New Roman" panose="02020603050405020304" pitchFamily="18" charset="0"/>
                        </a:rPr>
                        <a:t>26</a:t>
                      </a:r>
                    </a:p>
                  </a:txBody>
                  <a:tcPr/>
                </a:tc>
                <a:extLst>
                  <a:ext uri="{0D108BD9-81ED-4DB2-BD59-A6C34878D82A}">
                    <a16:rowId xmlns:a16="http://schemas.microsoft.com/office/drawing/2014/main" val="3147084249"/>
                  </a:ext>
                </a:extLst>
              </a:tr>
              <a:tr h="370840">
                <a:tc>
                  <a:txBody>
                    <a:bodyPr/>
                    <a:lstStyle/>
                    <a:p>
                      <a:pPr algn="ctr"/>
                      <a:r>
                        <a:rPr lang="en-US" sz="2000" dirty="0">
                          <a:latin typeface="Times New Roman" panose="02020603050405020304" pitchFamily="18" charset="0"/>
                          <a:cs typeface="Times New Roman" panose="02020603050405020304" pitchFamily="18" charset="0"/>
                        </a:rPr>
                        <a:t>&gt;</a:t>
                      </a:r>
                    </a:p>
                  </a:txBody>
                  <a:tcPr/>
                </a:tc>
                <a:tc>
                  <a:txBody>
                    <a:bodyPr/>
                    <a:lstStyle/>
                    <a:p>
                      <a:pPr algn="ctr"/>
                      <a:r>
                        <a:rPr lang="en-US" sz="2000" dirty="0">
                          <a:latin typeface="Times New Roman" panose="02020603050405020304" pitchFamily="18" charset="0"/>
                          <a:cs typeface="Times New Roman" panose="02020603050405020304" pitchFamily="18" charset="0"/>
                        </a:rPr>
                        <a:t>27</a:t>
                      </a:r>
                    </a:p>
                  </a:txBody>
                  <a:tcPr/>
                </a:tc>
                <a:extLst>
                  <a:ext uri="{0D108BD9-81ED-4DB2-BD59-A6C34878D82A}">
                    <a16:rowId xmlns:a16="http://schemas.microsoft.com/office/drawing/2014/main" val="3497293782"/>
                  </a:ext>
                </a:extLst>
              </a:tr>
              <a:tr h="370840">
                <a:tc>
                  <a:txBody>
                    <a:bodyPr/>
                    <a:lstStyle/>
                    <a:p>
                      <a:pPr algn="ctr"/>
                      <a:r>
                        <a:rPr lang="en-US" sz="2000" dirty="0">
                          <a:latin typeface="Times New Roman" panose="02020603050405020304" pitchFamily="18" charset="0"/>
                          <a:cs typeface="Times New Roman" panose="02020603050405020304" pitchFamily="18" charset="0"/>
                        </a:rPr>
                        <a:t>&lt;</a:t>
                      </a:r>
                    </a:p>
                  </a:txBody>
                  <a:tcPr/>
                </a:tc>
                <a:tc>
                  <a:txBody>
                    <a:bodyPr/>
                    <a:lstStyle/>
                    <a:p>
                      <a:pPr algn="ctr"/>
                      <a:r>
                        <a:rPr lang="en-US" sz="2000" dirty="0">
                          <a:latin typeface="Times New Roman" panose="02020603050405020304" pitchFamily="18" charset="0"/>
                          <a:cs typeface="Times New Roman" panose="02020603050405020304" pitchFamily="18" charset="0"/>
                        </a:rPr>
                        <a:t>28</a:t>
                      </a:r>
                    </a:p>
                  </a:txBody>
                  <a:tcPr/>
                </a:tc>
                <a:extLst>
                  <a:ext uri="{0D108BD9-81ED-4DB2-BD59-A6C34878D82A}">
                    <a16:rowId xmlns:a16="http://schemas.microsoft.com/office/drawing/2014/main" val="1298259995"/>
                  </a:ext>
                </a:extLst>
              </a:tr>
              <a:tr h="370840">
                <a:tc>
                  <a:txBody>
                    <a:bodyPr/>
                    <a:lstStyle/>
                    <a:p>
                      <a:pPr algn="ctr"/>
                      <a:r>
                        <a:rPr lang="en-US" sz="2000" dirty="0">
                          <a:latin typeface="Times New Roman" panose="02020603050405020304" pitchFamily="18" charset="0"/>
                          <a:cs typeface="Times New Roman" panose="02020603050405020304" pitchFamily="18" charset="0"/>
                        </a:rPr>
                        <a:t>@</a:t>
                      </a:r>
                    </a:p>
                  </a:txBody>
                  <a:tcPr/>
                </a:tc>
                <a:tc>
                  <a:txBody>
                    <a:bodyPr/>
                    <a:lstStyle/>
                    <a:p>
                      <a:pPr algn="ctr"/>
                      <a:r>
                        <a:rPr lang="en-US" sz="2000" dirty="0">
                          <a:latin typeface="Times New Roman" panose="02020603050405020304" pitchFamily="18" charset="0"/>
                          <a:cs typeface="Times New Roman" panose="02020603050405020304" pitchFamily="18" charset="0"/>
                        </a:rPr>
                        <a:t>29</a:t>
                      </a:r>
                    </a:p>
                  </a:txBody>
                  <a:tcPr/>
                </a:tc>
                <a:extLst>
                  <a:ext uri="{0D108BD9-81ED-4DB2-BD59-A6C34878D82A}">
                    <a16:rowId xmlns:a16="http://schemas.microsoft.com/office/drawing/2014/main" val="3286955855"/>
                  </a:ext>
                </a:extLst>
              </a:tr>
              <a:tr h="370840">
                <a:tc>
                  <a:txBody>
                    <a:bodyPr/>
                    <a:lstStyle/>
                    <a:p>
                      <a:pPr algn="ctr"/>
                      <a:r>
                        <a:rPr lang="en-US" sz="2000" dirty="0">
                          <a:latin typeface="Times New Roman" panose="02020603050405020304" pitchFamily="18" charset="0"/>
                          <a:cs typeface="Times New Roman" panose="02020603050405020304" pitchFamily="18" charset="0"/>
                        </a:rPr>
                        <a:t>#</a:t>
                      </a:r>
                    </a:p>
                  </a:txBody>
                  <a:tcPr/>
                </a:tc>
                <a:tc>
                  <a:txBody>
                    <a:bodyPr/>
                    <a:lstStyle/>
                    <a:p>
                      <a:pPr algn="ctr"/>
                      <a:r>
                        <a:rPr lang="en-US" sz="2000" dirty="0">
                          <a:latin typeface="Times New Roman" panose="02020603050405020304" pitchFamily="18" charset="0"/>
                          <a:cs typeface="Times New Roman" panose="02020603050405020304" pitchFamily="18" charset="0"/>
                        </a:rPr>
                        <a:t>30</a:t>
                      </a:r>
                    </a:p>
                  </a:txBody>
                  <a:tcPr/>
                </a:tc>
                <a:extLst>
                  <a:ext uri="{0D108BD9-81ED-4DB2-BD59-A6C34878D82A}">
                    <a16:rowId xmlns:a16="http://schemas.microsoft.com/office/drawing/2014/main" val="665599816"/>
                  </a:ext>
                </a:extLst>
              </a:tr>
              <a:tr h="370840">
                <a:tc>
                  <a:txBody>
                    <a:bodyPr/>
                    <a:lstStyle/>
                    <a:p>
                      <a:pPr algn="ctr"/>
                      <a:r>
                        <a:rPr lang="en-US" sz="2000" dirty="0">
                          <a:latin typeface="Times New Roman" panose="02020603050405020304" pitchFamily="18" charset="0"/>
                          <a:cs typeface="Times New Roman" panose="02020603050405020304" pitchFamily="18" charset="0"/>
                        </a:rPr>
                        <a:t>$</a:t>
                      </a:r>
                    </a:p>
                  </a:txBody>
                  <a:tcPr/>
                </a:tc>
                <a:tc>
                  <a:txBody>
                    <a:bodyPr/>
                    <a:lstStyle/>
                    <a:p>
                      <a:pPr algn="ctr"/>
                      <a:r>
                        <a:rPr lang="en-US" sz="2000" dirty="0">
                          <a:latin typeface="Times New Roman" panose="02020603050405020304" pitchFamily="18" charset="0"/>
                          <a:cs typeface="Times New Roman" panose="02020603050405020304" pitchFamily="18" charset="0"/>
                        </a:rPr>
                        <a:t>31</a:t>
                      </a:r>
                    </a:p>
                  </a:txBody>
                  <a:tcPr/>
                </a:tc>
                <a:extLst>
                  <a:ext uri="{0D108BD9-81ED-4DB2-BD59-A6C34878D82A}">
                    <a16:rowId xmlns:a16="http://schemas.microsoft.com/office/drawing/2014/main" val="2274610948"/>
                  </a:ext>
                </a:extLst>
              </a:tr>
              <a:tr h="370840">
                <a:tc>
                  <a:txBody>
                    <a:bodyPr/>
                    <a:lstStyle/>
                    <a:p>
                      <a:pPr algn="ctr"/>
                      <a:r>
                        <a:rPr lang="en-US" sz="2000" dirty="0">
                          <a:latin typeface="Times New Roman" panose="02020603050405020304" pitchFamily="18" charset="0"/>
                          <a:cs typeface="Times New Roman" panose="02020603050405020304" pitchFamily="18" charset="0"/>
                        </a:rPr>
                        <a:t>!</a:t>
                      </a:r>
                    </a:p>
                  </a:txBody>
                  <a:tcPr/>
                </a:tc>
                <a:tc>
                  <a:txBody>
                    <a:bodyPr/>
                    <a:lstStyle/>
                    <a:p>
                      <a:pPr algn="ctr"/>
                      <a:r>
                        <a:rPr lang="en-US" sz="2000" dirty="0">
                          <a:latin typeface="Times New Roman" panose="02020603050405020304" pitchFamily="18" charset="0"/>
                          <a:cs typeface="Times New Roman" panose="02020603050405020304" pitchFamily="18" charset="0"/>
                        </a:rPr>
                        <a:t>32</a:t>
                      </a:r>
                    </a:p>
                  </a:txBody>
                  <a:tcPr/>
                </a:tc>
                <a:extLst>
                  <a:ext uri="{0D108BD9-81ED-4DB2-BD59-A6C34878D82A}">
                    <a16:rowId xmlns:a16="http://schemas.microsoft.com/office/drawing/2014/main" val="2205748512"/>
                  </a:ext>
                </a:extLst>
              </a:tr>
            </a:tbl>
          </a:graphicData>
        </a:graphic>
      </p:graphicFrame>
    </p:spTree>
    <p:extLst>
      <p:ext uri="{BB962C8B-B14F-4D97-AF65-F5344CB8AC3E}">
        <p14:creationId xmlns:p14="http://schemas.microsoft.com/office/powerpoint/2010/main" val="377072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 </a:t>
            </a:r>
            <a:r>
              <a:rPr lang="en-US" sz="4000" i="1" dirty="0">
                <a:solidFill>
                  <a:srgbClr val="FFFFFF"/>
                </a:solidFill>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1251E2AA-C9F4-ECA8-CAAA-0836BE506001}"/>
              </a:ext>
            </a:extLst>
          </p:cNvPr>
          <p:cNvSpPr>
            <a:spLocks/>
          </p:cNvSpPr>
          <p:nvPr/>
        </p:nvSpPr>
        <p:spPr>
          <a:xfrm>
            <a:off x="968830" y="2112579"/>
            <a:ext cx="10863941" cy="4088186"/>
          </a:xfrm>
          <a:prstGeom prst="rect">
            <a:avLst/>
          </a:prstGeom>
        </p:spPr>
        <p:txBody>
          <a:bodyPr>
            <a:normAutofit/>
          </a:bodyPr>
          <a:lstStyle/>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8B8A057-E851-AC1D-1582-CAD026BAB7D5}"/>
              </a:ext>
            </a:extLst>
          </p:cNvPr>
          <p:cNvSpPr txBox="1"/>
          <p:nvPr/>
        </p:nvSpPr>
        <p:spPr>
          <a:xfrm>
            <a:off x="435429" y="1828800"/>
            <a:ext cx="11484428"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&gt; (27)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4    (e)</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d (3)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13   (n)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 (29)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6     (g)</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 (31)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8     (</a:t>
            </a:r>
            <a:r>
              <a:rPr lang="en-US" sz="2400" dirty="0" err="1">
                <a:solidFill>
                  <a:srgbClr val="FF0000"/>
                </a:solidFill>
                <a:latin typeface="Times New Roman" panose="02020603050405020304" pitchFamily="18" charset="0"/>
                <a:cs typeface="Times New Roman" panose="02020603050405020304" pitchFamily="18" charset="0"/>
              </a:rPr>
              <a:t>i</a:t>
            </a:r>
            <a:r>
              <a:rPr lang="en-US" sz="2400" dirty="0">
                <a:solidFill>
                  <a:srgbClr val="FF0000"/>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d (3)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13    (n)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&gt; </a:t>
            </a:r>
            <a:r>
              <a:rPr lang="en-US" sz="2400" dirty="0">
                <a:solidFill>
                  <a:schemeClr val="accent6">
                    <a:lumMod val="50000"/>
                  </a:schemeClr>
                </a:solidFill>
                <a:latin typeface="Times New Roman" panose="02020603050405020304" pitchFamily="18" charset="0"/>
                <a:cs typeface="Times New Roman" panose="02020603050405020304" pitchFamily="18" charset="0"/>
              </a:rPr>
              <a:t>(27)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4      (e)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&gt; (27)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4      (e)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916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 calcmode="lin" valueType="num">
                                      <p:cBhvr additive="base">
                                        <p:cTn id="2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 calcmode="lin" valueType="num">
                                      <p:cBhvr additive="base">
                                        <p:cTn id="3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anim calcmode="lin" valueType="num">
                                      <p:cBhvr additive="base">
                                        <p:cTn id="3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12" end="12"/>
                                            </p:txEl>
                                          </p:spTgt>
                                        </p:tgtEl>
                                        <p:attrNameLst>
                                          <p:attrName>style.visibility</p:attrName>
                                        </p:attrNameLst>
                                      </p:cBhvr>
                                      <p:to>
                                        <p:strVal val="visible"/>
                                      </p:to>
                                    </p:set>
                                    <p:anim calcmode="lin" valueType="num">
                                      <p:cBhvr additive="base">
                                        <p:cTn id="43"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242D1C-AFDB-494E-E6B6-B6C1CFF1127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 </a:t>
            </a:r>
            <a:r>
              <a:rPr lang="en-US" sz="4000" i="1" dirty="0">
                <a:solidFill>
                  <a:srgbClr val="FFFFFF"/>
                </a:solidFill>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1251E2AA-C9F4-ECA8-CAAA-0836BE506001}"/>
              </a:ext>
            </a:extLst>
          </p:cNvPr>
          <p:cNvSpPr>
            <a:spLocks/>
          </p:cNvSpPr>
          <p:nvPr/>
        </p:nvSpPr>
        <p:spPr>
          <a:xfrm>
            <a:off x="968830" y="2112579"/>
            <a:ext cx="10863941" cy="4088186"/>
          </a:xfrm>
          <a:prstGeom prst="rect">
            <a:avLst/>
          </a:prstGeom>
        </p:spPr>
        <p:txBody>
          <a:bodyPr>
            <a:normAutofit/>
          </a:bodyPr>
          <a:lstStyle/>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03CBF36-4AEC-62AD-369F-C5A65AAF5D8A}"/>
              </a:ext>
            </a:extLst>
          </p:cNvPr>
          <p:cNvSpPr txBox="1"/>
          <p:nvPr/>
        </p:nvSpPr>
        <p:spPr>
          <a:xfrm>
            <a:off x="370114" y="1807029"/>
            <a:ext cx="10711543"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h (7)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17    (r)</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 (31)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8      (</a:t>
            </a:r>
            <a:r>
              <a:rPr lang="en-US" sz="2400" dirty="0" err="1">
                <a:solidFill>
                  <a:srgbClr val="FF0000"/>
                </a:solidFill>
                <a:latin typeface="Times New Roman" panose="02020603050405020304" pitchFamily="18" charset="0"/>
                <a:cs typeface="Times New Roman" panose="02020603050405020304" pitchFamily="18" charset="0"/>
              </a:rPr>
              <a:t>i</a:t>
            </a:r>
            <a:r>
              <a:rPr lang="en-US" sz="2400" dirty="0">
                <a:solidFill>
                  <a:srgbClr val="FF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d (3)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13    (n)</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 (29)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6       (g)</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6">
                    <a:lumMod val="50000"/>
                  </a:schemeClr>
                </a:solidFill>
                <a:latin typeface="Times New Roman" panose="02020603050405020304" pitchFamily="18" charset="0"/>
                <a:cs typeface="Times New Roman" panose="02020603050405020304" pitchFamily="18" charset="0"/>
              </a:rPr>
              <a:t>w (22) </a:t>
            </a:r>
            <a:r>
              <a:rPr lang="en-US" sz="2400" dirty="0">
                <a:latin typeface="Times New Roman" panose="02020603050405020304" pitchFamily="18" charset="0"/>
                <a:cs typeface="Times New Roman" panose="02020603050405020304" pitchFamily="18" charset="0"/>
              </a:rPr>
              <a:t>→ {d = (c-23) mod 33}    →    </a:t>
            </a:r>
            <a:r>
              <a:rPr lang="en-US" sz="2400" dirty="0">
                <a:solidFill>
                  <a:srgbClr val="FF0000"/>
                </a:solidFill>
                <a:latin typeface="Times New Roman" panose="02020603050405020304" pitchFamily="18" charset="0"/>
                <a:cs typeface="Times New Roman" panose="02020603050405020304" pitchFamily="18" charset="0"/>
              </a:rPr>
              <a:t>32    (!)</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the decrypted text is </a:t>
            </a:r>
            <a:r>
              <a:rPr lang="en-US" sz="2400" b="1" dirty="0">
                <a:solidFill>
                  <a:srgbClr val="FF0000"/>
                </a:solidFill>
                <a:latin typeface="Times New Roman" panose="02020603050405020304" pitchFamily="18" charset="0"/>
                <a:cs typeface="Times New Roman" panose="02020603050405020304" pitchFamily="18" charset="0"/>
              </a:rPr>
              <a:t>engineering!</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130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anim calcmode="lin" valueType="num">
                                      <p:cBhvr additive="base">
                                        <p:cTn id="3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err="1">
                <a:solidFill>
                  <a:srgbClr val="FFFFFF"/>
                </a:solidFill>
                <a:latin typeface="Times New Roman" panose="02020603050405020304" pitchFamily="18" charset="0"/>
                <a:cs typeface="Times New Roman" panose="02020603050405020304" pitchFamily="18" charset="0"/>
              </a:rPr>
              <a:t>Digrams</a:t>
            </a:r>
            <a:r>
              <a:rPr lang="en-US" dirty="0">
                <a:solidFill>
                  <a:srgbClr val="FFFFFF"/>
                </a:solidFill>
                <a:latin typeface="Times New Roman" panose="02020603050405020304" pitchFamily="18" charset="0"/>
                <a:cs typeface="Times New Roman" panose="02020603050405020304" pitchFamily="18" charset="0"/>
              </a:rPr>
              <a:t> on Additive Ciphers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A70E501-A9FE-8325-C137-38471A58C5B8}"/>
              </a:ext>
            </a:extLst>
          </p:cNvPr>
          <p:cNvSpPr>
            <a:spLocks noGrp="1"/>
          </p:cNvSpPr>
          <p:nvPr>
            <p:ph idx="1"/>
          </p:nvPr>
        </p:nvSpPr>
        <p:spPr>
          <a:xfrm>
            <a:off x="4447308" y="591344"/>
            <a:ext cx="6906491" cy="5585619"/>
          </a:xfrm>
        </p:spPr>
        <p:txBody>
          <a:bodyPr anchor="ctr">
            <a:normAutofit/>
          </a:bodyPr>
          <a:lstStyle/>
          <a:p>
            <a:r>
              <a:rPr lang="en-US" dirty="0">
                <a:latin typeface="Times New Roman" panose="02020603050405020304" pitchFamily="18" charset="0"/>
                <a:cs typeface="Times New Roman" panose="02020603050405020304" pitchFamily="18" charset="0"/>
              </a:rPr>
              <a:t>Pairs of alphabets or characters are encrypted or decrypted.</a:t>
            </a:r>
          </a:p>
          <a:p>
            <a:r>
              <a:rPr lang="en-US" dirty="0">
                <a:latin typeface="Times New Roman" panose="02020603050405020304" pitchFamily="18" charset="0"/>
                <a:cs typeface="Times New Roman" panose="02020603050405020304" pitchFamily="18" charset="0"/>
              </a:rPr>
              <a:t>Most commonly used </a:t>
            </a:r>
            <a:r>
              <a:rPr lang="en-US" dirty="0" err="1">
                <a:latin typeface="Times New Roman" panose="02020603050405020304" pitchFamily="18" charset="0"/>
                <a:cs typeface="Times New Roman" panose="02020603050405020304" pitchFamily="18" charset="0"/>
              </a:rPr>
              <a:t>digrams</a:t>
            </a:r>
            <a:r>
              <a:rPr lang="en-US" dirty="0">
                <a:latin typeface="Times New Roman" panose="02020603050405020304" pitchFamily="18" charset="0"/>
                <a:cs typeface="Times New Roman" panose="02020603050405020304" pitchFamily="18" charset="0"/>
              </a:rPr>
              <a:t> in plaintexts are ‘</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‘he’, ‘in’, etc.</a:t>
            </a:r>
          </a:p>
          <a:p>
            <a:r>
              <a:rPr lang="en-US" dirty="0">
                <a:solidFill>
                  <a:srgbClr val="FF0000"/>
                </a:solidFill>
                <a:latin typeface="Times New Roman" panose="02020603050405020304" pitchFamily="18" charset="0"/>
                <a:cs typeface="Times New Roman" panose="02020603050405020304" pitchFamily="18" charset="0"/>
              </a:rPr>
              <a:t>c = (</a:t>
            </a:r>
            <a:r>
              <a:rPr lang="en-US" dirty="0" err="1">
                <a:solidFill>
                  <a:srgbClr val="FF0000"/>
                </a:solidFill>
                <a:latin typeface="Times New Roman" panose="02020603050405020304" pitchFamily="18" charset="0"/>
                <a:cs typeface="Times New Roman" panose="02020603050405020304" pitchFamily="18" charset="0"/>
              </a:rPr>
              <a:t>p+k</a:t>
            </a:r>
            <a:r>
              <a:rPr lang="en-US" dirty="0">
                <a:solidFill>
                  <a:srgbClr val="FF0000"/>
                </a:solidFill>
                <a:latin typeface="Times New Roman" panose="02020603050405020304" pitchFamily="18" charset="0"/>
                <a:cs typeface="Times New Roman" panose="02020603050405020304" pitchFamily="18" charset="0"/>
              </a:rPr>
              <a:t>) mod 676, when only alphabets are used by ignoring the case.</a:t>
            </a:r>
          </a:p>
          <a:p>
            <a:r>
              <a:rPr lang="en-US" dirty="0">
                <a:solidFill>
                  <a:srgbClr val="FF0000"/>
                </a:solidFill>
                <a:latin typeface="Times New Roman" panose="02020603050405020304" pitchFamily="18" charset="0"/>
                <a:cs typeface="Times New Roman" panose="02020603050405020304" pitchFamily="18" charset="0"/>
              </a:rPr>
              <a:t>d = (c-k) mod 676, when only alphabets are used by ignoring the case.</a:t>
            </a:r>
          </a:p>
        </p:txBody>
      </p:sp>
    </p:spTree>
    <p:extLst>
      <p:ext uri="{BB962C8B-B14F-4D97-AF65-F5344CB8AC3E}">
        <p14:creationId xmlns:p14="http://schemas.microsoft.com/office/powerpoint/2010/main" val="423983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EE36BB-98DA-1BB3-654B-1FA1D84F7851}"/>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Additive Cipher with </a:t>
            </a:r>
            <a:r>
              <a:rPr lang="en-US" sz="4000" dirty="0" err="1">
                <a:solidFill>
                  <a:srgbClr val="FFFFFF"/>
                </a:solidFill>
                <a:latin typeface="Times New Roman" panose="02020603050405020304" pitchFamily="18" charset="0"/>
                <a:cs typeface="Times New Roman" panose="02020603050405020304" pitchFamily="18" charset="0"/>
              </a:rPr>
              <a:t>digram</a:t>
            </a:r>
            <a:r>
              <a:rPr lang="en-US" sz="4000" dirty="0">
                <a:solidFill>
                  <a:srgbClr val="FFFFFF"/>
                </a:solidFill>
                <a:latin typeface="Times New Roman" panose="02020603050405020304" pitchFamily="18" charset="0"/>
                <a:cs typeface="Times New Roman" panose="02020603050405020304" pitchFamily="18" charset="0"/>
              </a:rPr>
              <a:t> (Numerical 1)</a:t>
            </a:r>
          </a:p>
        </p:txBody>
      </p:sp>
      <p:sp>
        <p:nvSpPr>
          <p:cNvPr id="3" name="Content Placeholder 2">
            <a:extLst>
              <a:ext uri="{FF2B5EF4-FFF2-40B4-BE49-F238E27FC236}">
                <a16:creationId xmlns:a16="http://schemas.microsoft.com/office/drawing/2014/main" id="{8C05458A-9EFB-0234-A946-2461F282FD1B}"/>
              </a:ext>
            </a:extLst>
          </p:cNvPr>
          <p:cNvSpPr>
            <a:spLocks/>
          </p:cNvSpPr>
          <p:nvPr/>
        </p:nvSpPr>
        <p:spPr>
          <a:xfrm>
            <a:off x="1630248" y="2112579"/>
            <a:ext cx="8955445" cy="4036788"/>
          </a:xfrm>
          <a:prstGeom prst="rect">
            <a:avLst/>
          </a:prstGeom>
        </p:spPr>
        <p:txBody>
          <a:bodyPr/>
          <a:lstStyle/>
          <a:p>
            <a:pPr defTabSz="777240">
              <a:spcAft>
                <a:spcPts val="600"/>
              </a:spcAft>
            </a:pPr>
            <a:r>
              <a:rPr lang="en-US" sz="2400" kern="1200" dirty="0">
                <a:solidFill>
                  <a:schemeClr val="tx1"/>
                </a:solidFill>
                <a:latin typeface="Times New Roman" panose="02020603050405020304" pitchFamily="18" charset="0"/>
                <a:ea typeface="+mn-ea"/>
                <a:cs typeface="Times New Roman" panose="02020603050405020304" pitchFamily="18" charset="0"/>
              </a:rPr>
              <a:t>Encrypt the message </a:t>
            </a:r>
            <a:r>
              <a:rPr lang="en-US" sz="2400" b="1" kern="1200" dirty="0">
                <a:solidFill>
                  <a:schemeClr val="tx1"/>
                </a:solidFill>
                <a:latin typeface="Times New Roman" panose="02020603050405020304" pitchFamily="18" charset="0"/>
                <a:ea typeface="+mn-ea"/>
                <a:cs typeface="Times New Roman" panose="02020603050405020304" pitchFamily="18" charset="0"/>
              </a:rPr>
              <a:t>software</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500, and additive cipher using </a:t>
            </a:r>
            <a:r>
              <a:rPr lang="en-US" sz="2400" kern="1200" dirty="0" err="1">
                <a:solidFill>
                  <a:schemeClr val="tx1"/>
                </a:solidFill>
                <a:latin typeface="Times New Roman" panose="02020603050405020304" pitchFamily="18" charset="0"/>
                <a:ea typeface="+mn-ea"/>
                <a:cs typeface="Times New Roman" panose="02020603050405020304" pitchFamily="18" charset="0"/>
              </a:rPr>
              <a:t>digrams</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777240">
              <a:spcAft>
                <a:spcPts val="600"/>
              </a:spcAft>
            </a:pPr>
            <a:endParaRPr lang="en-US" sz="1530" kern="1200" dirty="0">
              <a:solidFill>
                <a:schemeClr val="tx1"/>
              </a:solidFill>
              <a:latin typeface="Times New Roman" panose="02020603050405020304" pitchFamily="18" charset="0"/>
              <a:ea typeface="+mn-ea"/>
              <a:cs typeface="Times New Roman" panose="02020603050405020304" pitchFamily="18" charset="0"/>
            </a:endParaRPr>
          </a:p>
          <a:p>
            <a:pPr defTabSz="777240">
              <a:spcAft>
                <a:spcPts val="600"/>
              </a:spcAft>
            </a:pPr>
            <a:r>
              <a:rPr lang="en-US" sz="238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777240">
              <a:spcAft>
                <a:spcPts val="600"/>
              </a:spcAft>
            </a:pPr>
            <a:endParaRPr lang="en-US" sz="2380"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p>
        </p:txBody>
      </p:sp>
      <p:graphicFrame>
        <p:nvGraphicFramePr>
          <p:cNvPr id="4" name="Table 3">
            <a:extLst>
              <a:ext uri="{FF2B5EF4-FFF2-40B4-BE49-F238E27FC236}">
                <a16:creationId xmlns:a16="http://schemas.microsoft.com/office/drawing/2014/main" id="{CC488CD0-E370-1EC7-C228-66F605B537C1}"/>
              </a:ext>
            </a:extLst>
          </p:cNvPr>
          <p:cNvGraphicFramePr>
            <a:graphicFrameLocks noGrp="1"/>
          </p:cNvGraphicFramePr>
          <p:nvPr>
            <p:extLst>
              <p:ext uri="{D42A27DB-BD31-4B8C-83A1-F6EECF244321}">
                <p14:modId xmlns:p14="http://schemas.microsoft.com/office/powerpoint/2010/main" val="2294018347"/>
              </p:ext>
            </p:extLst>
          </p:nvPr>
        </p:nvGraphicFramePr>
        <p:xfrm>
          <a:off x="2396622" y="4352161"/>
          <a:ext cx="8128000" cy="3962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0617807"/>
                    </a:ext>
                  </a:extLst>
                </a:gridCol>
                <a:gridCol w="2032000">
                  <a:extLst>
                    <a:ext uri="{9D8B030D-6E8A-4147-A177-3AD203B41FA5}">
                      <a16:colId xmlns:a16="http://schemas.microsoft.com/office/drawing/2014/main" val="3891485845"/>
                    </a:ext>
                  </a:extLst>
                </a:gridCol>
                <a:gridCol w="2032000">
                  <a:extLst>
                    <a:ext uri="{9D8B030D-6E8A-4147-A177-3AD203B41FA5}">
                      <a16:colId xmlns:a16="http://schemas.microsoft.com/office/drawing/2014/main" val="1438641464"/>
                    </a:ext>
                  </a:extLst>
                </a:gridCol>
                <a:gridCol w="2032000">
                  <a:extLst>
                    <a:ext uri="{9D8B030D-6E8A-4147-A177-3AD203B41FA5}">
                      <a16:colId xmlns:a16="http://schemas.microsoft.com/office/drawing/2014/main" val="2868081246"/>
                    </a:ext>
                  </a:extLst>
                </a:gridCol>
              </a:tblGrid>
              <a:tr h="252306">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so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wa</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24992146"/>
                  </a:ext>
                </a:extLst>
              </a:tr>
            </a:tbl>
          </a:graphicData>
        </a:graphic>
      </p:graphicFrame>
      <p:graphicFrame>
        <p:nvGraphicFramePr>
          <p:cNvPr id="5" name="Table 4">
            <a:extLst>
              <a:ext uri="{FF2B5EF4-FFF2-40B4-BE49-F238E27FC236}">
                <a16:creationId xmlns:a16="http://schemas.microsoft.com/office/drawing/2014/main" id="{82B73296-54AE-A7C2-9952-5717805C0753}"/>
              </a:ext>
            </a:extLst>
          </p:cNvPr>
          <p:cNvGraphicFramePr>
            <a:graphicFrameLocks noGrp="1"/>
          </p:cNvGraphicFramePr>
          <p:nvPr>
            <p:extLst>
              <p:ext uri="{D42A27DB-BD31-4B8C-83A1-F6EECF244321}">
                <p14:modId xmlns:p14="http://schemas.microsoft.com/office/powerpoint/2010/main" val="2119535024"/>
              </p:ext>
            </p:extLst>
          </p:nvPr>
        </p:nvGraphicFramePr>
        <p:xfrm>
          <a:off x="2396622" y="5265590"/>
          <a:ext cx="8128000" cy="3962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91497086"/>
                    </a:ext>
                  </a:extLst>
                </a:gridCol>
                <a:gridCol w="2032000">
                  <a:extLst>
                    <a:ext uri="{9D8B030D-6E8A-4147-A177-3AD203B41FA5}">
                      <a16:colId xmlns:a16="http://schemas.microsoft.com/office/drawing/2014/main" val="980968766"/>
                    </a:ext>
                  </a:extLst>
                </a:gridCol>
                <a:gridCol w="2032000">
                  <a:extLst>
                    <a:ext uri="{9D8B030D-6E8A-4147-A177-3AD203B41FA5}">
                      <a16:colId xmlns:a16="http://schemas.microsoft.com/office/drawing/2014/main" val="3934934230"/>
                    </a:ext>
                  </a:extLst>
                </a:gridCol>
                <a:gridCol w="2032000">
                  <a:extLst>
                    <a:ext uri="{9D8B030D-6E8A-4147-A177-3AD203B41FA5}">
                      <a16:colId xmlns:a16="http://schemas.microsoft.com/office/drawing/2014/main" val="1106154362"/>
                    </a:ext>
                  </a:extLst>
                </a:gridCol>
              </a:tblGrid>
              <a:tr h="370840">
                <a:tc>
                  <a:txBody>
                    <a:bodyPr/>
                    <a:lstStyle/>
                    <a:p>
                      <a:r>
                        <a:rPr lang="en-US" sz="2000" dirty="0">
                          <a:solidFill>
                            <a:srgbClr val="FF0000"/>
                          </a:solidFill>
                          <a:latin typeface="Times New Roman" panose="02020603050405020304" pitchFamily="18" charset="0"/>
                          <a:cs typeface="Times New Roman" panose="02020603050405020304" pitchFamily="18" charset="0"/>
                        </a:rPr>
                        <a:t>26*18+14 = 482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dirty="0">
                          <a:solidFill>
                            <a:srgbClr val="FF0000"/>
                          </a:solidFill>
                          <a:latin typeface="Times New Roman" panose="02020603050405020304" pitchFamily="18" charset="0"/>
                          <a:cs typeface="Times New Roman" panose="02020603050405020304" pitchFamily="18" charset="0"/>
                        </a:rPr>
                        <a:t>26*5+19 = 149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dirty="0">
                          <a:solidFill>
                            <a:srgbClr val="FF0000"/>
                          </a:solidFill>
                          <a:latin typeface="Times New Roman" panose="02020603050405020304" pitchFamily="18" charset="0"/>
                          <a:cs typeface="Times New Roman" panose="02020603050405020304" pitchFamily="18" charset="0"/>
                        </a:rPr>
                        <a:t>26*22+0 = 572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000" dirty="0">
                          <a:solidFill>
                            <a:srgbClr val="FF0000"/>
                          </a:solidFill>
                          <a:latin typeface="Times New Roman" panose="02020603050405020304" pitchFamily="18" charset="0"/>
                          <a:cs typeface="Times New Roman" panose="02020603050405020304" pitchFamily="18" charset="0"/>
                        </a:rPr>
                        <a:t>26*17+4 = 446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48329305"/>
                  </a:ext>
                </a:extLst>
              </a:tr>
            </a:tbl>
          </a:graphicData>
        </a:graphic>
      </p:graphicFrame>
      <p:cxnSp>
        <p:nvCxnSpPr>
          <p:cNvPr id="7" name="Straight Arrow Connector 6">
            <a:extLst>
              <a:ext uri="{FF2B5EF4-FFF2-40B4-BE49-F238E27FC236}">
                <a16:creationId xmlns:a16="http://schemas.microsoft.com/office/drawing/2014/main" id="{2561E8D3-72A3-301D-3BDA-3B987C5763A0}"/>
              </a:ext>
            </a:extLst>
          </p:cNvPr>
          <p:cNvCxnSpPr>
            <a:cxnSpLocks/>
            <a:stCxn id="4" idx="2"/>
            <a:endCxn id="5" idx="0"/>
          </p:cNvCxnSpPr>
          <p:nvPr/>
        </p:nvCxnSpPr>
        <p:spPr>
          <a:xfrm>
            <a:off x="6460622" y="4748401"/>
            <a:ext cx="0" cy="5171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234981B-4E03-B863-60F2-CD91BBC32E58}"/>
              </a:ext>
            </a:extLst>
          </p:cNvPr>
          <p:cNvCxnSpPr>
            <a:cxnSpLocks/>
          </p:cNvCxnSpPr>
          <p:nvPr/>
        </p:nvCxnSpPr>
        <p:spPr>
          <a:xfrm>
            <a:off x="6461771" y="5661830"/>
            <a:ext cx="0" cy="723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70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EE36BB-98DA-1BB3-654B-1FA1D84F7851}"/>
              </a:ext>
            </a:extLst>
          </p:cNvPr>
          <p:cNvSpPr>
            <a:spLocks noGrp="1"/>
          </p:cNvSpPr>
          <p:nvPr>
            <p:ph type="title"/>
          </p:nvPr>
        </p:nvSpPr>
        <p:spPr>
          <a:xfrm>
            <a:off x="781593" y="349112"/>
            <a:ext cx="11059889" cy="877729"/>
          </a:xfrm>
        </p:spPr>
        <p:txBody>
          <a:bodyPr anchor="ctr">
            <a:noAutofit/>
          </a:bodyPr>
          <a:lstStyle/>
          <a:p>
            <a:r>
              <a:rPr lang="en-US" sz="4000" dirty="0">
                <a:solidFill>
                  <a:srgbClr val="FFFFFF"/>
                </a:solidFill>
                <a:latin typeface="Times New Roman" panose="02020603050405020304" pitchFamily="18" charset="0"/>
                <a:cs typeface="Times New Roman" panose="02020603050405020304" pitchFamily="18" charset="0"/>
              </a:rPr>
              <a:t>Additive Cipher with </a:t>
            </a:r>
            <a:r>
              <a:rPr lang="en-US" sz="4000" dirty="0" err="1">
                <a:solidFill>
                  <a:srgbClr val="FFFFFF"/>
                </a:solidFill>
                <a:latin typeface="Times New Roman" panose="02020603050405020304" pitchFamily="18" charset="0"/>
                <a:cs typeface="Times New Roman" panose="02020603050405020304" pitchFamily="18" charset="0"/>
              </a:rPr>
              <a:t>digram</a:t>
            </a:r>
            <a:r>
              <a:rPr lang="en-US" sz="4000" dirty="0">
                <a:solidFill>
                  <a:srgbClr val="FFFFFF"/>
                </a:solidFill>
                <a:latin typeface="Times New Roman" panose="02020603050405020304" pitchFamily="18" charset="0"/>
                <a:cs typeface="Times New Roman" panose="02020603050405020304" pitchFamily="18" charset="0"/>
              </a:rPr>
              <a:t> (Numerical 1) </a:t>
            </a:r>
            <a:r>
              <a:rPr lang="en-US" sz="4000" i="1" dirty="0">
                <a:solidFill>
                  <a:srgbClr val="FF0000"/>
                </a:solidFill>
                <a:latin typeface="Times New Roman" panose="02020603050405020304" pitchFamily="18" charset="0"/>
                <a:cs typeface="Times New Roman" panose="02020603050405020304" pitchFamily="18" charset="0"/>
              </a:rPr>
              <a:t>(Contd..)</a:t>
            </a:r>
          </a:p>
        </p:txBody>
      </p:sp>
      <p:graphicFrame>
        <p:nvGraphicFramePr>
          <p:cNvPr id="6" name="Content Placeholder 5">
            <a:extLst>
              <a:ext uri="{FF2B5EF4-FFF2-40B4-BE49-F238E27FC236}">
                <a16:creationId xmlns:a16="http://schemas.microsoft.com/office/drawing/2014/main" id="{5B2D8E5C-DA1B-9AC3-90FC-EFC73708D5B5}"/>
              </a:ext>
            </a:extLst>
          </p:cNvPr>
          <p:cNvGraphicFramePr>
            <a:graphicFrameLocks/>
          </p:cNvGraphicFramePr>
          <p:nvPr>
            <p:extLst>
              <p:ext uri="{D42A27DB-BD31-4B8C-83A1-F6EECF244321}">
                <p14:modId xmlns:p14="http://schemas.microsoft.com/office/powerpoint/2010/main" val="2224095104"/>
              </p:ext>
            </p:extLst>
          </p:nvPr>
        </p:nvGraphicFramePr>
        <p:xfrm>
          <a:off x="2615838" y="2287238"/>
          <a:ext cx="7391401" cy="396240"/>
        </p:xfrm>
        <a:graphic>
          <a:graphicData uri="http://schemas.openxmlformats.org/drawingml/2006/table">
            <a:tbl>
              <a:tblPr firstRow="1" bandRow="1">
                <a:tableStyleId>{5C22544A-7EE6-4342-B048-85BDC9FD1C3A}</a:tableStyleId>
              </a:tblPr>
              <a:tblGrid>
                <a:gridCol w="7391401">
                  <a:extLst>
                    <a:ext uri="{9D8B030D-6E8A-4147-A177-3AD203B41FA5}">
                      <a16:colId xmlns:a16="http://schemas.microsoft.com/office/drawing/2014/main" val="393379396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 = (</a:t>
                      </a:r>
                      <a:r>
                        <a:rPr lang="en-US" sz="2000" dirty="0" err="1">
                          <a:solidFill>
                            <a:srgbClr val="FF0000"/>
                          </a:solidFill>
                          <a:latin typeface="Times New Roman" panose="02020603050405020304" pitchFamily="18" charset="0"/>
                          <a:cs typeface="Times New Roman" panose="02020603050405020304" pitchFamily="18" charset="0"/>
                        </a:rPr>
                        <a:t>p+k</a:t>
                      </a:r>
                      <a:r>
                        <a:rPr lang="en-US" sz="2000" dirty="0">
                          <a:solidFill>
                            <a:srgbClr val="FF0000"/>
                          </a:solidFill>
                          <a:latin typeface="Times New Roman" panose="02020603050405020304" pitchFamily="18" charset="0"/>
                          <a:cs typeface="Times New Roman" panose="02020603050405020304" pitchFamily="18" charset="0"/>
                        </a:rPr>
                        <a:t>) mod 676 = (p+500) mod 676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6081196"/>
                  </a:ext>
                </a:extLst>
              </a:tr>
            </a:tbl>
          </a:graphicData>
        </a:graphic>
      </p:graphicFrame>
      <p:graphicFrame>
        <p:nvGraphicFramePr>
          <p:cNvPr id="8" name="Table 7">
            <a:extLst>
              <a:ext uri="{FF2B5EF4-FFF2-40B4-BE49-F238E27FC236}">
                <a16:creationId xmlns:a16="http://schemas.microsoft.com/office/drawing/2014/main" id="{C1197DB4-9ED2-DD9B-1586-88EAF850401B}"/>
              </a:ext>
            </a:extLst>
          </p:cNvPr>
          <p:cNvGraphicFramePr>
            <a:graphicFrameLocks noGrp="1"/>
          </p:cNvGraphicFramePr>
          <p:nvPr>
            <p:extLst>
              <p:ext uri="{D42A27DB-BD31-4B8C-83A1-F6EECF244321}">
                <p14:modId xmlns:p14="http://schemas.microsoft.com/office/powerpoint/2010/main" val="3937522423"/>
              </p:ext>
            </p:extLst>
          </p:nvPr>
        </p:nvGraphicFramePr>
        <p:xfrm>
          <a:off x="727079" y="3277309"/>
          <a:ext cx="11375572" cy="396240"/>
        </p:xfrm>
        <a:graphic>
          <a:graphicData uri="http://schemas.openxmlformats.org/drawingml/2006/table">
            <a:tbl>
              <a:tblPr firstRow="1" bandRow="1">
                <a:tableStyleId>{5C22544A-7EE6-4342-B048-85BDC9FD1C3A}</a:tableStyleId>
              </a:tblPr>
              <a:tblGrid>
                <a:gridCol w="2843893">
                  <a:extLst>
                    <a:ext uri="{9D8B030D-6E8A-4147-A177-3AD203B41FA5}">
                      <a16:colId xmlns:a16="http://schemas.microsoft.com/office/drawing/2014/main" val="3115195918"/>
                    </a:ext>
                  </a:extLst>
                </a:gridCol>
                <a:gridCol w="2843893">
                  <a:extLst>
                    <a:ext uri="{9D8B030D-6E8A-4147-A177-3AD203B41FA5}">
                      <a16:colId xmlns:a16="http://schemas.microsoft.com/office/drawing/2014/main" val="1274986028"/>
                    </a:ext>
                  </a:extLst>
                </a:gridCol>
                <a:gridCol w="2843893">
                  <a:extLst>
                    <a:ext uri="{9D8B030D-6E8A-4147-A177-3AD203B41FA5}">
                      <a16:colId xmlns:a16="http://schemas.microsoft.com/office/drawing/2014/main" val="1127144547"/>
                    </a:ext>
                  </a:extLst>
                </a:gridCol>
                <a:gridCol w="2843893">
                  <a:extLst>
                    <a:ext uri="{9D8B030D-6E8A-4147-A177-3AD203B41FA5}">
                      <a16:colId xmlns:a16="http://schemas.microsoft.com/office/drawing/2014/main" val="281890536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306 = 26*11+20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649 = 26*24+25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396 = 26*15+6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270 =  26*10+10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20887549"/>
                  </a:ext>
                </a:extLst>
              </a:tr>
            </a:tbl>
          </a:graphicData>
        </a:graphic>
      </p:graphicFrame>
      <p:cxnSp>
        <p:nvCxnSpPr>
          <p:cNvPr id="11" name="Straight Arrow Connector 10">
            <a:extLst>
              <a:ext uri="{FF2B5EF4-FFF2-40B4-BE49-F238E27FC236}">
                <a16:creationId xmlns:a16="http://schemas.microsoft.com/office/drawing/2014/main" id="{95CE6187-957E-520B-0027-1CE840E6E8D0}"/>
              </a:ext>
            </a:extLst>
          </p:cNvPr>
          <p:cNvCxnSpPr>
            <a:cxnSpLocks/>
          </p:cNvCxnSpPr>
          <p:nvPr/>
        </p:nvCxnSpPr>
        <p:spPr>
          <a:xfrm>
            <a:off x="6452013" y="2683478"/>
            <a:ext cx="0" cy="593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A376446C-A49A-F722-E7AA-8E5B8277566D}"/>
              </a:ext>
            </a:extLst>
          </p:cNvPr>
          <p:cNvGraphicFramePr>
            <a:graphicFrameLocks noGrp="1"/>
          </p:cNvGraphicFramePr>
          <p:nvPr>
            <p:extLst>
              <p:ext uri="{D42A27DB-BD31-4B8C-83A1-F6EECF244321}">
                <p14:modId xmlns:p14="http://schemas.microsoft.com/office/powerpoint/2010/main" val="1037199304"/>
              </p:ext>
            </p:extLst>
          </p:nvPr>
        </p:nvGraphicFramePr>
        <p:xfrm>
          <a:off x="644056" y="4396021"/>
          <a:ext cx="11462660" cy="396240"/>
        </p:xfrm>
        <a:graphic>
          <a:graphicData uri="http://schemas.openxmlformats.org/drawingml/2006/table">
            <a:tbl>
              <a:tblPr firstRow="1" bandRow="1">
                <a:tableStyleId>{5C22544A-7EE6-4342-B048-85BDC9FD1C3A}</a:tableStyleId>
              </a:tblPr>
              <a:tblGrid>
                <a:gridCol w="2865665">
                  <a:extLst>
                    <a:ext uri="{9D8B030D-6E8A-4147-A177-3AD203B41FA5}">
                      <a16:colId xmlns:a16="http://schemas.microsoft.com/office/drawing/2014/main" val="3307064426"/>
                    </a:ext>
                  </a:extLst>
                </a:gridCol>
                <a:gridCol w="2865665">
                  <a:extLst>
                    <a:ext uri="{9D8B030D-6E8A-4147-A177-3AD203B41FA5}">
                      <a16:colId xmlns:a16="http://schemas.microsoft.com/office/drawing/2014/main" val="116642123"/>
                    </a:ext>
                  </a:extLst>
                </a:gridCol>
                <a:gridCol w="2865665">
                  <a:extLst>
                    <a:ext uri="{9D8B030D-6E8A-4147-A177-3AD203B41FA5}">
                      <a16:colId xmlns:a16="http://schemas.microsoft.com/office/drawing/2014/main" val="1251954458"/>
                    </a:ext>
                  </a:extLst>
                </a:gridCol>
                <a:gridCol w="2865665">
                  <a:extLst>
                    <a:ext uri="{9D8B030D-6E8A-4147-A177-3AD203B41FA5}">
                      <a16:colId xmlns:a16="http://schemas.microsoft.com/office/drawing/2014/main" val="1867638185"/>
                    </a:ext>
                  </a:extLst>
                </a:gridCol>
              </a:tblGrid>
              <a:tr h="370840">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lu</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yz</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pg</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53694766"/>
                  </a:ext>
                </a:extLst>
              </a:tr>
            </a:tbl>
          </a:graphicData>
        </a:graphic>
      </p:graphicFrame>
      <p:cxnSp>
        <p:nvCxnSpPr>
          <p:cNvPr id="15" name="Straight Arrow Connector 14">
            <a:extLst>
              <a:ext uri="{FF2B5EF4-FFF2-40B4-BE49-F238E27FC236}">
                <a16:creationId xmlns:a16="http://schemas.microsoft.com/office/drawing/2014/main" id="{4230CBBF-FA65-CFDB-C7F2-5373EC1527F5}"/>
              </a:ext>
            </a:extLst>
          </p:cNvPr>
          <p:cNvCxnSpPr>
            <a:cxnSpLocks/>
            <a:stCxn id="8" idx="2"/>
            <a:endCxn id="13" idx="0"/>
          </p:cNvCxnSpPr>
          <p:nvPr/>
        </p:nvCxnSpPr>
        <p:spPr>
          <a:xfrm flipH="1">
            <a:off x="6375386" y="3673549"/>
            <a:ext cx="39479" cy="722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9708C59-E86C-C6A8-5A0D-3FAC950EA7C2}"/>
              </a:ext>
            </a:extLst>
          </p:cNvPr>
          <p:cNvSpPr txBox="1"/>
          <p:nvPr/>
        </p:nvSpPr>
        <p:spPr>
          <a:xfrm>
            <a:off x="644056" y="5631918"/>
            <a:ext cx="8374887" cy="498807"/>
          </a:xfrm>
          <a:prstGeom prst="rect">
            <a:avLst/>
          </a:prstGeom>
          <a:noFill/>
        </p:spPr>
        <p:txBody>
          <a:bodyPr wrap="square" rtlCol="0">
            <a:spAutoFit/>
          </a:bodyPr>
          <a:lstStyle/>
          <a:p>
            <a:pPr marL="325755" indent="-325755" defTabSz="868680">
              <a:spcAft>
                <a:spcPts val="600"/>
              </a:spcAft>
              <a:buFont typeface="Arial" panose="020B0604020202020204" pitchFamily="34" charset="0"/>
              <a:buChar char="•"/>
            </a:pPr>
            <a:r>
              <a:rPr lang="en-US" sz="2660" kern="1200" dirty="0">
                <a:solidFill>
                  <a:schemeClr val="tx1"/>
                </a:solidFill>
                <a:latin typeface="Times New Roman" panose="02020603050405020304" pitchFamily="18" charset="0"/>
                <a:ea typeface="+mn-ea"/>
                <a:cs typeface="Times New Roman" panose="02020603050405020304" pitchFamily="18" charset="0"/>
              </a:rPr>
              <a:t>The </a:t>
            </a:r>
            <a:r>
              <a:rPr lang="en-US" sz="2660" dirty="0">
                <a:latin typeface="Times New Roman" panose="02020603050405020304" pitchFamily="18" charset="0"/>
                <a:cs typeface="Times New Roman" panose="02020603050405020304" pitchFamily="18" charset="0"/>
              </a:rPr>
              <a:t>cipher</a:t>
            </a:r>
            <a:r>
              <a:rPr lang="en-US" sz="2660" kern="1200" dirty="0">
                <a:solidFill>
                  <a:schemeClr val="tx1"/>
                </a:solidFill>
                <a:latin typeface="Times New Roman" panose="02020603050405020304" pitchFamily="18" charset="0"/>
                <a:ea typeface="+mn-ea"/>
                <a:cs typeface="Times New Roman" panose="02020603050405020304" pitchFamily="18" charset="0"/>
              </a:rPr>
              <a:t>text is </a:t>
            </a:r>
            <a:r>
              <a:rPr lang="en-US" sz="2660" b="1" kern="1200" dirty="0" err="1">
                <a:solidFill>
                  <a:srgbClr val="B30000"/>
                </a:solidFill>
                <a:latin typeface="Times New Roman" panose="02020603050405020304" pitchFamily="18" charset="0"/>
                <a:ea typeface="+mn-ea"/>
                <a:cs typeface="Times New Roman" panose="02020603050405020304" pitchFamily="18" charset="0"/>
              </a:rPr>
              <a:t>luyzpgkk</a:t>
            </a:r>
            <a:r>
              <a:rPr lang="en-US" sz="2660" kern="1200" dirty="0">
                <a:solidFill>
                  <a:schemeClr val="tx1"/>
                </a:solidFill>
                <a:latin typeface="Times New Roman" panose="02020603050405020304" pitchFamily="18" charset="0"/>
                <a:ea typeface="+mn-ea"/>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460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EE36BB-98DA-1BB3-654B-1FA1D84F7851}"/>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latin typeface="Times New Roman" panose="02020603050405020304" pitchFamily="18" charset="0"/>
                <a:cs typeface="Times New Roman" panose="02020603050405020304" pitchFamily="18" charset="0"/>
              </a:rPr>
              <a:t>Additive Cipher with </a:t>
            </a:r>
            <a:r>
              <a:rPr lang="en-US" sz="4000" dirty="0" err="1">
                <a:solidFill>
                  <a:srgbClr val="FFFFFF"/>
                </a:solidFill>
                <a:latin typeface="Times New Roman" panose="02020603050405020304" pitchFamily="18" charset="0"/>
                <a:cs typeface="Times New Roman" panose="02020603050405020304" pitchFamily="18" charset="0"/>
              </a:rPr>
              <a:t>digram</a:t>
            </a:r>
            <a:r>
              <a:rPr lang="en-US" sz="4000" dirty="0">
                <a:solidFill>
                  <a:srgbClr val="FFFFFF"/>
                </a:solidFill>
                <a:latin typeface="Times New Roman" panose="02020603050405020304" pitchFamily="18" charset="0"/>
                <a:cs typeface="Times New Roman" panose="02020603050405020304" pitchFamily="18" charset="0"/>
              </a:rPr>
              <a:t> (Numerical 2)</a:t>
            </a:r>
          </a:p>
        </p:txBody>
      </p:sp>
      <p:sp>
        <p:nvSpPr>
          <p:cNvPr id="3" name="Content Placeholder 2">
            <a:extLst>
              <a:ext uri="{FF2B5EF4-FFF2-40B4-BE49-F238E27FC236}">
                <a16:creationId xmlns:a16="http://schemas.microsoft.com/office/drawing/2014/main" id="{8C05458A-9EFB-0234-A946-2461F282FD1B}"/>
              </a:ext>
            </a:extLst>
          </p:cNvPr>
          <p:cNvSpPr>
            <a:spLocks/>
          </p:cNvSpPr>
          <p:nvPr/>
        </p:nvSpPr>
        <p:spPr>
          <a:xfrm>
            <a:off x="1630248" y="2112579"/>
            <a:ext cx="8955445" cy="4036788"/>
          </a:xfrm>
          <a:prstGeom prst="rect">
            <a:avLst/>
          </a:prstGeom>
        </p:spPr>
        <p:txBody>
          <a:bodyPr/>
          <a:lstStyle/>
          <a:p>
            <a:pPr defTabSz="777240">
              <a:spcAft>
                <a:spcPts val="600"/>
              </a:spcAft>
            </a:pPr>
            <a:r>
              <a:rPr lang="en-US" sz="2400" dirty="0">
                <a:latin typeface="Times New Roman" panose="02020603050405020304" pitchFamily="18" charset="0"/>
                <a:cs typeface="Times New Roman" panose="02020603050405020304" pitchFamily="18" charset="0"/>
              </a:rPr>
              <a:t>Decrypt</a:t>
            </a:r>
            <a:r>
              <a:rPr lang="en-US" sz="2400" kern="1200" dirty="0">
                <a:solidFill>
                  <a:schemeClr val="tx1"/>
                </a:solidFill>
                <a:latin typeface="Times New Roman" panose="02020603050405020304" pitchFamily="18" charset="0"/>
                <a:ea typeface="+mn-ea"/>
                <a:cs typeface="Times New Roman" panose="02020603050405020304" pitchFamily="18" charset="0"/>
              </a:rPr>
              <a:t> the message </a:t>
            </a:r>
            <a:r>
              <a:rPr lang="en-US" sz="2400" b="1" dirty="0" err="1">
                <a:latin typeface="Times New Roman" panose="02020603050405020304" pitchFamily="18" charset="0"/>
                <a:cs typeface="Times New Roman" panose="02020603050405020304" pitchFamily="18" charset="0"/>
              </a:rPr>
              <a:t>luyzpgkk</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500, and additive cipher using </a:t>
            </a:r>
            <a:r>
              <a:rPr lang="en-US" sz="2400" kern="1200" dirty="0" err="1">
                <a:solidFill>
                  <a:schemeClr val="tx1"/>
                </a:solidFill>
                <a:latin typeface="Times New Roman" panose="02020603050405020304" pitchFamily="18" charset="0"/>
                <a:ea typeface="+mn-ea"/>
                <a:cs typeface="Times New Roman" panose="02020603050405020304" pitchFamily="18" charset="0"/>
              </a:rPr>
              <a:t>digrams</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777240">
              <a:spcAft>
                <a:spcPts val="600"/>
              </a:spcAft>
            </a:pPr>
            <a:endParaRPr lang="en-US" sz="1530" kern="1200" dirty="0">
              <a:solidFill>
                <a:schemeClr val="tx1"/>
              </a:solidFill>
              <a:latin typeface="Times New Roman" panose="02020603050405020304" pitchFamily="18" charset="0"/>
              <a:ea typeface="+mn-ea"/>
              <a:cs typeface="Times New Roman" panose="02020603050405020304" pitchFamily="18" charset="0"/>
            </a:endParaRPr>
          </a:p>
          <a:p>
            <a:pPr defTabSz="777240">
              <a:spcAft>
                <a:spcPts val="600"/>
              </a:spcAft>
            </a:pPr>
            <a:r>
              <a:rPr lang="en-US" sz="238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777240">
              <a:spcAft>
                <a:spcPts val="600"/>
              </a:spcAft>
            </a:pPr>
            <a:endParaRPr lang="en-US" sz="2380"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p>
        </p:txBody>
      </p:sp>
      <p:graphicFrame>
        <p:nvGraphicFramePr>
          <p:cNvPr id="4" name="Table 3">
            <a:extLst>
              <a:ext uri="{FF2B5EF4-FFF2-40B4-BE49-F238E27FC236}">
                <a16:creationId xmlns:a16="http://schemas.microsoft.com/office/drawing/2014/main" id="{CC488CD0-E370-1EC7-C228-66F605B537C1}"/>
              </a:ext>
            </a:extLst>
          </p:cNvPr>
          <p:cNvGraphicFramePr>
            <a:graphicFrameLocks noGrp="1"/>
          </p:cNvGraphicFramePr>
          <p:nvPr>
            <p:extLst>
              <p:ext uri="{D42A27DB-BD31-4B8C-83A1-F6EECF244321}">
                <p14:modId xmlns:p14="http://schemas.microsoft.com/office/powerpoint/2010/main" val="4014323697"/>
              </p:ext>
            </p:extLst>
          </p:nvPr>
        </p:nvGraphicFramePr>
        <p:xfrm>
          <a:off x="2396622" y="4352161"/>
          <a:ext cx="8128000" cy="3962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0617807"/>
                    </a:ext>
                  </a:extLst>
                </a:gridCol>
                <a:gridCol w="2032000">
                  <a:extLst>
                    <a:ext uri="{9D8B030D-6E8A-4147-A177-3AD203B41FA5}">
                      <a16:colId xmlns:a16="http://schemas.microsoft.com/office/drawing/2014/main" val="3891485845"/>
                    </a:ext>
                  </a:extLst>
                </a:gridCol>
                <a:gridCol w="2032000">
                  <a:extLst>
                    <a:ext uri="{9D8B030D-6E8A-4147-A177-3AD203B41FA5}">
                      <a16:colId xmlns:a16="http://schemas.microsoft.com/office/drawing/2014/main" val="1438641464"/>
                    </a:ext>
                  </a:extLst>
                </a:gridCol>
                <a:gridCol w="2032000">
                  <a:extLst>
                    <a:ext uri="{9D8B030D-6E8A-4147-A177-3AD203B41FA5}">
                      <a16:colId xmlns:a16="http://schemas.microsoft.com/office/drawing/2014/main" val="2868081246"/>
                    </a:ext>
                  </a:extLst>
                </a:gridCol>
              </a:tblGrid>
              <a:tr h="252306">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lu</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yz</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pg</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24992146"/>
                  </a:ext>
                </a:extLst>
              </a:tr>
            </a:tbl>
          </a:graphicData>
        </a:graphic>
      </p:graphicFrame>
      <p:graphicFrame>
        <p:nvGraphicFramePr>
          <p:cNvPr id="5" name="Table 4">
            <a:extLst>
              <a:ext uri="{FF2B5EF4-FFF2-40B4-BE49-F238E27FC236}">
                <a16:creationId xmlns:a16="http://schemas.microsoft.com/office/drawing/2014/main" id="{82B73296-54AE-A7C2-9952-5717805C0753}"/>
              </a:ext>
            </a:extLst>
          </p:cNvPr>
          <p:cNvGraphicFramePr>
            <a:graphicFrameLocks noGrp="1"/>
          </p:cNvGraphicFramePr>
          <p:nvPr>
            <p:extLst>
              <p:ext uri="{D42A27DB-BD31-4B8C-83A1-F6EECF244321}">
                <p14:modId xmlns:p14="http://schemas.microsoft.com/office/powerpoint/2010/main" val="262080641"/>
              </p:ext>
            </p:extLst>
          </p:nvPr>
        </p:nvGraphicFramePr>
        <p:xfrm>
          <a:off x="2396622" y="5265590"/>
          <a:ext cx="8128000" cy="701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91497086"/>
                    </a:ext>
                  </a:extLst>
                </a:gridCol>
                <a:gridCol w="2032000">
                  <a:extLst>
                    <a:ext uri="{9D8B030D-6E8A-4147-A177-3AD203B41FA5}">
                      <a16:colId xmlns:a16="http://schemas.microsoft.com/office/drawing/2014/main" val="980968766"/>
                    </a:ext>
                  </a:extLst>
                </a:gridCol>
                <a:gridCol w="2032000">
                  <a:extLst>
                    <a:ext uri="{9D8B030D-6E8A-4147-A177-3AD203B41FA5}">
                      <a16:colId xmlns:a16="http://schemas.microsoft.com/office/drawing/2014/main" val="3934934230"/>
                    </a:ext>
                  </a:extLst>
                </a:gridCol>
                <a:gridCol w="2032000">
                  <a:extLst>
                    <a:ext uri="{9D8B030D-6E8A-4147-A177-3AD203B41FA5}">
                      <a16:colId xmlns:a16="http://schemas.microsoft.com/office/drawing/2014/main" val="1106154362"/>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26*11+20 = 306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Times New Roman" panose="02020603050405020304" pitchFamily="18" charset="0"/>
                          <a:cs typeface="Times New Roman" panose="02020603050405020304" pitchFamily="18" charset="0"/>
                        </a:rPr>
                        <a:t>26*24+25 = 649</a:t>
                      </a:r>
                    </a:p>
                    <a:p>
                      <a:pPr algn="ct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Times New Roman" panose="02020603050405020304" pitchFamily="18" charset="0"/>
                          <a:cs typeface="Times New Roman" panose="02020603050405020304" pitchFamily="18" charset="0"/>
                        </a:rPr>
                        <a:t>26*15+6 = 396</a:t>
                      </a:r>
                    </a:p>
                    <a:p>
                      <a:pPr algn="ct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Times New Roman" panose="02020603050405020304" pitchFamily="18" charset="0"/>
                          <a:cs typeface="Times New Roman" panose="02020603050405020304" pitchFamily="18" charset="0"/>
                        </a:rPr>
                        <a:t>26*10+10 = 270</a:t>
                      </a:r>
                    </a:p>
                    <a:p>
                      <a:pPr algn="ct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48329305"/>
                  </a:ext>
                </a:extLst>
              </a:tr>
            </a:tbl>
          </a:graphicData>
        </a:graphic>
      </p:graphicFrame>
      <p:cxnSp>
        <p:nvCxnSpPr>
          <p:cNvPr id="7" name="Straight Arrow Connector 6">
            <a:extLst>
              <a:ext uri="{FF2B5EF4-FFF2-40B4-BE49-F238E27FC236}">
                <a16:creationId xmlns:a16="http://schemas.microsoft.com/office/drawing/2014/main" id="{2561E8D3-72A3-301D-3BDA-3B987C5763A0}"/>
              </a:ext>
            </a:extLst>
          </p:cNvPr>
          <p:cNvCxnSpPr>
            <a:cxnSpLocks/>
            <a:stCxn id="4" idx="2"/>
            <a:endCxn id="5" idx="0"/>
          </p:cNvCxnSpPr>
          <p:nvPr/>
        </p:nvCxnSpPr>
        <p:spPr>
          <a:xfrm>
            <a:off x="6460622" y="4748401"/>
            <a:ext cx="0" cy="5171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234981B-4E03-B863-60F2-CD91BBC32E58}"/>
              </a:ext>
            </a:extLst>
          </p:cNvPr>
          <p:cNvCxnSpPr>
            <a:cxnSpLocks/>
          </p:cNvCxnSpPr>
          <p:nvPr/>
        </p:nvCxnSpPr>
        <p:spPr>
          <a:xfrm>
            <a:off x="6460622" y="5966630"/>
            <a:ext cx="0" cy="723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196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EE36BB-98DA-1BB3-654B-1FA1D84F7851}"/>
              </a:ext>
            </a:extLst>
          </p:cNvPr>
          <p:cNvSpPr>
            <a:spLocks noGrp="1"/>
          </p:cNvSpPr>
          <p:nvPr>
            <p:ph type="title"/>
          </p:nvPr>
        </p:nvSpPr>
        <p:spPr>
          <a:xfrm>
            <a:off x="566055" y="395961"/>
            <a:ext cx="11059889" cy="877729"/>
          </a:xfrm>
        </p:spPr>
        <p:txBody>
          <a:bodyPr anchor="ctr">
            <a:noAutofit/>
          </a:bodyPr>
          <a:lstStyle/>
          <a:p>
            <a:r>
              <a:rPr lang="en-US" sz="4000" dirty="0">
                <a:solidFill>
                  <a:srgbClr val="FFFFFF"/>
                </a:solidFill>
                <a:latin typeface="Times New Roman" panose="02020603050405020304" pitchFamily="18" charset="0"/>
                <a:cs typeface="Times New Roman" panose="02020603050405020304" pitchFamily="18" charset="0"/>
              </a:rPr>
              <a:t>Additive Cipher with </a:t>
            </a:r>
            <a:r>
              <a:rPr lang="en-US" sz="4000" dirty="0" err="1">
                <a:solidFill>
                  <a:srgbClr val="FFFFFF"/>
                </a:solidFill>
                <a:latin typeface="Times New Roman" panose="02020603050405020304" pitchFamily="18" charset="0"/>
                <a:cs typeface="Times New Roman" panose="02020603050405020304" pitchFamily="18" charset="0"/>
              </a:rPr>
              <a:t>digram</a:t>
            </a:r>
            <a:r>
              <a:rPr lang="en-US" sz="4000" dirty="0">
                <a:solidFill>
                  <a:srgbClr val="FFFFFF"/>
                </a:solidFill>
                <a:latin typeface="Times New Roman" panose="02020603050405020304" pitchFamily="18" charset="0"/>
                <a:cs typeface="Times New Roman" panose="02020603050405020304" pitchFamily="18" charset="0"/>
              </a:rPr>
              <a:t> (Numerical 2) </a:t>
            </a:r>
            <a:r>
              <a:rPr lang="en-US" sz="4000" i="1" dirty="0">
                <a:solidFill>
                  <a:srgbClr val="FF0000"/>
                </a:solidFill>
                <a:latin typeface="Times New Roman" panose="02020603050405020304" pitchFamily="18" charset="0"/>
                <a:cs typeface="Times New Roman" panose="02020603050405020304" pitchFamily="18" charset="0"/>
              </a:rPr>
              <a:t>(Contd..)</a:t>
            </a:r>
          </a:p>
        </p:txBody>
      </p:sp>
      <p:graphicFrame>
        <p:nvGraphicFramePr>
          <p:cNvPr id="6" name="Content Placeholder 5">
            <a:extLst>
              <a:ext uri="{FF2B5EF4-FFF2-40B4-BE49-F238E27FC236}">
                <a16:creationId xmlns:a16="http://schemas.microsoft.com/office/drawing/2014/main" id="{5B2D8E5C-DA1B-9AC3-90FC-EFC73708D5B5}"/>
              </a:ext>
            </a:extLst>
          </p:cNvPr>
          <p:cNvGraphicFramePr>
            <a:graphicFrameLocks/>
          </p:cNvGraphicFramePr>
          <p:nvPr>
            <p:extLst>
              <p:ext uri="{D42A27DB-BD31-4B8C-83A1-F6EECF244321}">
                <p14:modId xmlns:p14="http://schemas.microsoft.com/office/powerpoint/2010/main" val="2425042547"/>
              </p:ext>
            </p:extLst>
          </p:nvPr>
        </p:nvGraphicFramePr>
        <p:xfrm>
          <a:off x="2615838" y="2287238"/>
          <a:ext cx="7391401" cy="396240"/>
        </p:xfrm>
        <a:graphic>
          <a:graphicData uri="http://schemas.openxmlformats.org/drawingml/2006/table">
            <a:tbl>
              <a:tblPr firstRow="1" bandRow="1">
                <a:tableStyleId>{5C22544A-7EE6-4342-B048-85BDC9FD1C3A}</a:tableStyleId>
              </a:tblPr>
              <a:tblGrid>
                <a:gridCol w="7391401">
                  <a:extLst>
                    <a:ext uri="{9D8B030D-6E8A-4147-A177-3AD203B41FA5}">
                      <a16:colId xmlns:a16="http://schemas.microsoft.com/office/drawing/2014/main" val="393379396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 = (c-k) mod 676 = (c-500) mod 676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6081196"/>
                  </a:ext>
                </a:extLst>
              </a:tr>
            </a:tbl>
          </a:graphicData>
        </a:graphic>
      </p:graphicFrame>
      <p:graphicFrame>
        <p:nvGraphicFramePr>
          <p:cNvPr id="8" name="Table 7">
            <a:extLst>
              <a:ext uri="{FF2B5EF4-FFF2-40B4-BE49-F238E27FC236}">
                <a16:creationId xmlns:a16="http://schemas.microsoft.com/office/drawing/2014/main" id="{C1197DB4-9ED2-DD9B-1586-88EAF850401B}"/>
              </a:ext>
            </a:extLst>
          </p:cNvPr>
          <p:cNvGraphicFramePr>
            <a:graphicFrameLocks noGrp="1"/>
          </p:cNvGraphicFramePr>
          <p:nvPr>
            <p:extLst>
              <p:ext uri="{D42A27DB-BD31-4B8C-83A1-F6EECF244321}">
                <p14:modId xmlns:p14="http://schemas.microsoft.com/office/powerpoint/2010/main" val="1162736456"/>
              </p:ext>
            </p:extLst>
          </p:nvPr>
        </p:nvGraphicFramePr>
        <p:xfrm>
          <a:off x="727079" y="3277309"/>
          <a:ext cx="11375572" cy="396240"/>
        </p:xfrm>
        <a:graphic>
          <a:graphicData uri="http://schemas.openxmlformats.org/drawingml/2006/table">
            <a:tbl>
              <a:tblPr firstRow="1" bandRow="1">
                <a:tableStyleId>{5C22544A-7EE6-4342-B048-85BDC9FD1C3A}</a:tableStyleId>
              </a:tblPr>
              <a:tblGrid>
                <a:gridCol w="2843893">
                  <a:extLst>
                    <a:ext uri="{9D8B030D-6E8A-4147-A177-3AD203B41FA5}">
                      <a16:colId xmlns:a16="http://schemas.microsoft.com/office/drawing/2014/main" val="3115195918"/>
                    </a:ext>
                  </a:extLst>
                </a:gridCol>
                <a:gridCol w="2843893">
                  <a:extLst>
                    <a:ext uri="{9D8B030D-6E8A-4147-A177-3AD203B41FA5}">
                      <a16:colId xmlns:a16="http://schemas.microsoft.com/office/drawing/2014/main" val="1274986028"/>
                    </a:ext>
                  </a:extLst>
                </a:gridCol>
                <a:gridCol w="2843893">
                  <a:extLst>
                    <a:ext uri="{9D8B030D-6E8A-4147-A177-3AD203B41FA5}">
                      <a16:colId xmlns:a16="http://schemas.microsoft.com/office/drawing/2014/main" val="1127144547"/>
                    </a:ext>
                  </a:extLst>
                </a:gridCol>
                <a:gridCol w="2843893">
                  <a:extLst>
                    <a:ext uri="{9D8B030D-6E8A-4147-A177-3AD203B41FA5}">
                      <a16:colId xmlns:a16="http://schemas.microsoft.com/office/drawing/2014/main" val="281890536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482 = 26*18+14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149 = 26*5+19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572 = 26*22+0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446 = 26*17+4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20887549"/>
                  </a:ext>
                </a:extLst>
              </a:tr>
            </a:tbl>
          </a:graphicData>
        </a:graphic>
      </p:graphicFrame>
      <p:cxnSp>
        <p:nvCxnSpPr>
          <p:cNvPr id="11" name="Straight Arrow Connector 10">
            <a:extLst>
              <a:ext uri="{FF2B5EF4-FFF2-40B4-BE49-F238E27FC236}">
                <a16:creationId xmlns:a16="http://schemas.microsoft.com/office/drawing/2014/main" id="{95CE6187-957E-520B-0027-1CE840E6E8D0}"/>
              </a:ext>
            </a:extLst>
          </p:cNvPr>
          <p:cNvCxnSpPr>
            <a:cxnSpLocks/>
          </p:cNvCxnSpPr>
          <p:nvPr/>
        </p:nvCxnSpPr>
        <p:spPr>
          <a:xfrm>
            <a:off x="6452013" y="2683478"/>
            <a:ext cx="0" cy="5938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A376446C-A49A-F722-E7AA-8E5B8277566D}"/>
              </a:ext>
            </a:extLst>
          </p:cNvPr>
          <p:cNvGraphicFramePr>
            <a:graphicFrameLocks noGrp="1"/>
          </p:cNvGraphicFramePr>
          <p:nvPr>
            <p:extLst>
              <p:ext uri="{D42A27DB-BD31-4B8C-83A1-F6EECF244321}">
                <p14:modId xmlns:p14="http://schemas.microsoft.com/office/powerpoint/2010/main" val="4246432493"/>
              </p:ext>
            </p:extLst>
          </p:nvPr>
        </p:nvGraphicFramePr>
        <p:xfrm>
          <a:off x="644056" y="4396021"/>
          <a:ext cx="11462660" cy="396240"/>
        </p:xfrm>
        <a:graphic>
          <a:graphicData uri="http://schemas.openxmlformats.org/drawingml/2006/table">
            <a:tbl>
              <a:tblPr firstRow="1" bandRow="1">
                <a:tableStyleId>{5C22544A-7EE6-4342-B048-85BDC9FD1C3A}</a:tableStyleId>
              </a:tblPr>
              <a:tblGrid>
                <a:gridCol w="2865665">
                  <a:extLst>
                    <a:ext uri="{9D8B030D-6E8A-4147-A177-3AD203B41FA5}">
                      <a16:colId xmlns:a16="http://schemas.microsoft.com/office/drawing/2014/main" val="3307064426"/>
                    </a:ext>
                  </a:extLst>
                </a:gridCol>
                <a:gridCol w="2865665">
                  <a:extLst>
                    <a:ext uri="{9D8B030D-6E8A-4147-A177-3AD203B41FA5}">
                      <a16:colId xmlns:a16="http://schemas.microsoft.com/office/drawing/2014/main" val="116642123"/>
                    </a:ext>
                  </a:extLst>
                </a:gridCol>
                <a:gridCol w="2865665">
                  <a:extLst>
                    <a:ext uri="{9D8B030D-6E8A-4147-A177-3AD203B41FA5}">
                      <a16:colId xmlns:a16="http://schemas.microsoft.com/office/drawing/2014/main" val="1251954458"/>
                    </a:ext>
                  </a:extLst>
                </a:gridCol>
                <a:gridCol w="2865665">
                  <a:extLst>
                    <a:ext uri="{9D8B030D-6E8A-4147-A177-3AD203B41FA5}">
                      <a16:colId xmlns:a16="http://schemas.microsoft.com/office/drawing/2014/main" val="1867638185"/>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so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wa</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53694766"/>
                  </a:ext>
                </a:extLst>
              </a:tr>
            </a:tbl>
          </a:graphicData>
        </a:graphic>
      </p:graphicFrame>
      <p:cxnSp>
        <p:nvCxnSpPr>
          <p:cNvPr id="15" name="Straight Arrow Connector 14">
            <a:extLst>
              <a:ext uri="{FF2B5EF4-FFF2-40B4-BE49-F238E27FC236}">
                <a16:creationId xmlns:a16="http://schemas.microsoft.com/office/drawing/2014/main" id="{4230CBBF-FA65-CFDB-C7F2-5373EC1527F5}"/>
              </a:ext>
            </a:extLst>
          </p:cNvPr>
          <p:cNvCxnSpPr>
            <a:cxnSpLocks/>
            <a:stCxn id="8" idx="2"/>
            <a:endCxn id="13" idx="0"/>
          </p:cNvCxnSpPr>
          <p:nvPr/>
        </p:nvCxnSpPr>
        <p:spPr>
          <a:xfrm flipH="1">
            <a:off x="6375386" y="3673549"/>
            <a:ext cx="39479" cy="7224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9708C59-E86C-C6A8-5A0D-3FAC950EA7C2}"/>
              </a:ext>
            </a:extLst>
          </p:cNvPr>
          <p:cNvSpPr txBox="1"/>
          <p:nvPr/>
        </p:nvSpPr>
        <p:spPr>
          <a:xfrm>
            <a:off x="644056" y="5631918"/>
            <a:ext cx="8374887" cy="498807"/>
          </a:xfrm>
          <a:prstGeom prst="rect">
            <a:avLst/>
          </a:prstGeom>
          <a:noFill/>
        </p:spPr>
        <p:txBody>
          <a:bodyPr wrap="square" rtlCol="0">
            <a:spAutoFit/>
          </a:bodyPr>
          <a:lstStyle/>
          <a:p>
            <a:pPr marL="325755" indent="-325755" defTabSz="868680">
              <a:spcAft>
                <a:spcPts val="600"/>
              </a:spcAft>
              <a:buFont typeface="Arial" panose="020B0604020202020204" pitchFamily="34" charset="0"/>
              <a:buChar char="•"/>
            </a:pPr>
            <a:r>
              <a:rPr lang="en-US" sz="2660" kern="1200" dirty="0">
                <a:solidFill>
                  <a:schemeClr val="tx1"/>
                </a:solidFill>
                <a:latin typeface="Times New Roman" panose="02020603050405020304" pitchFamily="18" charset="0"/>
                <a:ea typeface="+mn-ea"/>
                <a:cs typeface="Times New Roman" panose="02020603050405020304" pitchFamily="18" charset="0"/>
              </a:rPr>
              <a:t>The </a:t>
            </a:r>
            <a:r>
              <a:rPr lang="en-US" sz="2660" dirty="0">
                <a:latin typeface="Times New Roman" panose="02020603050405020304" pitchFamily="18" charset="0"/>
                <a:cs typeface="Times New Roman" panose="02020603050405020304" pitchFamily="18" charset="0"/>
              </a:rPr>
              <a:t>decrypted</a:t>
            </a:r>
            <a:r>
              <a:rPr lang="en-US" sz="2660" kern="1200" dirty="0">
                <a:solidFill>
                  <a:schemeClr val="tx1"/>
                </a:solidFill>
                <a:latin typeface="Times New Roman" panose="02020603050405020304" pitchFamily="18" charset="0"/>
                <a:ea typeface="+mn-ea"/>
                <a:cs typeface="Times New Roman" panose="02020603050405020304" pitchFamily="18" charset="0"/>
              </a:rPr>
              <a:t> text is </a:t>
            </a:r>
            <a:r>
              <a:rPr lang="en-US" sz="2660" b="1" dirty="0">
                <a:solidFill>
                  <a:srgbClr val="B30000"/>
                </a:solidFill>
                <a:latin typeface="Times New Roman" panose="02020603050405020304" pitchFamily="18" charset="0"/>
                <a:cs typeface="Times New Roman" panose="02020603050405020304" pitchFamily="18" charset="0"/>
              </a:rPr>
              <a:t>software</a:t>
            </a:r>
            <a:r>
              <a:rPr lang="en-US" sz="2660" kern="1200" dirty="0">
                <a:solidFill>
                  <a:schemeClr val="tx1"/>
                </a:solidFill>
                <a:latin typeface="Times New Roman" panose="02020603050405020304" pitchFamily="18" charset="0"/>
                <a:ea typeface="+mn-ea"/>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22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anim calcmode="lin" valueType="num">
                                      <p:cBhvr additive="base">
                                        <p:cTn id="25"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Caesar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5262979"/>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 = (p+3) mod 26</a:t>
            </a: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 = (c-3) mod 26</a:t>
            </a: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Ciphertext corresponding to the plaintext “</a:t>
            </a:r>
            <a:r>
              <a:rPr lang="en-US" sz="2800" dirty="0" err="1">
                <a:solidFill>
                  <a:srgbClr val="FF0000"/>
                </a:solidFill>
                <a:latin typeface="Times New Roman" panose="02020603050405020304" pitchFamily="18" charset="0"/>
                <a:cs typeface="Times New Roman" panose="02020603050405020304" pitchFamily="18" charset="0"/>
              </a:rPr>
              <a:t>udupi</a:t>
            </a:r>
            <a:r>
              <a:rPr lang="en-US" sz="2800" dirty="0">
                <a:solidFill>
                  <a:srgbClr val="FF0000"/>
                </a:solidFill>
                <a:latin typeface="Times New Roman" panose="02020603050405020304" pitchFamily="18" charset="0"/>
                <a:cs typeface="Times New Roman" panose="02020603050405020304" pitchFamily="18" charset="0"/>
              </a:rPr>
              <a:t>” is “</a:t>
            </a:r>
            <a:r>
              <a:rPr lang="en-US" sz="2800" dirty="0" err="1">
                <a:solidFill>
                  <a:srgbClr val="FF0000"/>
                </a:solidFill>
                <a:latin typeface="Times New Roman" panose="02020603050405020304" pitchFamily="18" charset="0"/>
                <a:cs typeface="Times New Roman" panose="02020603050405020304" pitchFamily="18" charset="0"/>
              </a:rPr>
              <a:t>xgxsl</a:t>
            </a:r>
            <a:r>
              <a:rPr lang="en-US" sz="2800" dirty="0">
                <a:solidFill>
                  <a:srgbClr val="FF0000"/>
                </a:solidFill>
                <a:latin typeface="Times New Roman" panose="02020603050405020304" pitchFamily="18" charset="0"/>
                <a:cs typeface="Times New Roman" panose="02020603050405020304" pitchFamily="18" charset="0"/>
              </a:rPr>
              <a:t>”</a:t>
            </a:r>
          </a:p>
          <a:p>
            <a:endParaRPr lang="en-US" sz="28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 Plaintext corresponding to the ciphertext “</a:t>
            </a:r>
            <a:r>
              <a:rPr lang="en-US" sz="2800" dirty="0" err="1">
                <a:solidFill>
                  <a:srgbClr val="FF0000"/>
                </a:solidFill>
                <a:latin typeface="Times New Roman" panose="02020603050405020304" pitchFamily="18" charset="0"/>
                <a:cs typeface="Times New Roman" panose="02020603050405020304" pitchFamily="18" charset="0"/>
              </a:rPr>
              <a:t>pdqlsdo</a:t>
            </a:r>
            <a:r>
              <a:rPr lang="en-US" sz="2800" dirty="0">
                <a:solidFill>
                  <a:srgbClr val="FF0000"/>
                </a:solidFill>
                <a:latin typeface="Times New Roman" panose="02020603050405020304" pitchFamily="18" charset="0"/>
                <a:cs typeface="Times New Roman" panose="02020603050405020304" pitchFamily="18" charset="0"/>
              </a:rPr>
              <a:t>” is “</a:t>
            </a:r>
            <a:r>
              <a:rPr lang="en-US" sz="2800" dirty="0" err="1">
                <a:solidFill>
                  <a:srgbClr val="FF0000"/>
                </a:solidFill>
                <a:latin typeface="Times New Roman" panose="02020603050405020304" pitchFamily="18" charset="0"/>
                <a:cs typeface="Times New Roman" panose="02020603050405020304" pitchFamily="18" charset="0"/>
              </a:rPr>
              <a:t>manipal</a:t>
            </a:r>
            <a:r>
              <a:rPr lang="en-US" sz="2800" dirty="0">
                <a:solidFill>
                  <a:srgbClr val="FF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8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However, Caesar cipher is generalized as additive cipher to use key of </a:t>
            </a:r>
            <a:r>
              <a:rPr lang="en-US" sz="2800">
                <a:latin typeface="Times New Roman" panose="02020603050405020304" pitchFamily="18" charset="0"/>
                <a:cs typeface="Times New Roman" panose="02020603050405020304" pitchFamily="18" charset="0"/>
              </a:rPr>
              <a:t>any value.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178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 calcmode="lin" valueType="num">
                                      <p:cBhvr additive="base">
                                        <p:cTn id="3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Additive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Demands negligible computational resources.</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Highly vulnerable to BFA.</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Statistical attack.</a:t>
            </a:r>
          </a:p>
        </p:txBody>
      </p:sp>
    </p:spTree>
    <p:extLst>
      <p:ext uri="{BB962C8B-B14F-4D97-AF65-F5344CB8AC3E}">
        <p14:creationId xmlns:p14="http://schemas.microsoft.com/office/powerpoint/2010/main" val="428816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FF26-8ABA-1A83-9C57-64BE85F049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5DE737-F757-E41A-3789-432646FB1758}"/>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Multiplicative Cipher</a:t>
            </a:r>
          </a:p>
        </p:txBody>
      </p:sp>
    </p:spTree>
    <p:extLst>
      <p:ext uri="{BB962C8B-B14F-4D97-AF65-F5344CB8AC3E}">
        <p14:creationId xmlns:p14="http://schemas.microsoft.com/office/powerpoint/2010/main" val="3793934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2EC19B-AD31-CCF8-E2C8-0E854050A54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12C0D6-DD01-9C16-6911-8FED780E7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94B979-B9A4-2F27-11A7-ED793C06938A}"/>
              </a:ext>
            </a:extLst>
          </p:cNvPr>
          <p:cNvSpPr>
            <a:spLocks noGrp="1"/>
          </p:cNvSpPr>
          <p:nvPr>
            <p:ph type="title"/>
          </p:nvPr>
        </p:nvSpPr>
        <p:spPr>
          <a:xfrm>
            <a:off x="54864" y="640823"/>
            <a:ext cx="4212336" cy="5583148"/>
          </a:xfrm>
        </p:spPr>
        <p:txBody>
          <a:bodyPr anchor="ctr">
            <a:normAutofit/>
          </a:bodyPr>
          <a:lstStyle/>
          <a:p>
            <a:r>
              <a:rPr lang="en-US" sz="5400" dirty="0">
                <a:latin typeface="Times New Roman" panose="02020603050405020304" pitchFamily="18" charset="0"/>
                <a:cs typeface="Times New Roman" panose="02020603050405020304" pitchFamily="18" charset="0"/>
              </a:rPr>
              <a:t>Multiplicative Cipher</a:t>
            </a:r>
          </a:p>
        </p:txBody>
      </p:sp>
      <p:sp>
        <p:nvSpPr>
          <p:cNvPr id="12" name="sketch line">
            <a:extLst>
              <a:ext uri="{FF2B5EF4-FFF2-40B4-BE49-F238E27FC236}">
                <a16:creationId xmlns:a16="http://schemas.microsoft.com/office/drawing/2014/main" id="{79477430-26F3-57A4-F3C1-08260C78E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F63183-E578-D127-E397-1F4EF7E92303}"/>
              </a:ext>
            </a:extLst>
          </p:cNvPr>
          <p:cNvSpPr>
            <a:spLocks noGrp="1"/>
          </p:cNvSpPr>
          <p:nvPr>
            <p:ph idx="1"/>
          </p:nvPr>
        </p:nvSpPr>
        <p:spPr>
          <a:xfrm>
            <a:off x="4620111" y="3938605"/>
            <a:ext cx="6894576" cy="1428487"/>
          </a:xfrm>
        </p:spPr>
        <p:txBody>
          <a:bodyPr anchor="t">
            <a:normAutofit fontScale="55000" lnSpcReduction="20000"/>
          </a:bodyPr>
          <a:lstStyle/>
          <a:p>
            <a:r>
              <a:rPr lang="en-US" sz="4500" dirty="0">
                <a:latin typeface="Times New Roman" panose="02020603050405020304" pitchFamily="18" charset="0"/>
                <a:cs typeface="Times New Roman" panose="02020603050405020304" pitchFamily="18" charset="0"/>
              </a:rPr>
              <a:t>PT characters are multiplied during encryption.</a:t>
            </a:r>
          </a:p>
          <a:p>
            <a:r>
              <a:rPr lang="en-US" sz="4500" dirty="0">
                <a:latin typeface="Times New Roman" panose="02020603050405020304" pitchFamily="18" charset="0"/>
                <a:cs typeface="Times New Roman" panose="02020603050405020304" pitchFamily="18" charset="0"/>
              </a:rPr>
              <a:t>CT characters are multiplied by Multiplicative Inverse of the key mod 26.</a:t>
            </a:r>
          </a:p>
          <a:p>
            <a:r>
              <a:rPr lang="en-US" sz="4500" dirty="0">
                <a:latin typeface="Times New Roman" panose="02020603050405020304" pitchFamily="18" charset="0"/>
                <a:cs typeface="Times New Roman" panose="02020603050405020304" pitchFamily="18" charset="0"/>
              </a:rPr>
              <a:t>Key should belong Z</a:t>
            </a:r>
            <a:r>
              <a:rPr lang="en-US" sz="4500" baseline="-25000" dirty="0">
                <a:latin typeface="Times New Roman" panose="02020603050405020304" pitchFamily="18" charset="0"/>
                <a:cs typeface="Times New Roman" panose="02020603050405020304" pitchFamily="18" charset="0"/>
              </a:rPr>
              <a:t>26</a:t>
            </a:r>
            <a:r>
              <a:rPr lang="en-US" sz="4500" baseline="30000" dirty="0">
                <a:latin typeface="Times New Roman" panose="02020603050405020304" pitchFamily="18" charset="0"/>
                <a:cs typeface="Times New Roman" panose="02020603050405020304" pitchFamily="18" charset="0"/>
              </a:rPr>
              <a:t>*</a:t>
            </a:r>
            <a:r>
              <a:rPr lang="en-US" sz="4500" dirty="0">
                <a:latin typeface="Times New Roman" panose="02020603050405020304" pitchFamily="18" charset="0"/>
                <a:cs typeface="Times New Roman" panose="02020603050405020304" pitchFamily="18" charset="0"/>
              </a:rPr>
              <a:t> </a:t>
            </a:r>
          </a:p>
          <a:p>
            <a:pPr marL="0" indent="0">
              <a:buNone/>
            </a:pP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772A042-9AF3-1A34-02D8-2B6C851A83F2}"/>
              </a:ext>
            </a:extLst>
          </p:cNvPr>
          <p:cNvPicPr>
            <a:picLocks noChangeAspect="1"/>
          </p:cNvPicPr>
          <p:nvPr/>
        </p:nvPicPr>
        <p:blipFill>
          <a:blip r:embed="rId2"/>
          <a:stretch>
            <a:fillRect/>
          </a:stretch>
        </p:blipFill>
        <p:spPr>
          <a:xfrm>
            <a:off x="4585926" y="450137"/>
            <a:ext cx="6962946" cy="2848233"/>
          </a:xfrm>
          <a:prstGeom prst="rect">
            <a:avLst/>
          </a:prstGeom>
        </p:spPr>
      </p:pic>
    </p:spTree>
    <p:extLst>
      <p:ext uri="{BB962C8B-B14F-4D97-AF65-F5344CB8AC3E}">
        <p14:creationId xmlns:p14="http://schemas.microsoft.com/office/powerpoint/2010/main" val="175181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34CCAC-8193-0EE2-062D-AAE4B3AE178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0DEBEC3-BA37-86ED-9BC7-4663669A2E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486C974-82B2-94EF-D82D-3C86708B7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484EAF4-BE35-AEDA-9DE9-AC7E6B63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948546E-58B4-01B8-D941-4C5C03442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6665449-BADC-26C6-C8BD-A6A9D8662C0A}"/>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27F4E5D3-756B-ED42-0F01-01EB3348D031}"/>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kern="1200" dirty="0">
                <a:solidFill>
                  <a:schemeClr val="tx1"/>
                </a:solidFill>
                <a:latin typeface="Times New Roman" panose="02020603050405020304" pitchFamily="18" charset="0"/>
                <a:ea typeface="+mn-ea"/>
                <a:cs typeface="Times New Roman" panose="02020603050405020304" pitchFamily="18" charset="0"/>
              </a:rPr>
              <a:t>Encrypt the message </a:t>
            </a:r>
            <a:r>
              <a:rPr lang="en-US" sz="2400" b="1" kern="1200" dirty="0" err="1">
                <a:solidFill>
                  <a:schemeClr val="tx1"/>
                </a:solidFill>
                <a:latin typeface="Times New Roman" panose="02020603050405020304" pitchFamily="18" charset="0"/>
                <a:ea typeface="+mn-ea"/>
                <a:cs typeface="Times New Roman" panose="02020603050405020304" pitchFamily="18" charset="0"/>
              </a:rPr>
              <a:t>manipal</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15, and </a:t>
            </a:r>
            <a:r>
              <a:rPr lang="en-US" sz="2400" dirty="0">
                <a:latin typeface="Times New Roman" panose="02020603050405020304" pitchFamily="18" charset="0"/>
                <a:cs typeface="Times New Roman" panose="02020603050405020304" pitchFamily="18" charset="0"/>
              </a:rPr>
              <a:t>multiplicative</a:t>
            </a:r>
            <a:r>
              <a:rPr lang="en-US" sz="2400" kern="1200" dirty="0">
                <a:solidFill>
                  <a:schemeClr val="tx1"/>
                </a:solidFill>
                <a:latin typeface="Times New Roman" panose="02020603050405020304" pitchFamily="18" charset="0"/>
                <a:ea typeface="+mn-ea"/>
                <a:cs typeface="Times New Roman" panose="02020603050405020304" pitchFamily="18" charset="0"/>
              </a:rPr>
              <a:t>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C2FC46F-A2C7-19C4-72A1-E9BE2A1C4364}"/>
              </a:ext>
            </a:extLst>
          </p:cNvPr>
          <p:cNvGraphicFramePr>
            <a:graphicFrameLocks noGrp="1"/>
          </p:cNvGraphicFramePr>
          <p:nvPr/>
        </p:nvGraphicFramePr>
        <p:xfrm>
          <a:off x="2789673" y="3886630"/>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501654C9-5423-C698-1F80-9EFC355D3213}"/>
              </a:ext>
            </a:extLst>
          </p:cNvPr>
          <p:cNvGraphicFramePr>
            <a:graphicFrameLocks noGrp="1"/>
          </p:cNvGraphicFramePr>
          <p:nvPr/>
        </p:nvGraphicFramePr>
        <p:xfrm>
          <a:off x="2789673" y="4766384"/>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FBD9A163-FD15-3DAB-7AFB-E15F8F16B6B9}"/>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kern="1200" dirty="0">
                <a:solidFill>
                  <a:srgbClr val="B30000"/>
                </a:solidFill>
                <a:latin typeface="Times New Roman" panose="02020603050405020304" pitchFamily="18" charset="0"/>
                <a:cs typeface="Times New Roman" panose="02020603050405020304" pitchFamily="18" charset="0"/>
              </a:rPr>
              <a:t>c = (p*k) mod 26 = (p*15)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BB1F9387-5AEE-B195-EB69-B256EB4FF241}"/>
              </a:ext>
            </a:extLst>
          </p:cNvPr>
          <p:cNvCxnSpPr>
            <a:cxnSpLocks/>
            <a:stCxn id="4" idx="2"/>
            <a:endCxn id="5" idx="0"/>
          </p:cNvCxnSpPr>
          <p:nvPr/>
        </p:nvCxnSpPr>
        <p:spPr>
          <a:xfrm>
            <a:off x="6853673"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CE2BEB9-883B-28C2-DBC6-5C9A80091691}"/>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986A7AA-6D6D-F993-9A49-FA080782309A}"/>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54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42B428-9544-834F-2D9E-E0936482FDF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A8D29C5-93AF-B50B-24BB-18F3F3DF6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7144B34-4F69-51B1-DCD1-49CFCBBDD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790BB0-7E80-1707-0062-829B7C21A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078BC9E-2D1B-B78F-AF96-9633879B5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D40D42E-BDA1-EA07-FBA9-505A0D55A04E}"/>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F77ADE0F-84C3-09A4-29B6-65861EAD5048}"/>
              </a:ext>
            </a:extLst>
          </p:cNvPr>
          <p:cNvGraphicFramePr>
            <a:graphicFrameLocks/>
          </p:cNvGraphicFramePr>
          <p:nvPr>
            <p:extLst>
              <p:ext uri="{D42A27DB-BD31-4B8C-83A1-F6EECF244321}">
                <p14:modId xmlns:p14="http://schemas.microsoft.com/office/powerpoint/2010/main" val="522599465"/>
              </p:ext>
            </p:extLst>
          </p:nvPr>
        </p:nvGraphicFramePr>
        <p:xfrm>
          <a:off x="644063" y="2770284"/>
          <a:ext cx="10515596" cy="396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56479667"/>
                    </a:ext>
                  </a:extLst>
                </a:gridCol>
                <a:gridCol w="1502228">
                  <a:extLst>
                    <a:ext uri="{9D8B030D-6E8A-4147-A177-3AD203B41FA5}">
                      <a16:colId xmlns:a16="http://schemas.microsoft.com/office/drawing/2014/main" val="1492750462"/>
                    </a:ext>
                  </a:extLst>
                </a:gridCol>
                <a:gridCol w="1502228">
                  <a:extLst>
                    <a:ext uri="{9D8B030D-6E8A-4147-A177-3AD203B41FA5}">
                      <a16:colId xmlns:a16="http://schemas.microsoft.com/office/drawing/2014/main" val="1090095785"/>
                    </a:ext>
                  </a:extLst>
                </a:gridCol>
                <a:gridCol w="1502228">
                  <a:extLst>
                    <a:ext uri="{9D8B030D-6E8A-4147-A177-3AD203B41FA5}">
                      <a16:colId xmlns:a16="http://schemas.microsoft.com/office/drawing/2014/main" val="2489026204"/>
                    </a:ext>
                  </a:extLst>
                </a:gridCol>
                <a:gridCol w="1502228">
                  <a:extLst>
                    <a:ext uri="{9D8B030D-6E8A-4147-A177-3AD203B41FA5}">
                      <a16:colId xmlns:a16="http://schemas.microsoft.com/office/drawing/2014/main" val="2286868626"/>
                    </a:ext>
                  </a:extLst>
                </a:gridCol>
                <a:gridCol w="1502228">
                  <a:extLst>
                    <a:ext uri="{9D8B030D-6E8A-4147-A177-3AD203B41FA5}">
                      <a16:colId xmlns:a16="http://schemas.microsoft.com/office/drawing/2014/main" val="3567624916"/>
                    </a:ext>
                  </a:extLst>
                </a:gridCol>
                <a:gridCol w="1502228">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CCBFDEC8-9C25-999E-E9F1-0DB090C3C248}"/>
              </a:ext>
            </a:extLst>
          </p:cNvPr>
          <p:cNvGraphicFramePr>
            <a:graphicFrameLocks noGrp="1"/>
          </p:cNvGraphicFramePr>
          <p:nvPr>
            <p:extLst>
              <p:ext uri="{D42A27DB-BD31-4B8C-83A1-F6EECF244321}">
                <p14:modId xmlns:p14="http://schemas.microsoft.com/office/powerpoint/2010/main" val="2174705073"/>
              </p:ext>
            </p:extLst>
          </p:nvPr>
        </p:nvGraphicFramePr>
        <p:xfrm>
          <a:off x="644056" y="3769080"/>
          <a:ext cx="10515603" cy="396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39594564"/>
                    </a:ext>
                  </a:extLst>
                </a:gridCol>
                <a:gridCol w="1502229">
                  <a:extLst>
                    <a:ext uri="{9D8B030D-6E8A-4147-A177-3AD203B41FA5}">
                      <a16:colId xmlns:a16="http://schemas.microsoft.com/office/drawing/2014/main" val="695031733"/>
                    </a:ext>
                  </a:extLst>
                </a:gridCol>
                <a:gridCol w="1502229">
                  <a:extLst>
                    <a:ext uri="{9D8B030D-6E8A-4147-A177-3AD203B41FA5}">
                      <a16:colId xmlns:a16="http://schemas.microsoft.com/office/drawing/2014/main" val="682140076"/>
                    </a:ext>
                  </a:extLst>
                </a:gridCol>
                <a:gridCol w="1502229">
                  <a:extLst>
                    <a:ext uri="{9D8B030D-6E8A-4147-A177-3AD203B41FA5}">
                      <a16:colId xmlns:a16="http://schemas.microsoft.com/office/drawing/2014/main" val="2036262340"/>
                    </a:ext>
                  </a:extLst>
                </a:gridCol>
                <a:gridCol w="1502229">
                  <a:extLst>
                    <a:ext uri="{9D8B030D-6E8A-4147-A177-3AD203B41FA5}">
                      <a16:colId xmlns:a16="http://schemas.microsoft.com/office/drawing/2014/main" val="1694826755"/>
                    </a:ext>
                  </a:extLst>
                </a:gridCol>
                <a:gridCol w="1502229">
                  <a:extLst>
                    <a:ext uri="{9D8B030D-6E8A-4147-A177-3AD203B41FA5}">
                      <a16:colId xmlns:a16="http://schemas.microsoft.com/office/drawing/2014/main" val="277827796"/>
                    </a:ext>
                  </a:extLst>
                </a:gridCol>
                <a:gridCol w="1502229">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C26D465F-2829-94AE-1C40-5BE741D0BCC4}"/>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EF0BCF1-DAAC-789D-9770-C8A0191A18A4}"/>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encrypted message is </a:t>
            </a:r>
            <a:r>
              <a:rPr lang="en-US" sz="2884" b="1" dirty="0" err="1">
                <a:solidFill>
                  <a:srgbClr val="B30000"/>
                </a:solidFill>
                <a:latin typeface="Times New Roman" panose="02020603050405020304" pitchFamily="18" charset="0"/>
                <a:cs typeface="Times New Roman" panose="02020603050405020304" pitchFamily="18" charset="0"/>
              </a:rPr>
              <a:t>yanqraj</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131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30B505-1BC6-9149-0B14-FEA98A9DB755}"/>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08BCA3F-1172-E857-AEF0-0F4E414F3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005805-B8F4-D2B7-8477-C7C1013D2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BD68C42-1683-6E95-29A8-208237F29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A39EC24-3705-377F-9B4D-BBBA1D4E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BB7BC4-6FEA-9E06-89B2-B28690BA29E9}"/>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3DF0949A-316F-7544-0C29-A9F86567DFF7}"/>
              </a:ext>
            </a:extLst>
          </p:cNvPr>
          <p:cNvSpPr>
            <a:spLocks/>
          </p:cNvSpPr>
          <p:nvPr/>
        </p:nvSpPr>
        <p:spPr>
          <a:xfrm>
            <a:off x="337458" y="1775122"/>
            <a:ext cx="11571513" cy="1773621"/>
          </a:xfrm>
          <a:prstGeom prst="rect">
            <a:avLst/>
          </a:prstGeom>
        </p:spPr>
        <p:txBody>
          <a:bodyPr>
            <a:normAutofit/>
          </a:bodyPr>
          <a:lstStyle/>
          <a:p>
            <a:pPr defTabSz="667512">
              <a:spcAft>
                <a:spcPts val="600"/>
              </a:spcAft>
            </a:pPr>
            <a:r>
              <a:rPr lang="en-US" sz="2400" dirty="0">
                <a:latin typeface="Times New Roman" panose="02020603050405020304" pitchFamily="18" charset="0"/>
                <a:cs typeface="Times New Roman" panose="02020603050405020304" pitchFamily="18" charset="0"/>
              </a:rPr>
              <a:t>Decrypt</a:t>
            </a:r>
            <a:r>
              <a:rPr lang="en-US" sz="2400" kern="1200" dirty="0">
                <a:solidFill>
                  <a:schemeClr val="tx1"/>
                </a:solidFill>
                <a:latin typeface="Times New Roman" panose="02020603050405020304" pitchFamily="18" charset="0"/>
                <a:ea typeface="+mn-ea"/>
                <a:cs typeface="Times New Roman" panose="02020603050405020304" pitchFamily="18" charset="0"/>
              </a:rPr>
              <a:t> the message </a:t>
            </a:r>
            <a:r>
              <a:rPr lang="en-US" sz="2400" b="1" dirty="0" err="1">
                <a:latin typeface="Times New Roman" panose="02020603050405020304" pitchFamily="18" charset="0"/>
                <a:cs typeface="Times New Roman" panose="02020603050405020304" pitchFamily="18" charset="0"/>
              </a:rPr>
              <a:t>yanqraj</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15, and </a:t>
            </a:r>
            <a:r>
              <a:rPr lang="en-US" sz="2400" dirty="0">
                <a:latin typeface="Times New Roman" panose="02020603050405020304" pitchFamily="18" charset="0"/>
                <a:cs typeface="Times New Roman" panose="02020603050405020304" pitchFamily="18" charset="0"/>
              </a:rPr>
              <a:t>multiplicative</a:t>
            </a:r>
            <a:r>
              <a:rPr lang="en-US" sz="2400" kern="1200" dirty="0">
                <a:solidFill>
                  <a:schemeClr val="tx1"/>
                </a:solidFill>
                <a:latin typeface="Times New Roman" panose="02020603050405020304" pitchFamily="18" charset="0"/>
                <a:ea typeface="+mn-ea"/>
                <a:cs typeface="Times New Roman" panose="02020603050405020304" pitchFamily="18" charset="0"/>
              </a:rPr>
              <a:t>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E98705E-FBCD-C831-DF09-08D103BD4D7F}"/>
              </a:ext>
            </a:extLst>
          </p:cNvPr>
          <p:cNvGraphicFramePr>
            <a:graphicFrameLocks noGrp="1"/>
          </p:cNvGraphicFramePr>
          <p:nvPr>
            <p:extLst>
              <p:ext uri="{D42A27DB-BD31-4B8C-83A1-F6EECF244321}">
                <p14:modId xmlns:p14="http://schemas.microsoft.com/office/powerpoint/2010/main" val="4101538122"/>
              </p:ext>
            </p:extLst>
          </p:nvPr>
        </p:nvGraphicFramePr>
        <p:xfrm>
          <a:off x="3113314" y="2661932"/>
          <a:ext cx="5671456" cy="3108960"/>
        </p:xfrm>
        <a:graphic>
          <a:graphicData uri="http://schemas.openxmlformats.org/drawingml/2006/table">
            <a:tbl>
              <a:tblPr firstRow="1" bandRow="1">
                <a:tableStyleId>{5C22544A-7EE6-4342-B048-85BDC9FD1C3A}</a:tableStyleId>
              </a:tblPr>
              <a:tblGrid>
                <a:gridCol w="602445">
                  <a:extLst>
                    <a:ext uri="{9D8B030D-6E8A-4147-A177-3AD203B41FA5}">
                      <a16:colId xmlns:a16="http://schemas.microsoft.com/office/drawing/2014/main" val="207368680"/>
                    </a:ext>
                  </a:extLst>
                </a:gridCol>
                <a:gridCol w="823584">
                  <a:extLst>
                    <a:ext uri="{9D8B030D-6E8A-4147-A177-3AD203B41FA5}">
                      <a16:colId xmlns:a16="http://schemas.microsoft.com/office/drawing/2014/main" val="1490212617"/>
                    </a:ext>
                  </a:extLst>
                </a:gridCol>
                <a:gridCol w="544286">
                  <a:extLst>
                    <a:ext uri="{9D8B030D-6E8A-4147-A177-3AD203B41FA5}">
                      <a16:colId xmlns:a16="http://schemas.microsoft.com/office/drawing/2014/main" val="1088012350"/>
                    </a:ext>
                  </a:extLst>
                </a:gridCol>
                <a:gridCol w="892628">
                  <a:extLst>
                    <a:ext uri="{9D8B030D-6E8A-4147-A177-3AD203B41FA5}">
                      <a16:colId xmlns:a16="http://schemas.microsoft.com/office/drawing/2014/main" val="2671000485"/>
                    </a:ext>
                  </a:extLst>
                </a:gridCol>
                <a:gridCol w="947057">
                  <a:extLst>
                    <a:ext uri="{9D8B030D-6E8A-4147-A177-3AD203B41FA5}">
                      <a16:colId xmlns:a16="http://schemas.microsoft.com/office/drawing/2014/main" val="3669712960"/>
                    </a:ext>
                  </a:extLst>
                </a:gridCol>
                <a:gridCol w="743372">
                  <a:extLst>
                    <a:ext uri="{9D8B030D-6E8A-4147-A177-3AD203B41FA5}">
                      <a16:colId xmlns:a16="http://schemas.microsoft.com/office/drawing/2014/main" val="2508002949"/>
                    </a:ext>
                  </a:extLst>
                </a:gridCol>
                <a:gridCol w="1118084">
                  <a:extLst>
                    <a:ext uri="{9D8B030D-6E8A-4147-A177-3AD203B41FA5}">
                      <a16:colId xmlns:a16="http://schemas.microsoft.com/office/drawing/2014/main" val="1175734357"/>
                    </a:ext>
                  </a:extLst>
                </a:gridCol>
              </a:tblGrid>
              <a:tr h="502781">
                <a:tc>
                  <a:txBody>
                    <a:bodyPr/>
                    <a:lstStyle/>
                    <a:p>
                      <a:r>
                        <a:rPr lang="en-IN" sz="2800" dirty="0">
                          <a:latin typeface="Times New Roman" panose="02020603050405020304" pitchFamily="18" charset="0"/>
                          <a:cs typeface="Times New Roman" panose="02020603050405020304" pitchFamily="18" charset="0"/>
                        </a:rPr>
                        <a:t>q</a:t>
                      </a:r>
                    </a:p>
                  </a:txBody>
                  <a:tcPr/>
                </a:tc>
                <a:tc>
                  <a:txBody>
                    <a:bodyPr/>
                    <a:lstStyle/>
                    <a:p>
                      <a:r>
                        <a:rPr lang="en-IN" sz="2800" dirty="0">
                          <a:latin typeface="Times New Roman" panose="02020603050405020304" pitchFamily="18" charset="0"/>
                          <a:cs typeface="Times New Roman" panose="02020603050405020304" pitchFamily="18" charset="0"/>
                        </a:rPr>
                        <a:t>a</a:t>
                      </a:r>
                    </a:p>
                  </a:txBody>
                  <a:tcPr/>
                </a:tc>
                <a:tc>
                  <a:txBody>
                    <a:bodyPr/>
                    <a:lstStyle/>
                    <a:p>
                      <a:r>
                        <a:rPr lang="en-IN" sz="2800" dirty="0">
                          <a:latin typeface="Times New Roman" panose="02020603050405020304" pitchFamily="18" charset="0"/>
                          <a:cs typeface="Times New Roman" panose="02020603050405020304" pitchFamily="18" charset="0"/>
                        </a:rPr>
                        <a:t>b</a:t>
                      </a:r>
                    </a:p>
                  </a:txBody>
                  <a:tcPr/>
                </a:tc>
                <a:tc>
                  <a:txBody>
                    <a:bodyPr/>
                    <a:lstStyle/>
                    <a:p>
                      <a:r>
                        <a:rPr lang="en-IN" sz="2800" dirty="0">
                          <a:latin typeface="Times New Roman" panose="02020603050405020304" pitchFamily="18" charset="0"/>
                          <a:cs typeface="Times New Roman" panose="02020603050405020304" pitchFamily="18" charset="0"/>
                        </a:rPr>
                        <a:t>r</a:t>
                      </a:r>
                    </a:p>
                  </a:txBody>
                  <a:tcPr/>
                </a:tc>
                <a:tc>
                  <a:txBody>
                    <a:bodyPr/>
                    <a:lstStyle/>
                    <a:p>
                      <a:r>
                        <a:rPr lang="en-IN" sz="2800" dirty="0">
                          <a:latin typeface="Times New Roman" panose="02020603050405020304" pitchFamily="18" charset="0"/>
                          <a:cs typeface="Times New Roman" panose="02020603050405020304" pitchFamily="18" charset="0"/>
                        </a:rPr>
                        <a:t>v1</a:t>
                      </a:r>
                    </a:p>
                  </a:txBody>
                  <a:tcPr/>
                </a:tc>
                <a:tc>
                  <a:txBody>
                    <a:bodyPr/>
                    <a:lstStyle/>
                    <a:p>
                      <a:r>
                        <a:rPr lang="en-IN" sz="2800" dirty="0">
                          <a:latin typeface="Times New Roman" panose="02020603050405020304" pitchFamily="18" charset="0"/>
                          <a:cs typeface="Times New Roman" panose="02020603050405020304" pitchFamily="18" charset="0"/>
                        </a:rPr>
                        <a:t>v2</a:t>
                      </a:r>
                    </a:p>
                  </a:txBody>
                  <a:tcPr/>
                </a:tc>
                <a:tc>
                  <a:txBody>
                    <a:bodyPr/>
                    <a:lstStyle/>
                    <a:p>
                      <a:r>
                        <a:rPr lang="en-IN" sz="2800" dirty="0">
                          <a:latin typeface="Times New Roman" panose="02020603050405020304" pitchFamily="18" charset="0"/>
                          <a:cs typeface="Times New Roman" panose="02020603050405020304" pitchFamily="18" charset="0"/>
                        </a:rPr>
                        <a:t>v</a:t>
                      </a:r>
                    </a:p>
                  </a:txBody>
                  <a:tcPr/>
                </a:tc>
                <a:extLst>
                  <a:ext uri="{0D108BD9-81ED-4DB2-BD59-A6C34878D82A}">
                    <a16:rowId xmlns:a16="http://schemas.microsoft.com/office/drawing/2014/main" val="452595859"/>
                  </a:ext>
                </a:extLst>
              </a:tr>
              <a:tr h="502781">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26</a:t>
                      </a:r>
                    </a:p>
                  </a:txBody>
                  <a:tcPr/>
                </a:tc>
                <a:tc>
                  <a:txBody>
                    <a:bodyPr/>
                    <a:lstStyle/>
                    <a:p>
                      <a:r>
                        <a:rPr lang="en-IN" sz="2800" dirty="0">
                          <a:latin typeface="Times New Roman" panose="02020603050405020304" pitchFamily="18" charset="0"/>
                          <a:cs typeface="Times New Roman" panose="02020603050405020304" pitchFamily="18" charset="0"/>
                        </a:rPr>
                        <a:t>15</a:t>
                      </a:r>
                    </a:p>
                  </a:txBody>
                  <a:tcPr/>
                </a:tc>
                <a:tc>
                  <a:txBody>
                    <a:bodyPr/>
                    <a:lstStyle/>
                    <a:p>
                      <a:r>
                        <a:rPr lang="en-IN" sz="2800" dirty="0">
                          <a:latin typeface="Times New Roman" panose="02020603050405020304" pitchFamily="18" charset="0"/>
                          <a:cs typeface="Times New Roman" panose="02020603050405020304" pitchFamily="18" charset="0"/>
                        </a:rPr>
                        <a:t>11</a:t>
                      </a:r>
                    </a:p>
                  </a:txBody>
                  <a:tcPr/>
                </a:tc>
                <a:tc>
                  <a:txBody>
                    <a:bodyPr/>
                    <a:lstStyle/>
                    <a:p>
                      <a:r>
                        <a:rPr lang="en-IN" sz="2800" dirty="0">
                          <a:latin typeface="Times New Roman" panose="02020603050405020304" pitchFamily="18" charset="0"/>
                          <a:cs typeface="Times New Roman" panose="02020603050405020304" pitchFamily="18" charset="0"/>
                        </a:rPr>
                        <a:t>0</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588862731"/>
                  </a:ext>
                </a:extLst>
              </a:tr>
              <a:tr h="502781">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15</a:t>
                      </a:r>
                    </a:p>
                  </a:txBody>
                  <a:tcPr/>
                </a:tc>
                <a:tc>
                  <a:txBody>
                    <a:bodyPr/>
                    <a:lstStyle/>
                    <a:p>
                      <a:r>
                        <a:rPr lang="en-IN" sz="2800" dirty="0">
                          <a:latin typeface="Times New Roman" panose="02020603050405020304" pitchFamily="18" charset="0"/>
                          <a:cs typeface="Times New Roman" panose="02020603050405020304" pitchFamily="18" charset="0"/>
                        </a:rPr>
                        <a:t>11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4199107464"/>
                  </a:ext>
                </a:extLst>
              </a:tr>
              <a:tr h="502781">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11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984614299"/>
                  </a:ext>
                </a:extLst>
              </a:tr>
              <a:tr h="502781">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tc>
                  <a:txBody>
                    <a:bodyPr/>
                    <a:lstStyle/>
                    <a:p>
                      <a:r>
                        <a:rPr lang="en-IN" sz="2800" dirty="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1853615369"/>
                  </a:ext>
                </a:extLst>
              </a:tr>
              <a:tr h="502781">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0</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tc>
                  <a:txBody>
                    <a:bodyPr/>
                    <a:lstStyle/>
                    <a:p>
                      <a:r>
                        <a:rPr lang="en-IN" sz="2800" dirty="0">
                          <a:solidFill>
                            <a:srgbClr val="FF0000"/>
                          </a:solidFill>
                          <a:latin typeface="Times New Roman" panose="02020603050405020304" pitchFamily="18" charset="0"/>
                          <a:cs typeface="Times New Roman" panose="02020603050405020304" pitchFamily="18" charset="0"/>
                        </a:rPr>
                        <a:t>7</a:t>
                      </a:r>
                    </a:p>
                  </a:txBody>
                  <a:tcPr/>
                </a:tc>
                <a:tc>
                  <a:txBody>
                    <a:bodyPr/>
                    <a:lstStyle/>
                    <a:p>
                      <a:r>
                        <a:rPr lang="en-IN" sz="2800" dirty="0">
                          <a:latin typeface="Times New Roman" panose="02020603050405020304" pitchFamily="18" charset="0"/>
                          <a:cs typeface="Times New Roman" panose="02020603050405020304" pitchFamily="18" charset="0"/>
                        </a:rPr>
                        <a:t>-26</a:t>
                      </a:r>
                    </a:p>
                  </a:txBody>
                  <a:tcPr/>
                </a:tc>
                <a:extLst>
                  <a:ext uri="{0D108BD9-81ED-4DB2-BD59-A6C34878D82A}">
                    <a16:rowId xmlns:a16="http://schemas.microsoft.com/office/drawing/2014/main" val="2794738114"/>
                  </a:ext>
                </a:extLst>
              </a:tr>
            </a:tbl>
          </a:graphicData>
        </a:graphic>
      </p:graphicFrame>
    </p:spTree>
    <p:extLst>
      <p:ext uri="{BB962C8B-B14F-4D97-AF65-F5344CB8AC3E}">
        <p14:creationId xmlns:p14="http://schemas.microsoft.com/office/powerpoint/2010/main" val="367718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575835-4C92-1034-FAF4-E5F2222014F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FDD5C6C-8166-F207-5008-8C3CA472F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8E9C546-689E-9EA0-6A07-8EBAAB41E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9F6E79D-7D09-5360-DC0B-E0021EE77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8CA77B1-5284-5712-8316-AC8027DB5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5BBCFF-E240-CACE-B421-B742173153C8}"/>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 </a:t>
            </a:r>
            <a:r>
              <a:rPr lang="en-US" sz="4000" i="1" dirty="0">
                <a:solidFill>
                  <a:srgbClr val="FFFFFF"/>
                </a:solidFill>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803F19E6-CA12-507B-DCB7-ED58CECFA7C4}"/>
              </a:ext>
            </a:extLst>
          </p:cNvPr>
          <p:cNvSpPr>
            <a:spLocks/>
          </p:cNvSpPr>
          <p:nvPr/>
        </p:nvSpPr>
        <p:spPr>
          <a:xfrm>
            <a:off x="968830" y="2112579"/>
            <a:ext cx="10863941" cy="4088186"/>
          </a:xfrm>
          <a:prstGeom prst="rect">
            <a:avLst/>
          </a:prstGeom>
        </p:spPr>
        <p:txBody>
          <a:bodyPr>
            <a:normAutofit/>
          </a:bodyPr>
          <a:lstStyle/>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9EBF49A-4FA5-82E0-BAD9-C1E76853DA90}"/>
              </a:ext>
            </a:extLst>
          </p:cNvPr>
          <p:cNvGraphicFramePr>
            <a:graphicFrameLocks noGrp="1"/>
          </p:cNvGraphicFramePr>
          <p:nvPr>
            <p:extLst>
              <p:ext uri="{D42A27DB-BD31-4B8C-83A1-F6EECF244321}">
                <p14:modId xmlns:p14="http://schemas.microsoft.com/office/powerpoint/2010/main" val="3952647206"/>
              </p:ext>
            </p:extLst>
          </p:nvPr>
        </p:nvGraphicFramePr>
        <p:xfrm>
          <a:off x="1570472" y="1716908"/>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AE37D66B-4BF1-4BD1-439D-C54A1889B623}"/>
              </a:ext>
            </a:extLst>
          </p:cNvPr>
          <p:cNvGraphicFramePr>
            <a:graphicFrameLocks noGrp="1"/>
          </p:cNvGraphicFramePr>
          <p:nvPr>
            <p:extLst>
              <p:ext uri="{D42A27DB-BD31-4B8C-83A1-F6EECF244321}">
                <p14:modId xmlns:p14="http://schemas.microsoft.com/office/powerpoint/2010/main" val="3001459179"/>
              </p:ext>
            </p:extLst>
          </p:nvPr>
        </p:nvGraphicFramePr>
        <p:xfrm>
          <a:off x="1570472" y="2580029"/>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702E6D45-4978-CCE0-8901-E7AA18CEEE7A}"/>
              </a:ext>
            </a:extLst>
          </p:cNvPr>
          <p:cNvSpPr/>
          <p:nvPr/>
        </p:nvSpPr>
        <p:spPr>
          <a:xfrm>
            <a:off x="1751201" y="3281534"/>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dirty="0">
                <a:solidFill>
                  <a:srgbClr val="B30000"/>
                </a:solidFill>
                <a:latin typeface="Times New Roman" panose="02020603050405020304" pitchFamily="18" charset="0"/>
                <a:cs typeface="Times New Roman" panose="02020603050405020304" pitchFamily="18" charset="0"/>
              </a:rPr>
              <a:t>p</a:t>
            </a:r>
            <a:r>
              <a:rPr lang="en-US" sz="2000" kern="1200" dirty="0">
                <a:solidFill>
                  <a:srgbClr val="B30000"/>
                </a:solidFill>
                <a:latin typeface="Times New Roman" panose="02020603050405020304" pitchFamily="18" charset="0"/>
                <a:cs typeface="Times New Roman" panose="02020603050405020304" pitchFamily="18" charset="0"/>
              </a:rPr>
              <a:t> = (c*k</a:t>
            </a:r>
            <a:r>
              <a:rPr lang="en-US" sz="2000" kern="1200" baseline="30000" dirty="0">
                <a:solidFill>
                  <a:srgbClr val="B30000"/>
                </a:solidFill>
                <a:latin typeface="Times New Roman" panose="02020603050405020304" pitchFamily="18" charset="0"/>
                <a:cs typeface="Times New Roman" panose="02020603050405020304" pitchFamily="18" charset="0"/>
              </a:rPr>
              <a:t>-1</a:t>
            </a:r>
            <a:r>
              <a:rPr lang="en-US" sz="2000" kern="1200" dirty="0">
                <a:solidFill>
                  <a:srgbClr val="B30000"/>
                </a:solidFill>
                <a:latin typeface="Times New Roman" panose="02020603050405020304" pitchFamily="18" charset="0"/>
                <a:cs typeface="Times New Roman" panose="02020603050405020304" pitchFamily="18" charset="0"/>
              </a:rPr>
              <a:t>) mod 26 = (c*7)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6DED733B-D9FE-3CC0-EF19-BEAF70AD776A}"/>
              </a:ext>
            </a:extLst>
          </p:cNvPr>
          <p:cNvCxnSpPr>
            <a:cxnSpLocks/>
            <a:stCxn id="4" idx="2"/>
          </p:cNvCxnSpPr>
          <p:nvPr/>
        </p:nvCxnSpPr>
        <p:spPr>
          <a:xfrm>
            <a:off x="5634472" y="2113148"/>
            <a:ext cx="0" cy="455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5A459F1-A62F-5E57-2FBE-898395666D3D}"/>
              </a:ext>
            </a:extLst>
          </p:cNvPr>
          <p:cNvCxnSpPr>
            <a:cxnSpLocks/>
          </p:cNvCxnSpPr>
          <p:nvPr/>
        </p:nvCxnSpPr>
        <p:spPr>
          <a:xfrm flipH="1">
            <a:off x="5616796" y="2939599"/>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8E43745-3F66-F99E-7687-829E19D3CA26}"/>
              </a:ext>
            </a:extLst>
          </p:cNvPr>
          <p:cNvCxnSpPr>
            <a:cxnSpLocks/>
            <a:stCxn id="6" idx="2"/>
          </p:cNvCxnSpPr>
          <p:nvPr/>
        </p:nvCxnSpPr>
        <p:spPr>
          <a:xfrm>
            <a:off x="5414244" y="3818727"/>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0" name="Table 9">
            <a:extLst>
              <a:ext uri="{FF2B5EF4-FFF2-40B4-BE49-F238E27FC236}">
                <a16:creationId xmlns:a16="http://schemas.microsoft.com/office/drawing/2014/main" id="{C9D29B6E-F45A-1864-3AC9-4F396DE95FD2}"/>
              </a:ext>
            </a:extLst>
          </p:cNvPr>
          <p:cNvGraphicFramePr>
            <a:graphicFrameLocks noGrp="1"/>
          </p:cNvGraphicFramePr>
          <p:nvPr>
            <p:extLst>
              <p:ext uri="{D42A27DB-BD31-4B8C-83A1-F6EECF244321}">
                <p14:modId xmlns:p14="http://schemas.microsoft.com/office/powerpoint/2010/main" val="1442116554"/>
              </p:ext>
            </p:extLst>
          </p:nvPr>
        </p:nvGraphicFramePr>
        <p:xfrm>
          <a:off x="1570472" y="4445516"/>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cxnSp>
        <p:nvCxnSpPr>
          <p:cNvPr id="15" name="Straight Arrow Connector 14">
            <a:extLst>
              <a:ext uri="{FF2B5EF4-FFF2-40B4-BE49-F238E27FC236}">
                <a16:creationId xmlns:a16="http://schemas.microsoft.com/office/drawing/2014/main" id="{7428C962-3CBB-9A19-2EBE-EEB20119AB8F}"/>
              </a:ext>
            </a:extLst>
          </p:cNvPr>
          <p:cNvCxnSpPr>
            <a:cxnSpLocks/>
          </p:cNvCxnSpPr>
          <p:nvPr/>
        </p:nvCxnSpPr>
        <p:spPr>
          <a:xfrm>
            <a:off x="5414244" y="4841756"/>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2B557CEA-EDD3-0A94-F562-249B689D813D}"/>
              </a:ext>
            </a:extLst>
          </p:cNvPr>
          <p:cNvGraphicFramePr>
            <a:graphicFrameLocks noGrp="1"/>
          </p:cNvGraphicFramePr>
          <p:nvPr>
            <p:extLst>
              <p:ext uri="{D42A27DB-BD31-4B8C-83A1-F6EECF244321}">
                <p14:modId xmlns:p14="http://schemas.microsoft.com/office/powerpoint/2010/main" val="3053550206"/>
              </p:ext>
            </p:extLst>
          </p:nvPr>
        </p:nvGraphicFramePr>
        <p:xfrm>
          <a:off x="1570472" y="5485752"/>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17" name="TextBox 16">
            <a:extLst>
              <a:ext uri="{FF2B5EF4-FFF2-40B4-BE49-F238E27FC236}">
                <a16:creationId xmlns:a16="http://schemas.microsoft.com/office/drawing/2014/main" id="{767CAC67-32B7-9B97-3C58-97C20586B684}"/>
              </a:ext>
            </a:extLst>
          </p:cNvPr>
          <p:cNvSpPr txBox="1"/>
          <p:nvPr/>
        </p:nvSpPr>
        <p:spPr>
          <a:xfrm>
            <a:off x="833388" y="6039137"/>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a:t>
            </a:r>
            <a:r>
              <a:rPr lang="en-US" sz="2884" dirty="0">
                <a:solidFill>
                  <a:srgbClr val="B30000"/>
                </a:solidFill>
                <a:latin typeface="Times New Roman" panose="02020603050405020304" pitchFamily="18" charset="0"/>
                <a:cs typeface="Times New Roman" panose="02020603050405020304" pitchFamily="18" charset="0"/>
              </a:rPr>
              <a:t>de</a:t>
            </a:r>
            <a:r>
              <a:rPr lang="en-US" sz="2884" kern="1200" dirty="0">
                <a:solidFill>
                  <a:srgbClr val="B30000"/>
                </a:solidFill>
                <a:latin typeface="Times New Roman" panose="02020603050405020304" pitchFamily="18" charset="0"/>
                <a:ea typeface="+mn-ea"/>
                <a:cs typeface="Times New Roman" panose="02020603050405020304" pitchFamily="18" charset="0"/>
              </a:rPr>
              <a:t>crypted message is </a:t>
            </a:r>
            <a:r>
              <a:rPr lang="en-US" sz="2884" b="1" dirty="0" err="1">
                <a:solidFill>
                  <a:srgbClr val="B30000"/>
                </a:solidFill>
                <a:latin typeface="Times New Roman" panose="02020603050405020304" pitchFamily="18" charset="0"/>
                <a:cs typeface="Times New Roman" panose="02020603050405020304" pitchFamily="18" charset="0"/>
              </a:rPr>
              <a:t>manipal</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860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 calcmode="lin" valueType="num">
                                      <p:cBhvr additive="base">
                                        <p:cTn id="3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1807D9-1BC7-A5B6-7F4A-18458DF3B31C}"/>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F0FC281-E821-0E7D-20C2-5AC7E9E5F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779AF85-A73C-8D73-9A04-B7661518B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5B52ED7-434E-3FE0-2746-8865C329AF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4C1938B-F0BB-4821-B75C-6BA932AFE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04E7A8-756C-02B6-29BE-49C714380DA7}"/>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7D542768-E128-81EA-EF8B-BA354C66B184}"/>
              </a:ext>
            </a:extLst>
          </p:cNvPr>
          <p:cNvSpPr>
            <a:spLocks/>
          </p:cNvSpPr>
          <p:nvPr/>
        </p:nvSpPr>
        <p:spPr>
          <a:xfrm>
            <a:off x="337458" y="1775122"/>
            <a:ext cx="11571513" cy="1773621"/>
          </a:xfrm>
          <a:prstGeom prst="rect">
            <a:avLst/>
          </a:prstGeom>
        </p:spPr>
        <p:txBody>
          <a:bodyPr>
            <a:normAutofit/>
          </a:bodyPr>
          <a:lstStyle/>
          <a:p>
            <a:pPr defTabSz="667512">
              <a:spcAft>
                <a:spcPts val="600"/>
              </a:spcAft>
            </a:pPr>
            <a:r>
              <a:rPr lang="en-US" sz="2400" dirty="0">
                <a:latin typeface="Times New Roman" panose="02020603050405020304" pitchFamily="18" charset="0"/>
                <a:cs typeface="Times New Roman" panose="02020603050405020304" pitchFamily="18" charset="0"/>
              </a:rPr>
              <a:t>Decrypt</a:t>
            </a:r>
            <a:r>
              <a:rPr lang="en-US" sz="2400" kern="1200" dirty="0">
                <a:solidFill>
                  <a:schemeClr val="tx1"/>
                </a:solidFill>
                <a:latin typeface="Times New Roman" panose="02020603050405020304" pitchFamily="18" charset="0"/>
                <a:ea typeface="+mn-ea"/>
                <a:cs typeface="Times New Roman" panose="02020603050405020304" pitchFamily="18" charset="0"/>
              </a:rPr>
              <a:t> the message </a:t>
            </a:r>
            <a:r>
              <a:rPr lang="en-US" sz="2400" b="1" dirty="0" err="1">
                <a:latin typeface="Times New Roman" panose="02020603050405020304" pitchFamily="18" charset="0"/>
                <a:cs typeface="Times New Roman" panose="02020603050405020304" pitchFamily="18" charset="0"/>
              </a:rPr>
              <a:t>qswmraf</a:t>
            </a:r>
            <a:r>
              <a:rPr lang="en-US" sz="2400" kern="1200" dirty="0">
                <a:solidFill>
                  <a:schemeClr val="tx1"/>
                </a:solidFill>
                <a:latin typeface="Times New Roman" panose="02020603050405020304" pitchFamily="18" charset="0"/>
                <a:ea typeface="+mn-ea"/>
                <a:cs typeface="Times New Roman" panose="02020603050405020304" pitchFamily="18" charset="0"/>
              </a:rPr>
              <a:t> using key = 11, and </a:t>
            </a:r>
            <a:r>
              <a:rPr lang="en-US" sz="2400" dirty="0">
                <a:latin typeface="Times New Roman" panose="02020603050405020304" pitchFamily="18" charset="0"/>
                <a:cs typeface="Times New Roman" panose="02020603050405020304" pitchFamily="18" charset="0"/>
              </a:rPr>
              <a:t>multiplicative</a:t>
            </a:r>
            <a:r>
              <a:rPr lang="en-US" sz="2400" kern="1200" dirty="0">
                <a:solidFill>
                  <a:schemeClr val="tx1"/>
                </a:solidFill>
                <a:latin typeface="Times New Roman" panose="02020603050405020304" pitchFamily="18" charset="0"/>
                <a:ea typeface="+mn-ea"/>
                <a:cs typeface="Times New Roman" panose="02020603050405020304" pitchFamily="18" charset="0"/>
              </a:rPr>
              <a:t>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952686D-D71A-8E93-10AB-44A85E40008C}"/>
              </a:ext>
            </a:extLst>
          </p:cNvPr>
          <p:cNvGraphicFramePr>
            <a:graphicFrameLocks noGrp="1"/>
          </p:cNvGraphicFramePr>
          <p:nvPr>
            <p:extLst>
              <p:ext uri="{D42A27DB-BD31-4B8C-83A1-F6EECF244321}">
                <p14:modId xmlns:p14="http://schemas.microsoft.com/office/powerpoint/2010/main" val="3187665390"/>
              </p:ext>
            </p:extLst>
          </p:nvPr>
        </p:nvGraphicFramePr>
        <p:xfrm>
          <a:off x="3113314" y="2661932"/>
          <a:ext cx="5671456" cy="3108960"/>
        </p:xfrm>
        <a:graphic>
          <a:graphicData uri="http://schemas.openxmlformats.org/drawingml/2006/table">
            <a:tbl>
              <a:tblPr firstRow="1" bandRow="1">
                <a:tableStyleId>{5C22544A-7EE6-4342-B048-85BDC9FD1C3A}</a:tableStyleId>
              </a:tblPr>
              <a:tblGrid>
                <a:gridCol w="602445">
                  <a:extLst>
                    <a:ext uri="{9D8B030D-6E8A-4147-A177-3AD203B41FA5}">
                      <a16:colId xmlns:a16="http://schemas.microsoft.com/office/drawing/2014/main" val="207368680"/>
                    </a:ext>
                  </a:extLst>
                </a:gridCol>
                <a:gridCol w="823584">
                  <a:extLst>
                    <a:ext uri="{9D8B030D-6E8A-4147-A177-3AD203B41FA5}">
                      <a16:colId xmlns:a16="http://schemas.microsoft.com/office/drawing/2014/main" val="1490212617"/>
                    </a:ext>
                  </a:extLst>
                </a:gridCol>
                <a:gridCol w="544286">
                  <a:extLst>
                    <a:ext uri="{9D8B030D-6E8A-4147-A177-3AD203B41FA5}">
                      <a16:colId xmlns:a16="http://schemas.microsoft.com/office/drawing/2014/main" val="1088012350"/>
                    </a:ext>
                  </a:extLst>
                </a:gridCol>
                <a:gridCol w="892628">
                  <a:extLst>
                    <a:ext uri="{9D8B030D-6E8A-4147-A177-3AD203B41FA5}">
                      <a16:colId xmlns:a16="http://schemas.microsoft.com/office/drawing/2014/main" val="2671000485"/>
                    </a:ext>
                  </a:extLst>
                </a:gridCol>
                <a:gridCol w="947057">
                  <a:extLst>
                    <a:ext uri="{9D8B030D-6E8A-4147-A177-3AD203B41FA5}">
                      <a16:colId xmlns:a16="http://schemas.microsoft.com/office/drawing/2014/main" val="3669712960"/>
                    </a:ext>
                  </a:extLst>
                </a:gridCol>
                <a:gridCol w="743372">
                  <a:extLst>
                    <a:ext uri="{9D8B030D-6E8A-4147-A177-3AD203B41FA5}">
                      <a16:colId xmlns:a16="http://schemas.microsoft.com/office/drawing/2014/main" val="2508002949"/>
                    </a:ext>
                  </a:extLst>
                </a:gridCol>
                <a:gridCol w="1118084">
                  <a:extLst>
                    <a:ext uri="{9D8B030D-6E8A-4147-A177-3AD203B41FA5}">
                      <a16:colId xmlns:a16="http://schemas.microsoft.com/office/drawing/2014/main" val="1175734357"/>
                    </a:ext>
                  </a:extLst>
                </a:gridCol>
              </a:tblGrid>
              <a:tr h="502781">
                <a:tc>
                  <a:txBody>
                    <a:bodyPr/>
                    <a:lstStyle/>
                    <a:p>
                      <a:r>
                        <a:rPr lang="en-IN" sz="2800" dirty="0">
                          <a:latin typeface="Times New Roman" panose="02020603050405020304" pitchFamily="18" charset="0"/>
                          <a:cs typeface="Times New Roman" panose="02020603050405020304" pitchFamily="18" charset="0"/>
                        </a:rPr>
                        <a:t>q</a:t>
                      </a:r>
                    </a:p>
                  </a:txBody>
                  <a:tcPr/>
                </a:tc>
                <a:tc>
                  <a:txBody>
                    <a:bodyPr/>
                    <a:lstStyle/>
                    <a:p>
                      <a:r>
                        <a:rPr lang="en-IN" sz="2800" dirty="0">
                          <a:latin typeface="Times New Roman" panose="02020603050405020304" pitchFamily="18" charset="0"/>
                          <a:cs typeface="Times New Roman" panose="02020603050405020304" pitchFamily="18" charset="0"/>
                        </a:rPr>
                        <a:t>a</a:t>
                      </a:r>
                    </a:p>
                  </a:txBody>
                  <a:tcPr/>
                </a:tc>
                <a:tc>
                  <a:txBody>
                    <a:bodyPr/>
                    <a:lstStyle/>
                    <a:p>
                      <a:r>
                        <a:rPr lang="en-IN" sz="2800" dirty="0">
                          <a:latin typeface="Times New Roman" panose="02020603050405020304" pitchFamily="18" charset="0"/>
                          <a:cs typeface="Times New Roman" panose="02020603050405020304" pitchFamily="18" charset="0"/>
                        </a:rPr>
                        <a:t>b</a:t>
                      </a:r>
                    </a:p>
                  </a:txBody>
                  <a:tcPr/>
                </a:tc>
                <a:tc>
                  <a:txBody>
                    <a:bodyPr/>
                    <a:lstStyle/>
                    <a:p>
                      <a:r>
                        <a:rPr lang="en-IN" sz="2800" dirty="0">
                          <a:latin typeface="Times New Roman" panose="02020603050405020304" pitchFamily="18" charset="0"/>
                          <a:cs typeface="Times New Roman" panose="02020603050405020304" pitchFamily="18" charset="0"/>
                        </a:rPr>
                        <a:t>r</a:t>
                      </a:r>
                    </a:p>
                  </a:txBody>
                  <a:tcPr/>
                </a:tc>
                <a:tc>
                  <a:txBody>
                    <a:bodyPr/>
                    <a:lstStyle/>
                    <a:p>
                      <a:r>
                        <a:rPr lang="en-IN" sz="2800" dirty="0">
                          <a:latin typeface="Times New Roman" panose="02020603050405020304" pitchFamily="18" charset="0"/>
                          <a:cs typeface="Times New Roman" panose="02020603050405020304" pitchFamily="18" charset="0"/>
                        </a:rPr>
                        <a:t>v1</a:t>
                      </a:r>
                    </a:p>
                  </a:txBody>
                  <a:tcPr/>
                </a:tc>
                <a:tc>
                  <a:txBody>
                    <a:bodyPr/>
                    <a:lstStyle/>
                    <a:p>
                      <a:r>
                        <a:rPr lang="en-IN" sz="2800" dirty="0">
                          <a:latin typeface="Times New Roman" panose="02020603050405020304" pitchFamily="18" charset="0"/>
                          <a:cs typeface="Times New Roman" panose="02020603050405020304" pitchFamily="18" charset="0"/>
                        </a:rPr>
                        <a:t>v2</a:t>
                      </a:r>
                    </a:p>
                  </a:txBody>
                  <a:tcPr/>
                </a:tc>
                <a:tc>
                  <a:txBody>
                    <a:bodyPr/>
                    <a:lstStyle/>
                    <a:p>
                      <a:r>
                        <a:rPr lang="en-IN" sz="2800" dirty="0">
                          <a:latin typeface="Times New Roman" panose="02020603050405020304" pitchFamily="18" charset="0"/>
                          <a:cs typeface="Times New Roman" panose="02020603050405020304" pitchFamily="18" charset="0"/>
                        </a:rPr>
                        <a:t>v</a:t>
                      </a:r>
                    </a:p>
                  </a:txBody>
                  <a:tcPr/>
                </a:tc>
                <a:extLst>
                  <a:ext uri="{0D108BD9-81ED-4DB2-BD59-A6C34878D82A}">
                    <a16:rowId xmlns:a16="http://schemas.microsoft.com/office/drawing/2014/main" val="452595859"/>
                  </a:ext>
                </a:extLst>
              </a:tr>
              <a:tr h="502781">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26</a:t>
                      </a:r>
                    </a:p>
                  </a:txBody>
                  <a:tcPr/>
                </a:tc>
                <a:tc>
                  <a:txBody>
                    <a:bodyPr/>
                    <a:lstStyle/>
                    <a:p>
                      <a:r>
                        <a:rPr lang="en-IN" sz="2800" dirty="0">
                          <a:latin typeface="Times New Roman" panose="02020603050405020304" pitchFamily="18" charset="0"/>
                          <a:cs typeface="Times New Roman" panose="02020603050405020304" pitchFamily="18" charset="0"/>
                        </a:rPr>
                        <a:t>11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0</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588862731"/>
                  </a:ext>
                </a:extLst>
              </a:tr>
              <a:tr h="502781">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11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4199107464"/>
                  </a:ext>
                </a:extLst>
              </a:tr>
              <a:tr h="502781">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4</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-2</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tc>
                  <a:txBody>
                    <a:bodyPr/>
                    <a:lstStyle/>
                    <a:p>
                      <a:r>
                        <a:rPr lang="en-IN" sz="2800" dirty="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984614299"/>
                  </a:ext>
                </a:extLst>
              </a:tr>
              <a:tr h="502781">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3</a:t>
                      </a:r>
                    </a:p>
                  </a:txBody>
                  <a:tcPr/>
                </a:tc>
                <a:tc>
                  <a:txBody>
                    <a:bodyPr/>
                    <a:lstStyle/>
                    <a:p>
                      <a:r>
                        <a:rPr lang="en-IN" sz="2800" dirty="0">
                          <a:latin typeface="Times New Roman" panose="02020603050405020304" pitchFamily="18" charset="0"/>
                          <a:cs typeface="Times New Roman" panose="02020603050405020304" pitchFamily="18" charset="0"/>
                        </a:rPr>
                        <a:t>1</a:t>
                      </a:r>
                    </a:p>
                  </a:txBody>
                  <a:tcPr/>
                </a:tc>
                <a:tc>
                  <a:txBody>
                    <a:bodyPr/>
                    <a:lstStyle/>
                    <a:p>
                      <a:r>
                        <a:rPr lang="en-IN" sz="2800" dirty="0">
                          <a:latin typeface="Times New Roman" panose="02020603050405020304" pitchFamily="18" charset="0"/>
                          <a:cs typeface="Times New Roman" panose="02020603050405020304" pitchFamily="18" charset="0"/>
                        </a:rPr>
                        <a:t>0</a:t>
                      </a:r>
                    </a:p>
                  </a:txBody>
                  <a:tcPr/>
                </a:tc>
                <a:tc>
                  <a:txBody>
                    <a:bodyPr/>
                    <a:lstStyle/>
                    <a:p>
                      <a:r>
                        <a:rPr lang="en-IN" sz="2800" dirty="0">
                          <a:latin typeface="Times New Roman" panose="02020603050405020304" pitchFamily="18" charset="0"/>
                          <a:cs typeface="Times New Roman" panose="02020603050405020304" pitchFamily="18" charset="0"/>
                        </a:rPr>
                        <a:t>5</a:t>
                      </a:r>
                    </a:p>
                  </a:txBody>
                  <a:tcPr/>
                </a:tc>
                <a:tc>
                  <a:txBody>
                    <a:bodyPr/>
                    <a:lstStyle/>
                    <a:p>
                      <a:r>
                        <a:rPr lang="en-IN" sz="2800" dirty="0">
                          <a:solidFill>
                            <a:srgbClr val="FF0000"/>
                          </a:solidFill>
                          <a:latin typeface="Times New Roman" panose="02020603050405020304" pitchFamily="18" charset="0"/>
                          <a:cs typeface="Times New Roman" panose="02020603050405020304" pitchFamily="18" charset="0"/>
                        </a:rPr>
                        <a:t>-7</a:t>
                      </a:r>
                    </a:p>
                  </a:txBody>
                  <a:tcPr/>
                </a:tc>
                <a:tc>
                  <a:txBody>
                    <a:bodyPr/>
                    <a:lstStyle/>
                    <a:p>
                      <a:r>
                        <a:rPr lang="en-IN" sz="2800" dirty="0">
                          <a:latin typeface="Times New Roman" panose="02020603050405020304" pitchFamily="18" charset="0"/>
                          <a:cs typeface="Times New Roman" panose="02020603050405020304" pitchFamily="18" charset="0"/>
                        </a:rPr>
                        <a:t>26</a:t>
                      </a:r>
                    </a:p>
                  </a:txBody>
                  <a:tcPr/>
                </a:tc>
                <a:extLst>
                  <a:ext uri="{0D108BD9-81ED-4DB2-BD59-A6C34878D82A}">
                    <a16:rowId xmlns:a16="http://schemas.microsoft.com/office/drawing/2014/main" val="1853615369"/>
                  </a:ext>
                </a:extLst>
              </a:tr>
              <a:tr h="502781">
                <a:tc>
                  <a:txBody>
                    <a:bodyPr/>
                    <a:lstStyle/>
                    <a:p>
                      <a:endParaRPr lang="en-IN" sz="2800" dirty="0">
                        <a:latin typeface="Times New Roman" panose="02020603050405020304" pitchFamily="18" charset="0"/>
                        <a:cs typeface="Times New Roman" panose="02020603050405020304" pitchFamily="18" charset="0"/>
                      </a:endParaRPr>
                    </a:p>
                  </a:txBody>
                  <a:tcPr/>
                </a:tc>
                <a:tc>
                  <a:txBody>
                    <a:bodyPr/>
                    <a:lstStyle/>
                    <a:p>
                      <a:endParaRPr lang="en-IN" sz="2800" dirty="0">
                        <a:latin typeface="Times New Roman" panose="02020603050405020304" pitchFamily="18" charset="0"/>
                        <a:cs typeface="Times New Roman" panose="02020603050405020304" pitchFamily="18" charset="0"/>
                      </a:endParaRPr>
                    </a:p>
                  </a:txBody>
                  <a:tcPr/>
                </a:tc>
                <a:tc>
                  <a:txBody>
                    <a:bodyPr/>
                    <a:lstStyle/>
                    <a:p>
                      <a:endParaRPr lang="en-IN" sz="2800" dirty="0">
                        <a:latin typeface="Times New Roman" panose="02020603050405020304" pitchFamily="18" charset="0"/>
                        <a:cs typeface="Times New Roman" panose="02020603050405020304" pitchFamily="18" charset="0"/>
                      </a:endParaRPr>
                    </a:p>
                  </a:txBody>
                  <a:tcPr/>
                </a:tc>
                <a:tc>
                  <a:txBody>
                    <a:bodyPr/>
                    <a:lstStyle/>
                    <a:p>
                      <a:endParaRPr lang="en-IN" sz="2800" dirty="0">
                        <a:latin typeface="Times New Roman" panose="02020603050405020304" pitchFamily="18" charset="0"/>
                        <a:cs typeface="Times New Roman" panose="02020603050405020304" pitchFamily="18" charset="0"/>
                      </a:endParaRPr>
                    </a:p>
                  </a:txBody>
                  <a:tcPr/>
                </a:tc>
                <a:tc>
                  <a:txBody>
                    <a:bodyPr/>
                    <a:lstStyle/>
                    <a:p>
                      <a:endParaRPr lang="en-IN" sz="2800" dirty="0">
                        <a:latin typeface="Times New Roman" panose="02020603050405020304" pitchFamily="18" charset="0"/>
                        <a:cs typeface="Times New Roman" panose="02020603050405020304" pitchFamily="18" charset="0"/>
                      </a:endParaRPr>
                    </a:p>
                  </a:txBody>
                  <a:tcPr/>
                </a:tc>
                <a:tc>
                  <a:txBody>
                    <a:bodyPr/>
                    <a:lstStyle/>
                    <a:p>
                      <a:endParaRPr lang="en-IN" sz="2800" dirty="0">
                        <a:solidFill>
                          <a:srgbClr val="FF0000"/>
                        </a:solidFill>
                        <a:latin typeface="Times New Roman" panose="02020603050405020304" pitchFamily="18" charset="0"/>
                        <a:cs typeface="Times New Roman" panose="02020603050405020304" pitchFamily="18" charset="0"/>
                      </a:endParaRPr>
                    </a:p>
                  </a:txBody>
                  <a:tcPr/>
                </a:tc>
                <a:tc>
                  <a:txBody>
                    <a:bodyPr/>
                    <a:lstStyle/>
                    <a:p>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4738114"/>
                  </a:ext>
                </a:extLst>
              </a:tr>
            </a:tbl>
          </a:graphicData>
        </a:graphic>
      </p:graphicFrame>
    </p:spTree>
    <p:extLst>
      <p:ext uri="{BB962C8B-B14F-4D97-AF65-F5344CB8AC3E}">
        <p14:creationId xmlns:p14="http://schemas.microsoft.com/office/powerpoint/2010/main" val="116446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ADBDB9-E4CE-7608-803D-02297DA43E9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A776930-B20C-2039-1D00-3BE578CAC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EF3284-9109-63A7-0D0A-BA338CA60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339804D-1952-2AAE-BAF1-FA7940BFD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ED2D0CC-B032-0E16-D390-D693EBF5D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D8740F-073D-E048-96AF-CCBF4078DD3B}"/>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 </a:t>
            </a:r>
            <a:r>
              <a:rPr lang="en-US" sz="4000" i="1" dirty="0">
                <a:solidFill>
                  <a:srgbClr val="FFFFFF"/>
                </a:solidFill>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94B10C23-1238-E581-8278-70B62A552915}"/>
              </a:ext>
            </a:extLst>
          </p:cNvPr>
          <p:cNvSpPr>
            <a:spLocks/>
          </p:cNvSpPr>
          <p:nvPr/>
        </p:nvSpPr>
        <p:spPr>
          <a:xfrm>
            <a:off x="968830" y="2112579"/>
            <a:ext cx="10863941" cy="4088186"/>
          </a:xfrm>
          <a:prstGeom prst="rect">
            <a:avLst/>
          </a:prstGeom>
        </p:spPr>
        <p:txBody>
          <a:bodyPr>
            <a:normAutofit/>
          </a:bodyPr>
          <a:lstStyle/>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1602E6E-6E00-D68E-D4F0-C6DAA9880053}"/>
              </a:ext>
            </a:extLst>
          </p:cNvPr>
          <p:cNvGraphicFramePr>
            <a:graphicFrameLocks noGrp="1"/>
          </p:cNvGraphicFramePr>
          <p:nvPr>
            <p:extLst>
              <p:ext uri="{D42A27DB-BD31-4B8C-83A1-F6EECF244321}">
                <p14:modId xmlns:p14="http://schemas.microsoft.com/office/powerpoint/2010/main" val="450800137"/>
              </p:ext>
            </p:extLst>
          </p:nvPr>
        </p:nvGraphicFramePr>
        <p:xfrm>
          <a:off x="1570472" y="1716908"/>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66884E15-0B1C-58D4-7CD2-C60BB5B2A622}"/>
              </a:ext>
            </a:extLst>
          </p:cNvPr>
          <p:cNvGraphicFramePr>
            <a:graphicFrameLocks noGrp="1"/>
          </p:cNvGraphicFramePr>
          <p:nvPr>
            <p:extLst>
              <p:ext uri="{D42A27DB-BD31-4B8C-83A1-F6EECF244321}">
                <p14:modId xmlns:p14="http://schemas.microsoft.com/office/powerpoint/2010/main" val="4255766724"/>
              </p:ext>
            </p:extLst>
          </p:nvPr>
        </p:nvGraphicFramePr>
        <p:xfrm>
          <a:off x="1570472" y="2580029"/>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6F367EB4-5566-5702-5C31-F25ECDE0F900}"/>
              </a:ext>
            </a:extLst>
          </p:cNvPr>
          <p:cNvSpPr/>
          <p:nvPr/>
        </p:nvSpPr>
        <p:spPr>
          <a:xfrm>
            <a:off x="1751201" y="3281534"/>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dirty="0">
                <a:solidFill>
                  <a:srgbClr val="B30000"/>
                </a:solidFill>
                <a:latin typeface="Times New Roman" panose="02020603050405020304" pitchFamily="18" charset="0"/>
                <a:cs typeface="Times New Roman" panose="02020603050405020304" pitchFamily="18" charset="0"/>
              </a:rPr>
              <a:t>p</a:t>
            </a:r>
            <a:r>
              <a:rPr lang="en-US" sz="2000" kern="1200" dirty="0">
                <a:solidFill>
                  <a:srgbClr val="B30000"/>
                </a:solidFill>
                <a:latin typeface="Times New Roman" panose="02020603050405020304" pitchFamily="18" charset="0"/>
                <a:cs typeface="Times New Roman" panose="02020603050405020304" pitchFamily="18" charset="0"/>
              </a:rPr>
              <a:t> = (c*k</a:t>
            </a:r>
            <a:r>
              <a:rPr lang="en-US" sz="2000" kern="1200" baseline="30000" dirty="0">
                <a:solidFill>
                  <a:srgbClr val="B30000"/>
                </a:solidFill>
                <a:latin typeface="Times New Roman" panose="02020603050405020304" pitchFamily="18" charset="0"/>
                <a:cs typeface="Times New Roman" panose="02020603050405020304" pitchFamily="18" charset="0"/>
              </a:rPr>
              <a:t>-1</a:t>
            </a:r>
            <a:r>
              <a:rPr lang="en-US" sz="2000" kern="1200" dirty="0">
                <a:solidFill>
                  <a:srgbClr val="B30000"/>
                </a:solidFill>
                <a:latin typeface="Times New Roman" panose="02020603050405020304" pitchFamily="18" charset="0"/>
                <a:cs typeface="Times New Roman" panose="02020603050405020304" pitchFamily="18" charset="0"/>
              </a:rPr>
              <a:t>) mod 26 = (c*-7)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93EEF17B-80C2-A6EB-3ACB-0C1AE862BDEA}"/>
              </a:ext>
            </a:extLst>
          </p:cNvPr>
          <p:cNvCxnSpPr>
            <a:cxnSpLocks/>
            <a:stCxn id="4" idx="2"/>
          </p:cNvCxnSpPr>
          <p:nvPr/>
        </p:nvCxnSpPr>
        <p:spPr>
          <a:xfrm>
            <a:off x="5634472" y="2113148"/>
            <a:ext cx="0" cy="455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582138D-CAA6-6AEF-6406-99C66B0F0B21}"/>
              </a:ext>
            </a:extLst>
          </p:cNvPr>
          <p:cNvCxnSpPr>
            <a:cxnSpLocks/>
          </p:cNvCxnSpPr>
          <p:nvPr/>
        </p:nvCxnSpPr>
        <p:spPr>
          <a:xfrm flipH="1">
            <a:off x="5616796" y="2939599"/>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CE6FBE2-EE8A-4103-6FAE-D743F6336981}"/>
              </a:ext>
            </a:extLst>
          </p:cNvPr>
          <p:cNvCxnSpPr>
            <a:cxnSpLocks/>
            <a:stCxn id="6" idx="2"/>
          </p:cNvCxnSpPr>
          <p:nvPr/>
        </p:nvCxnSpPr>
        <p:spPr>
          <a:xfrm>
            <a:off x="5414244" y="3818727"/>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0" name="Table 9">
            <a:extLst>
              <a:ext uri="{FF2B5EF4-FFF2-40B4-BE49-F238E27FC236}">
                <a16:creationId xmlns:a16="http://schemas.microsoft.com/office/drawing/2014/main" id="{25B146D7-3113-F52D-80B8-EDB85BB77B34}"/>
              </a:ext>
            </a:extLst>
          </p:cNvPr>
          <p:cNvGraphicFramePr>
            <a:graphicFrameLocks noGrp="1"/>
          </p:cNvGraphicFramePr>
          <p:nvPr>
            <p:extLst>
              <p:ext uri="{D42A27DB-BD31-4B8C-83A1-F6EECF244321}">
                <p14:modId xmlns:p14="http://schemas.microsoft.com/office/powerpoint/2010/main" val="117852796"/>
              </p:ext>
            </p:extLst>
          </p:nvPr>
        </p:nvGraphicFramePr>
        <p:xfrm>
          <a:off x="1570472" y="4445516"/>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cxnSp>
        <p:nvCxnSpPr>
          <p:cNvPr id="15" name="Straight Arrow Connector 14">
            <a:extLst>
              <a:ext uri="{FF2B5EF4-FFF2-40B4-BE49-F238E27FC236}">
                <a16:creationId xmlns:a16="http://schemas.microsoft.com/office/drawing/2014/main" id="{B8801114-FA6F-D07D-266C-CE71497992AD}"/>
              </a:ext>
            </a:extLst>
          </p:cNvPr>
          <p:cNvCxnSpPr>
            <a:cxnSpLocks/>
          </p:cNvCxnSpPr>
          <p:nvPr/>
        </p:nvCxnSpPr>
        <p:spPr>
          <a:xfrm>
            <a:off x="5414244" y="4841756"/>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6" name="Table 15">
            <a:extLst>
              <a:ext uri="{FF2B5EF4-FFF2-40B4-BE49-F238E27FC236}">
                <a16:creationId xmlns:a16="http://schemas.microsoft.com/office/drawing/2014/main" id="{977542D3-2155-E813-53E6-5492FD5E6B63}"/>
              </a:ext>
            </a:extLst>
          </p:cNvPr>
          <p:cNvGraphicFramePr>
            <a:graphicFrameLocks noGrp="1"/>
          </p:cNvGraphicFramePr>
          <p:nvPr>
            <p:extLst>
              <p:ext uri="{D42A27DB-BD31-4B8C-83A1-F6EECF244321}">
                <p14:modId xmlns:p14="http://schemas.microsoft.com/office/powerpoint/2010/main" val="4016975283"/>
              </p:ext>
            </p:extLst>
          </p:nvPr>
        </p:nvGraphicFramePr>
        <p:xfrm>
          <a:off x="1570472" y="5485752"/>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17" name="TextBox 16">
            <a:extLst>
              <a:ext uri="{FF2B5EF4-FFF2-40B4-BE49-F238E27FC236}">
                <a16:creationId xmlns:a16="http://schemas.microsoft.com/office/drawing/2014/main" id="{D3421303-E5DD-D2E8-C6D2-88A59C588227}"/>
              </a:ext>
            </a:extLst>
          </p:cNvPr>
          <p:cNvSpPr txBox="1"/>
          <p:nvPr/>
        </p:nvSpPr>
        <p:spPr>
          <a:xfrm>
            <a:off x="833388" y="6039137"/>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a:t>
            </a:r>
            <a:r>
              <a:rPr lang="en-US" sz="2884" dirty="0">
                <a:solidFill>
                  <a:srgbClr val="B30000"/>
                </a:solidFill>
                <a:latin typeface="Times New Roman" panose="02020603050405020304" pitchFamily="18" charset="0"/>
                <a:cs typeface="Times New Roman" panose="02020603050405020304" pitchFamily="18" charset="0"/>
              </a:rPr>
              <a:t>decrypted</a:t>
            </a:r>
            <a:r>
              <a:rPr lang="en-US" sz="2884" kern="1200" dirty="0">
                <a:solidFill>
                  <a:srgbClr val="B30000"/>
                </a:solidFill>
                <a:latin typeface="Times New Roman" panose="02020603050405020304" pitchFamily="18" charset="0"/>
                <a:ea typeface="+mn-ea"/>
                <a:cs typeface="Times New Roman" panose="02020603050405020304" pitchFamily="18" charset="0"/>
              </a:rPr>
              <a:t> message is </a:t>
            </a:r>
            <a:r>
              <a:rPr lang="en-US" sz="2884" b="1" kern="1200" dirty="0">
                <a:solidFill>
                  <a:srgbClr val="B30000"/>
                </a:solidFill>
                <a:latin typeface="Times New Roman" panose="02020603050405020304" pitchFamily="18" charset="0"/>
                <a:ea typeface="+mn-ea"/>
                <a:cs typeface="Times New Roman" panose="02020603050405020304" pitchFamily="18" charset="0"/>
              </a:rPr>
              <a:t>secular</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9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 calcmode="lin" valueType="num">
                                      <p:cBhvr additive="base">
                                        <p:cTn id="3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4A3F03-8EBB-D9FB-4B66-8E2ACA32C0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04F115-EBF1-C8C0-FFEC-3363F7937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1904D53-A4A0-6566-D025-E65789614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329D89-14BB-4C18-918B-D8E0B6F2E546}"/>
              </a:ext>
            </a:extLst>
          </p:cNvPr>
          <p:cNvSpPr>
            <a:spLocks noGrp="1"/>
          </p:cNvSpPr>
          <p:nvPr>
            <p:ph type="title"/>
          </p:nvPr>
        </p:nvSpPr>
        <p:spPr>
          <a:xfrm>
            <a:off x="250371" y="1153572"/>
            <a:ext cx="3636863"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Multiplicative Cipher</a:t>
            </a:r>
          </a:p>
        </p:txBody>
      </p:sp>
      <p:sp>
        <p:nvSpPr>
          <p:cNvPr id="12" name="Arc 11">
            <a:extLst>
              <a:ext uri="{FF2B5EF4-FFF2-40B4-BE49-F238E27FC236}">
                <a16:creationId xmlns:a16="http://schemas.microsoft.com/office/drawing/2014/main" id="{E8D754FE-988F-5813-8362-167033914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0FCE89A4-48D7-D125-AA38-FE03C68F07AD}"/>
              </a:ext>
            </a:extLst>
          </p:cNvPr>
          <p:cNvSpPr txBox="1"/>
          <p:nvPr/>
        </p:nvSpPr>
        <p:spPr>
          <a:xfrm>
            <a:off x="4310743" y="272143"/>
            <a:ext cx="7323092"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Demands negligible computational resources.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More complex mapping than a </a:t>
            </a:r>
            <a:r>
              <a:rPr lang="en-US" sz="2800">
                <a:latin typeface="Times New Roman" panose="02020603050405020304" pitchFamily="18" charset="0"/>
                <a:cs typeface="Times New Roman" panose="02020603050405020304" pitchFamily="18" charset="0"/>
              </a:rPr>
              <a:t>simple shift.</a:t>
            </a: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Highly vulnerable to BFA.</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Statistical attack.</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Validity of the keys should be tested.</a:t>
            </a:r>
          </a:p>
        </p:txBody>
      </p:sp>
    </p:spTree>
    <p:extLst>
      <p:ext uri="{BB962C8B-B14F-4D97-AF65-F5344CB8AC3E}">
        <p14:creationId xmlns:p14="http://schemas.microsoft.com/office/powerpoint/2010/main" val="254085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85C1-6FD9-5FE9-AF71-303A53EE8A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ACE7C-B5C2-D2BB-CF0F-9454E359C394}"/>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Affine Cipher</a:t>
            </a:r>
          </a:p>
        </p:txBody>
      </p:sp>
    </p:spTree>
    <p:extLst>
      <p:ext uri="{BB962C8B-B14F-4D97-AF65-F5344CB8AC3E}">
        <p14:creationId xmlns:p14="http://schemas.microsoft.com/office/powerpoint/2010/main" val="11395564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9CE336-46CA-D224-1A9E-7A3A3028956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507702-5FF6-E0E7-C1A5-B6EF678A8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3D827-61FA-26CB-2D5D-7E9B926C7B69}"/>
              </a:ext>
            </a:extLst>
          </p:cNvPr>
          <p:cNvSpPr>
            <a:spLocks noGrp="1"/>
          </p:cNvSpPr>
          <p:nvPr>
            <p:ph type="title"/>
          </p:nvPr>
        </p:nvSpPr>
        <p:spPr>
          <a:xfrm>
            <a:off x="54864" y="640823"/>
            <a:ext cx="4212336" cy="5583148"/>
          </a:xfrm>
        </p:spPr>
        <p:txBody>
          <a:bodyPr anchor="ctr">
            <a:normAutofit/>
          </a:bodyPr>
          <a:lstStyle/>
          <a:p>
            <a:r>
              <a:rPr lang="en-US" sz="5400" dirty="0">
                <a:latin typeface="Times New Roman" panose="02020603050405020304" pitchFamily="18" charset="0"/>
                <a:cs typeface="Times New Roman" panose="02020603050405020304" pitchFamily="18" charset="0"/>
              </a:rPr>
              <a:t>Affine Cipher</a:t>
            </a:r>
          </a:p>
        </p:txBody>
      </p:sp>
      <p:sp>
        <p:nvSpPr>
          <p:cNvPr id="12" name="sketch line">
            <a:extLst>
              <a:ext uri="{FF2B5EF4-FFF2-40B4-BE49-F238E27FC236}">
                <a16:creationId xmlns:a16="http://schemas.microsoft.com/office/drawing/2014/main" id="{8A5F24F3-945D-8E26-C317-EAF87C2D5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0CA604-ACB5-881D-F2C2-8D6B584A2265}"/>
              </a:ext>
            </a:extLst>
          </p:cNvPr>
          <p:cNvSpPr>
            <a:spLocks noGrp="1"/>
          </p:cNvSpPr>
          <p:nvPr>
            <p:ph idx="1"/>
          </p:nvPr>
        </p:nvSpPr>
        <p:spPr>
          <a:xfrm>
            <a:off x="4620111" y="4792830"/>
            <a:ext cx="6894576" cy="1428487"/>
          </a:xfrm>
        </p:spPr>
        <p:txBody>
          <a:bodyPr anchor="t">
            <a:normAutofit/>
          </a:bodyPr>
          <a:lstStyle/>
          <a:p>
            <a:r>
              <a:rPr lang="en-US" sz="2400" dirty="0">
                <a:latin typeface="Times New Roman" panose="02020603050405020304" pitchFamily="18" charset="0"/>
                <a:cs typeface="Times New Roman" panose="02020603050405020304" pitchFamily="18" charset="0"/>
              </a:rPr>
              <a:t>Combination of Additive and Multiplicative Cipher</a:t>
            </a:r>
          </a:p>
          <a:p>
            <a:r>
              <a:rPr lang="en-US" sz="2400" dirty="0">
                <a:latin typeface="Times New Roman" panose="02020603050405020304" pitchFamily="18" charset="0"/>
                <a:cs typeface="Times New Roman" panose="02020603050405020304" pitchFamily="18" charset="0"/>
              </a:rPr>
              <a:t>k</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should belong Z</a:t>
            </a:r>
            <a:r>
              <a:rPr lang="en-US" sz="2400" baseline="-25000" dirty="0">
                <a:latin typeface="Times New Roman" panose="02020603050405020304" pitchFamily="18" charset="0"/>
                <a:cs typeface="Times New Roman" panose="02020603050405020304" pitchFamily="18" charset="0"/>
              </a:rPr>
              <a:t>26</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and k</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belongs to Z</a:t>
            </a:r>
            <a:r>
              <a:rPr lang="en-US" sz="2400" baseline="-25000" dirty="0">
                <a:latin typeface="Times New Roman" panose="02020603050405020304" pitchFamily="18" charset="0"/>
                <a:cs typeface="Times New Roman" panose="02020603050405020304" pitchFamily="18" charset="0"/>
              </a:rPr>
              <a:t>26</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8BF971-7FD9-2D74-68BA-5419CAE47E2F}"/>
              </a:ext>
            </a:extLst>
          </p:cNvPr>
          <p:cNvPicPr>
            <a:picLocks noChangeAspect="1"/>
          </p:cNvPicPr>
          <p:nvPr/>
        </p:nvPicPr>
        <p:blipFill>
          <a:blip r:embed="rId2"/>
          <a:stretch>
            <a:fillRect/>
          </a:stretch>
        </p:blipFill>
        <p:spPr>
          <a:xfrm>
            <a:off x="4433748" y="189859"/>
            <a:ext cx="7310846" cy="4602971"/>
          </a:xfrm>
          <a:prstGeom prst="rect">
            <a:avLst/>
          </a:prstGeom>
        </p:spPr>
      </p:pic>
    </p:spTree>
    <p:extLst>
      <p:ext uri="{BB962C8B-B14F-4D97-AF65-F5344CB8AC3E}">
        <p14:creationId xmlns:p14="http://schemas.microsoft.com/office/powerpoint/2010/main" val="182784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910F0E-A377-CE06-A954-93692F5BC6E7}"/>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D8E3109-91AA-9440-8104-3206D3F29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CF9C06-F31C-A5F6-DA57-BAA2DBF48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8FD6C90-D562-7A29-1137-DA0ED4A0E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652DB28-3FEA-6386-C384-16671F36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D238BBA-4E75-37BA-B667-589BF04385FF}"/>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9E504CA7-B51B-08D7-0B69-C258F35CB834}"/>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kern="1200" dirty="0">
                <a:solidFill>
                  <a:schemeClr val="tx1"/>
                </a:solidFill>
                <a:latin typeface="Times New Roman" panose="02020603050405020304" pitchFamily="18" charset="0"/>
                <a:ea typeface="+mn-ea"/>
                <a:cs typeface="Times New Roman" panose="02020603050405020304" pitchFamily="18" charset="0"/>
              </a:rPr>
              <a:t>Encrypt the message </a:t>
            </a:r>
            <a:r>
              <a:rPr lang="en-US" sz="2400" b="1" kern="1200" dirty="0" err="1">
                <a:solidFill>
                  <a:schemeClr val="tx1"/>
                </a:solidFill>
                <a:latin typeface="Times New Roman" panose="02020603050405020304" pitchFamily="18" charset="0"/>
                <a:ea typeface="+mn-ea"/>
                <a:cs typeface="Times New Roman" panose="02020603050405020304" pitchFamily="18" charset="0"/>
              </a:rPr>
              <a:t>manipal</a:t>
            </a:r>
            <a:r>
              <a:rPr lang="en-US" sz="2400" kern="1200" dirty="0">
                <a:solidFill>
                  <a:schemeClr val="tx1"/>
                </a:solidFill>
                <a:latin typeface="Times New Roman" panose="02020603050405020304" pitchFamily="18" charset="0"/>
                <a:ea typeface="+mn-ea"/>
                <a:cs typeface="Times New Roman" panose="02020603050405020304" pitchFamily="18" charset="0"/>
              </a:rPr>
              <a:t> using </a:t>
            </a:r>
            <a:r>
              <a:rPr lang="en-US" sz="2400" dirty="0">
                <a:latin typeface="Times New Roman" panose="02020603050405020304" pitchFamily="18" charset="0"/>
                <a:cs typeface="Times New Roman" panose="02020603050405020304" pitchFamily="18" charset="0"/>
              </a:rPr>
              <a:t>the key pair k</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 17 and k</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4</a:t>
            </a:r>
            <a:r>
              <a:rPr lang="en-US" sz="2400" kern="1200" dirty="0">
                <a:solidFill>
                  <a:schemeClr val="tx1"/>
                </a:solidFill>
                <a:latin typeface="Times New Roman" panose="02020603050405020304" pitchFamily="18" charset="0"/>
                <a:ea typeface="+mn-ea"/>
                <a:cs typeface="Times New Roman" panose="02020603050405020304" pitchFamily="18" charset="0"/>
              </a:rPr>
              <a:t>, and affine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DEB8A2BA-A002-2A0D-DFD3-0B75E47A40C5}"/>
              </a:ext>
            </a:extLst>
          </p:cNvPr>
          <p:cNvGraphicFramePr>
            <a:graphicFrameLocks noGrp="1"/>
          </p:cNvGraphicFramePr>
          <p:nvPr/>
        </p:nvGraphicFramePr>
        <p:xfrm>
          <a:off x="2789673" y="3886630"/>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288E0FF5-00C3-637B-5B59-166F45136271}"/>
              </a:ext>
            </a:extLst>
          </p:cNvPr>
          <p:cNvGraphicFramePr>
            <a:graphicFrameLocks noGrp="1"/>
          </p:cNvGraphicFramePr>
          <p:nvPr/>
        </p:nvGraphicFramePr>
        <p:xfrm>
          <a:off x="2789673" y="4766384"/>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2850F699-8C6F-0572-E6DC-8D1AE2C29CBD}"/>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kern="1200" dirty="0">
                <a:solidFill>
                  <a:srgbClr val="B30000"/>
                </a:solidFill>
                <a:latin typeface="Times New Roman" panose="02020603050405020304" pitchFamily="18" charset="0"/>
                <a:cs typeface="Times New Roman" panose="02020603050405020304" pitchFamily="18" charset="0"/>
              </a:rPr>
              <a:t>c = </a:t>
            </a:r>
            <a:r>
              <a:rPr lang="en-US" sz="2000" dirty="0">
                <a:solidFill>
                  <a:srgbClr val="B30000"/>
                </a:solidFill>
                <a:latin typeface="Times New Roman" panose="02020603050405020304" pitchFamily="18" charset="0"/>
                <a:cs typeface="Times New Roman" panose="02020603050405020304" pitchFamily="18" charset="0"/>
              </a:rPr>
              <a:t>[p*k</a:t>
            </a:r>
            <a:r>
              <a:rPr lang="en-US" sz="2000" baseline="-25000" dirty="0">
                <a:solidFill>
                  <a:srgbClr val="B30000"/>
                </a:solidFill>
                <a:latin typeface="Times New Roman" panose="02020603050405020304" pitchFamily="18" charset="0"/>
                <a:cs typeface="Times New Roman" panose="02020603050405020304" pitchFamily="18" charset="0"/>
              </a:rPr>
              <a:t>1</a:t>
            </a:r>
            <a:r>
              <a:rPr lang="en-US" sz="2000" dirty="0">
                <a:solidFill>
                  <a:srgbClr val="B30000"/>
                </a:solidFill>
                <a:latin typeface="Times New Roman" panose="02020603050405020304" pitchFamily="18" charset="0"/>
                <a:cs typeface="Times New Roman" panose="02020603050405020304" pitchFamily="18" charset="0"/>
              </a:rPr>
              <a:t>+k</a:t>
            </a:r>
            <a:r>
              <a:rPr lang="en-US" sz="2000" baseline="-25000" dirty="0">
                <a:solidFill>
                  <a:srgbClr val="B30000"/>
                </a:solidFill>
                <a:latin typeface="Times New Roman" panose="02020603050405020304" pitchFamily="18" charset="0"/>
                <a:cs typeface="Times New Roman" panose="02020603050405020304" pitchFamily="18" charset="0"/>
              </a:rPr>
              <a:t>2</a:t>
            </a:r>
            <a:r>
              <a:rPr lang="en-US" sz="2000" dirty="0">
                <a:solidFill>
                  <a:srgbClr val="B30000"/>
                </a:solidFill>
                <a:latin typeface="Times New Roman" panose="02020603050405020304" pitchFamily="18" charset="0"/>
                <a:cs typeface="Times New Roman" panose="02020603050405020304" pitchFamily="18" charset="0"/>
              </a:rPr>
              <a:t>]</a:t>
            </a:r>
            <a:r>
              <a:rPr lang="en-US" sz="2000" kern="1200" dirty="0">
                <a:solidFill>
                  <a:srgbClr val="B30000"/>
                </a:solidFill>
                <a:latin typeface="Times New Roman" panose="02020603050405020304" pitchFamily="18" charset="0"/>
                <a:cs typeface="Times New Roman" panose="02020603050405020304" pitchFamily="18" charset="0"/>
              </a:rPr>
              <a:t> mod 26 = (</a:t>
            </a:r>
            <a:r>
              <a:rPr lang="en-US" sz="2000" dirty="0">
                <a:solidFill>
                  <a:srgbClr val="B30000"/>
                </a:solidFill>
                <a:latin typeface="Times New Roman" panose="02020603050405020304" pitchFamily="18" charset="0"/>
                <a:cs typeface="Times New Roman" panose="02020603050405020304" pitchFamily="18" charset="0"/>
              </a:rPr>
              <a:t>p*17+4</a:t>
            </a:r>
            <a:r>
              <a:rPr lang="en-US" sz="2000" kern="1200" dirty="0">
                <a:solidFill>
                  <a:srgbClr val="B30000"/>
                </a:solidFill>
                <a:latin typeface="Times New Roman" panose="02020603050405020304" pitchFamily="18" charset="0"/>
                <a:cs typeface="Times New Roman" panose="02020603050405020304" pitchFamily="18" charset="0"/>
              </a:rPr>
              <a:t>)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D9D51E84-1EAD-7D7F-E859-4C961FA6FAC4}"/>
              </a:ext>
            </a:extLst>
          </p:cNvPr>
          <p:cNvCxnSpPr>
            <a:cxnSpLocks/>
            <a:stCxn id="4" idx="2"/>
            <a:endCxn id="5" idx="0"/>
          </p:cNvCxnSpPr>
          <p:nvPr/>
        </p:nvCxnSpPr>
        <p:spPr>
          <a:xfrm>
            <a:off x="6853673"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8B39A4A-5D2A-C9F6-38CE-2D52D5A3C51F}"/>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421C846-331A-52D3-6E4F-D5278E7445CA}"/>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93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5BE8FF-34CA-8A09-A897-F3995FBE563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DD87DEA-20FA-170E-D662-AE6AD7EEB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09F1B9F-8CD0-B0AC-B00C-EF8390AB8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9BBA37E-AB1A-A18A-D92C-5A1F983A8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F0DB724-A7B7-0444-9712-E39832EC3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70630F-637D-D871-7B77-72F11D5F482E}"/>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1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7C713ED6-6FFA-78FC-86B0-45F1C0FC4ED0}"/>
              </a:ext>
            </a:extLst>
          </p:cNvPr>
          <p:cNvGraphicFramePr>
            <a:graphicFrameLocks/>
          </p:cNvGraphicFramePr>
          <p:nvPr>
            <p:extLst>
              <p:ext uri="{D42A27DB-BD31-4B8C-83A1-F6EECF244321}">
                <p14:modId xmlns:p14="http://schemas.microsoft.com/office/powerpoint/2010/main" val="774400099"/>
              </p:ext>
            </p:extLst>
          </p:nvPr>
        </p:nvGraphicFramePr>
        <p:xfrm>
          <a:off x="644063" y="2770284"/>
          <a:ext cx="10515596" cy="396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56479667"/>
                    </a:ext>
                  </a:extLst>
                </a:gridCol>
                <a:gridCol w="1502228">
                  <a:extLst>
                    <a:ext uri="{9D8B030D-6E8A-4147-A177-3AD203B41FA5}">
                      <a16:colId xmlns:a16="http://schemas.microsoft.com/office/drawing/2014/main" val="1492750462"/>
                    </a:ext>
                  </a:extLst>
                </a:gridCol>
                <a:gridCol w="1502228">
                  <a:extLst>
                    <a:ext uri="{9D8B030D-6E8A-4147-A177-3AD203B41FA5}">
                      <a16:colId xmlns:a16="http://schemas.microsoft.com/office/drawing/2014/main" val="1090095785"/>
                    </a:ext>
                  </a:extLst>
                </a:gridCol>
                <a:gridCol w="1502228">
                  <a:extLst>
                    <a:ext uri="{9D8B030D-6E8A-4147-A177-3AD203B41FA5}">
                      <a16:colId xmlns:a16="http://schemas.microsoft.com/office/drawing/2014/main" val="2489026204"/>
                    </a:ext>
                  </a:extLst>
                </a:gridCol>
                <a:gridCol w="1502228">
                  <a:extLst>
                    <a:ext uri="{9D8B030D-6E8A-4147-A177-3AD203B41FA5}">
                      <a16:colId xmlns:a16="http://schemas.microsoft.com/office/drawing/2014/main" val="2286868626"/>
                    </a:ext>
                  </a:extLst>
                </a:gridCol>
                <a:gridCol w="1502228">
                  <a:extLst>
                    <a:ext uri="{9D8B030D-6E8A-4147-A177-3AD203B41FA5}">
                      <a16:colId xmlns:a16="http://schemas.microsoft.com/office/drawing/2014/main" val="3567624916"/>
                    </a:ext>
                  </a:extLst>
                </a:gridCol>
                <a:gridCol w="1502228">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BCA14D4C-24F9-D607-6F16-98D1405C43E3}"/>
              </a:ext>
            </a:extLst>
          </p:cNvPr>
          <p:cNvGraphicFramePr>
            <a:graphicFrameLocks noGrp="1"/>
          </p:cNvGraphicFramePr>
          <p:nvPr>
            <p:extLst>
              <p:ext uri="{D42A27DB-BD31-4B8C-83A1-F6EECF244321}">
                <p14:modId xmlns:p14="http://schemas.microsoft.com/office/powerpoint/2010/main" val="3765276632"/>
              </p:ext>
            </p:extLst>
          </p:nvPr>
        </p:nvGraphicFramePr>
        <p:xfrm>
          <a:off x="644056" y="3769080"/>
          <a:ext cx="10515603" cy="396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39594564"/>
                    </a:ext>
                  </a:extLst>
                </a:gridCol>
                <a:gridCol w="1502229">
                  <a:extLst>
                    <a:ext uri="{9D8B030D-6E8A-4147-A177-3AD203B41FA5}">
                      <a16:colId xmlns:a16="http://schemas.microsoft.com/office/drawing/2014/main" val="695031733"/>
                    </a:ext>
                  </a:extLst>
                </a:gridCol>
                <a:gridCol w="1502229">
                  <a:extLst>
                    <a:ext uri="{9D8B030D-6E8A-4147-A177-3AD203B41FA5}">
                      <a16:colId xmlns:a16="http://schemas.microsoft.com/office/drawing/2014/main" val="682140076"/>
                    </a:ext>
                  </a:extLst>
                </a:gridCol>
                <a:gridCol w="1502229">
                  <a:extLst>
                    <a:ext uri="{9D8B030D-6E8A-4147-A177-3AD203B41FA5}">
                      <a16:colId xmlns:a16="http://schemas.microsoft.com/office/drawing/2014/main" val="2036262340"/>
                    </a:ext>
                  </a:extLst>
                </a:gridCol>
                <a:gridCol w="1502229">
                  <a:extLst>
                    <a:ext uri="{9D8B030D-6E8A-4147-A177-3AD203B41FA5}">
                      <a16:colId xmlns:a16="http://schemas.microsoft.com/office/drawing/2014/main" val="1694826755"/>
                    </a:ext>
                  </a:extLst>
                </a:gridCol>
                <a:gridCol w="1502229">
                  <a:extLst>
                    <a:ext uri="{9D8B030D-6E8A-4147-A177-3AD203B41FA5}">
                      <a16:colId xmlns:a16="http://schemas.microsoft.com/office/drawing/2014/main" val="277827796"/>
                    </a:ext>
                  </a:extLst>
                </a:gridCol>
                <a:gridCol w="1502229">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54694542-7AB5-2906-5036-47288E6371B9}"/>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1AEE887-5FFB-1B4E-CED7-85C29B0FB387}"/>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encrypted message is </a:t>
            </a:r>
            <a:r>
              <a:rPr lang="en-US" sz="2884" b="1" kern="1200" dirty="0" err="1">
                <a:solidFill>
                  <a:srgbClr val="B30000"/>
                </a:solidFill>
                <a:latin typeface="Times New Roman" panose="02020603050405020304" pitchFamily="18" charset="0"/>
                <a:ea typeface="+mn-ea"/>
                <a:cs typeface="Times New Roman" panose="02020603050405020304" pitchFamily="18" charset="0"/>
              </a:rPr>
              <a:t>aerkzej</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236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8D43B5-D92C-82EC-2248-6B553377107E}"/>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A1FA60D-C822-2504-CF18-2DCEDAF25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482667F-7A2E-DA14-595D-8ADD071C3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753328F-81F9-BE72-D903-8A3AAEF84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42660EC-E937-BCE2-208A-5C3E24FD2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81390-4997-E976-2F23-3D4D88EAD7AB}"/>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86EB812F-0E22-805E-C0A2-3E40A972B0B8}"/>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kern="1200" dirty="0">
                <a:solidFill>
                  <a:schemeClr val="tx1"/>
                </a:solidFill>
                <a:latin typeface="Times New Roman" panose="02020603050405020304" pitchFamily="18" charset="0"/>
                <a:ea typeface="+mn-ea"/>
                <a:cs typeface="Times New Roman" panose="02020603050405020304" pitchFamily="18" charset="0"/>
              </a:rPr>
              <a:t>Encrypt the message </a:t>
            </a:r>
            <a:r>
              <a:rPr lang="en-US" sz="2400" b="1" dirty="0" err="1">
                <a:latin typeface="Times New Roman" panose="02020603050405020304" pitchFamily="18" charset="0"/>
                <a:cs typeface="Times New Roman" panose="02020603050405020304" pitchFamily="18" charset="0"/>
              </a:rPr>
              <a:t>aerkzej</a:t>
            </a:r>
            <a:r>
              <a:rPr lang="en-US" sz="2400" kern="1200" dirty="0">
                <a:solidFill>
                  <a:schemeClr val="tx1"/>
                </a:solidFill>
                <a:latin typeface="Times New Roman" panose="02020603050405020304" pitchFamily="18" charset="0"/>
                <a:ea typeface="+mn-ea"/>
                <a:cs typeface="Times New Roman" panose="02020603050405020304" pitchFamily="18" charset="0"/>
              </a:rPr>
              <a:t> using </a:t>
            </a:r>
            <a:r>
              <a:rPr lang="en-US" sz="2400" dirty="0">
                <a:latin typeface="Times New Roman" panose="02020603050405020304" pitchFamily="18" charset="0"/>
                <a:cs typeface="Times New Roman" panose="02020603050405020304" pitchFamily="18" charset="0"/>
              </a:rPr>
              <a:t>the key pair k</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 17 and k</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4</a:t>
            </a:r>
            <a:r>
              <a:rPr lang="en-US" sz="2400" kern="1200" dirty="0">
                <a:solidFill>
                  <a:schemeClr val="tx1"/>
                </a:solidFill>
                <a:latin typeface="Times New Roman" panose="02020603050405020304" pitchFamily="18" charset="0"/>
                <a:ea typeface="+mn-ea"/>
                <a:cs typeface="Times New Roman" panose="02020603050405020304" pitchFamily="18" charset="0"/>
              </a:rPr>
              <a:t>, and affine cipher in Z</a:t>
            </a:r>
            <a:r>
              <a:rPr lang="en-US" sz="2400" kern="1200" baseline="-25000" dirty="0">
                <a:solidFill>
                  <a:schemeClr val="tx1"/>
                </a:solidFill>
                <a:latin typeface="Times New Roman" panose="02020603050405020304" pitchFamily="18" charset="0"/>
                <a:ea typeface="+mn-ea"/>
                <a:cs typeface="Times New Roman" panose="02020603050405020304" pitchFamily="18" charset="0"/>
              </a:rPr>
              <a:t>26</a:t>
            </a:r>
            <a:r>
              <a:rPr lang="en-US" sz="2400" kern="1200" dirty="0">
                <a:solidFill>
                  <a:schemeClr val="tx1"/>
                </a:solidFill>
                <a:latin typeface="Times New Roman" panose="02020603050405020304" pitchFamily="18" charset="0"/>
                <a:ea typeface="+mn-ea"/>
                <a:cs typeface="Times New Roman" panose="02020603050405020304" pitchFamily="18" charset="0"/>
              </a:rPr>
              <a:t>. Assume that the alphabets are case-insensitive and use the default numerical equivalents.</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D68EB94-E9E4-0E3E-827C-C5DEB15093A3}"/>
              </a:ext>
            </a:extLst>
          </p:cNvPr>
          <p:cNvGraphicFramePr>
            <a:graphicFrameLocks noGrp="1"/>
          </p:cNvGraphicFramePr>
          <p:nvPr>
            <p:extLst>
              <p:ext uri="{D42A27DB-BD31-4B8C-83A1-F6EECF244321}">
                <p14:modId xmlns:p14="http://schemas.microsoft.com/office/powerpoint/2010/main" val="1814118459"/>
              </p:ext>
            </p:extLst>
          </p:nvPr>
        </p:nvGraphicFramePr>
        <p:xfrm>
          <a:off x="2789673" y="3886630"/>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033885560"/>
                    </a:ext>
                  </a:extLst>
                </a:gridCol>
                <a:gridCol w="1161143">
                  <a:extLst>
                    <a:ext uri="{9D8B030D-6E8A-4147-A177-3AD203B41FA5}">
                      <a16:colId xmlns:a16="http://schemas.microsoft.com/office/drawing/2014/main" val="79741165"/>
                    </a:ext>
                  </a:extLst>
                </a:gridCol>
                <a:gridCol w="1161143">
                  <a:extLst>
                    <a:ext uri="{9D8B030D-6E8A-4147-A177-3AD203B41FA5}">
                      <a16:colId xmlns:a16="http://schemas.microsoft.com/office/drawing/2014/main" val="3259940160"/>
                    </a:ext>
                  </a:extLst>
                </a:gridCol>
                <a:gridCol w="1161143">
                  <a:extLst>
                    <a:ext uri="{9D8B030D-6E8A-4147-A177-3AD203B41FA5}">
                      <a16:colId xmlns:a16="http://schemas.microsoft.com/office/drawing/2014/main" val="1343758424"/>
                    </a:ext>
                  </a:extLst>
                </a:gridCol>
                <a:gridCol w="1161143">
                  <a:extLst>
                    <a:ext uri="{9D8B030D-6E8A-4147-A177-3AD203B41FA5}">
                      <a16:colId xmlns:a16="http://schemas.microsoft.com/office/drawing/2014/main" val="1644232803"/>
                    </a:ext>
                  </a:extLst>
                </a:gridCol>
                <a:gridCol w="1161143">
                  <a:extLst>
                    <a:ext uri="{9D8B030D-6E8A-4147-A177-3AD203B41FA5}">
                      <a16:colId xmlns:a16="http://schemas.microsoft.com/office/drawing/2014/main" val="1305763413"/>
                    </a:ext>
                  </a:extLst>
                </a:gridCol>
                <a:gridCol w="1161143">
                  <a:extLst>
                    <a:ext uri="{9D8B030D-6E8A-4147-A177-3AD203B41FA5}">
                      <a16:colId xmlns:a16="http://schemas.microsoft.com/office/drawing/2014/main" val="2817026232"/>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1FBCFA69-923A-E8E0-D4D2-A419B2A46B4E}"/>
              </a:ext>
            </a:extLst>
          </p:cNvPr>
          <p:cNvGraphicFramePr>
            <a:graphicFrameLocks noGrp="1"/>
          </p:cNvGraphicFramePr>
          <p:nvPr>
            <p:extLst>
              <p:ext uri="{D42A27DB-BD31-4B8C-83A1-F6EECF244321}">
                <p14:modId xmlns:p14="http://schemas.microsoft.com/office/powerpoint/2010/main" val="3346092990"/>
              </p:ext>
            </p:extLst>
          </p:nvPr>
        </p:nvGraphicFramePr>
        <p:xfrm>
          <a:off x="2789673" y="4766384"/>
          <a:ext cx="8128001" cy="396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268986042"/>
                    </a:ext>
                  </a:extLst>
                </a:gridCol>
                <a:gridCol w="1161143">
                  <a:extLst>
                    <a:ext uri="{9D8B030D-6E8A-4147-A177-3AD203B41FA5}">
                      <a16:colId xmlns:a16="http://schemas.microsoft.com/office/drawing/2014/main" val="4017595204"/>
                    </a:ext>
                  </a:extLst>
                </a:gridCol>
                <a:gridCol w="1161143">
                  <a:extLst>
                    <a:ext uri="{9D8B030D-6E8A-4147-A177-3AD203B41FA5}">
                      <a16:colId xmlns:a16="http://schemas.microsoft.com/office/drawing/2014/main" val="2760337"/>
                    </a:ext>
                  </a:extLst>
                </a:gridCol>
                <a:gridCol w="1161143">
                  <a:extLst>
                    <a:ext uri="{9D8B030D-6E8A-4147-A177-3AD203B41FA5}">
                      <a16:colId xmlns:a16="http://schemas.microsoft.com/office/drawing/2014/main" val="3971386348"/>
                    </a:ext>
                  </a:extLst>
                </a:gridCol>
                <a:gridCol w="1161143">
                  <a:extLst>
                    <a:ext uri="{9D8B030D-6E8A-4147-A177-3AD203B41FA5}">
                      <a16:colId xmlns:a16="http://schemas.microsoft.com/office/drawing/2014/main" val="4160168945"/>
                    </a:ext>
                  </a:extLst>
                </a:gridCol>
                <a:gridCol w="1161143">
                  <a:extLst>
                    <a:ext uri="{9D8B030D-6E8A-4147-A177-3AD203B41FA5}">
                      <a16:colId xmlns:a16="http://schemas.microsoft.com/office/drawing/2014/main" val="1528068989"/>
                    </a:ext>
                  </a:extLst>
                </a:gridCol>
                <a:gridCol w="1161143">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1A1AB6E7-671F-D1CB-1FA5-D9C6789713DB}"/>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dirty="0">
                <a:solidFill>
                  <a:srgbClr val="B30000"/>
                </a:solidFill>
                <a:latin typeface="Times New Roman" panose="02020603050405020304" pitchFamily="18" charset="0"/>
                <a:cs typeface="Times New Roman" panose="02020603050405020304" pitchFamily="18" charset="0"/>
              </a:rPr>
              <a:t>p</a:t>
            </a:r>
            <a:r>
              <a:rPr lang="en-US" sz="2000" kern="1200" dirty="0">
                <a:solidFill>
                  <a:srgbClr val="B30000"/>
                </a:solidFill>
                <a:latin typeface="Times New Roman" panose="02020603050405020304" pitchFamily="18" charset="0"/>
                <a:cs typeface="Times New Roman" panose="02020603050405020304" pitchFamily="18" charset="0"/>
              </a:rPr>
              <a:t> = [</a:t>
            </a:r>
            <a:r>
              <a:rPr lang="en-US" sz="2000" dirty="0">
                <a:solidFill>
                  <a:srgbClr val="B30000"/>
                </a:solidFill>
                <a:latin typeface="Times New Roman" panose="02020603050405020304" pitchFamily="18" charset="0"/>
                <a:cs typeface="Times New Roman" panose="02020603050405020304" pitchFamily="18" charset="0"/>
              </a:rPr>
              <a:t>(c-k</a:t>
            </a:r>
            <a:r>
              <a:rPr lang="en-US" sz="2000" baseline="-25000" dirty="0">
                <a:solidFill>
                  <a:srgbClr val="B30000"/>
                </a:solidFill>
                <a:latin typeface="Times New Roman" panose="02020603050405020304" pitchFamily="18" charset="0"/>
                <a:cs typeface="Times New Roman" panose="02020603050405020304" pitchFamily="18" charset="0"/>
              </a:rPr>
              <a:t>2</a:t>
            </a:r>
            <a:r>
              <a:rPr lang="en-US" sz="2000" dirty="0">
                <a:solidFill>
                  <a:srgbClr val="B30000"/>
                </a:solidFill>
                <a:latin typeface="Times New Roman" panose="02020603050405020304" pitchFamily="18" charset="0"/>
                <a:cs typeface="Times New Roman" panose="02020603050405020304" pitchFamily="18" charset="0"/>
              </a:rPr>
              <a:t>)*k</a:t>
            </a:r>
            <a:r>
              <a:rPr lang="en-US" sz="2000" baseline="-25000" dirty="0">
                <a:solidFill>
                  <a:srgbClr val="B30000"/>
                </a:solidFill>
                <a:latin typeface="Times New Roman" panose="02020603050405020304" pitchFamily="18" charset="0"/>
                <a:cs typeface="Times New Roman" panose="02020603050405020304" pitchFamily="18" charset="0"/>
              </a:rPr>
              <a:t>1</a:t>
            </a:r>
            <a:r>
              <a:rPr lang="en-US" sz="2000" baseline="30000" dirty="0">
                <a:solidFill>
                  <a:srgbClr val="B30000"/>
                </a:solidFill>
                <a:latin typeface="Times New Roman" panose="02020603050405020304" pitchFamily="18" charset="0"/>
                <a:cs typeface="Times New Roman" panose="02020603050405020304" pitchFamily="18" charset="0"/>
              </a:rPr>
              <a:t>-1</a:t>
            </a:r>
            <a:r>
              <a:rPr lang="en-US" sz="2000" dirty="0">
                <a:solidFill>
                  <a:srgbClr val="B30000"/>
                </a:solidFill>
                <a:latin typeface="Times New Roman" panose="02020603050405020304" pitchFamily="18" charset="0"/>
                <a:cs typeface="Times New Roman" panose="02020603050405020304" pitchFamily="18" charset="0"/>
              </a:rPr>
              <a:t>]</a:t>
            </a:r>
            <a:r>
              <a:rPr lang="en-US" sz="2000" kern="1200" dirty="0">
                <a:solidFill>
                  <a:srgbClr val="B30000"/>
                </a:solidFill>
                <a:latin typeface="Times New Roman" panose="02020603050405020304" pitchFamily="18" charset="0"/>
                <a:cs typeface="Times New Roman" panose="02020603050405020304" pitchFamily="18" charset="0"/>
              </a:rPr>
              <a:t> mod 26 = </a:t>
            </a:r>
            <a:r>
              <a:rPr lang="en-US" sz="2000" dirty="0">
                <a:solidFill>
                  <a:srgbClr val="B30000"/>
                </a:solidFill>
                <a:latin typeface="Times New Roman" panose="02020603050405020304" pitchFamily="18" charset="0"/>
                <a:cs typeface="Times New Roman" panose="02020603050405020304" pitchFamily="18" charset="0"/>
              </a:rPr>
              <a:t>[(c-4)*23]</a:t>
            </a:r>
            <a:r>
              <a:rPr lang="en-US" sz="2000" kern="1200" dirty="0">
                <a:solidFill>
                  <a:srgbClr val="B30000"/>
                </a:solidFill>
                <a:latin typeface="Times New Roman" panose="02020603050405020304" pitchFamily="18" charset="0"/>
                <a:cs typeface="Times New Roman" panose="02020603050405020304" pitchFamily="18" charset="0"/>
              </a:rPr>
              <a:t> mod 26</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06B08985-AD32-4369-D1DD-F028230C0ACB}"/>
              </a:ext>
            </a:extLst>
          </p:cNvPr>
          <p:cNvCxnSpPr>
            <a:cxnSpLocks/>
            <a:stCxn id="4" idx="2"/>
            <a:endCxn id="5" idx="0"/>
          </p:cNvCxnSpPr>
          <p:nvPr/>
        </p:nvCxnSpPr>
        <p:spPr>
          <a:xfrm>
            <a:off x="6853673"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292A07D-A768-F6FE-4D1C-E94F7E7EB057}"/>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74DB431-C898-8D8A-31CB-E1CAE9CA28F3}"/>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593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764096-659A-6216-DB59-2BBD427B3AE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690209D-B3D9-DA8D-7243-D59BF430B7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6D79B96-DDBD-9067-B316-D133132C1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8238413-DBFC-4400-0A43-019CDB7DD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E99C2A1-C6DF-C2C6-4570-33486FA0C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557F6B-E49B-7A3E-B351-21470A96EB50}"/>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2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A595FD39-238E-B6B3-328F-F979B0C1E10E}"/>
              </a:ext>
            </a:extLst>
          </p:cNvPr>
          <p:cNvGraphicFramePr>
            <a:graphicFrameLocks/>
          </p:cNvGraphicFramePr>
          <p:nvPr>
            <p:extLst>
              <p:ext uri="{D42A27DB-BD31-4B8C-83A1-F6EECF244321}">
                <p14:modId xmlns:p14="http://schemas.microsoft.com/office/powerpoint/2010/main" val="3817108604"/>
              </p:ext>
            </p:extLst>
          </p:nvPr>
        </p:nvGraphicFramePr>
        <p:xfrm>
          <a:off x="644063" y="2770284"/>
          <a:ext cx="10515596" cy="396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56479667"/>
                    </a:ext>
                  </a:extLst>
                </a:gridCol>
                <a:gridCol w="1502228">
                  <a:extLst>
                    <a:ext uri="{9D8B030D-6E8A-4147-A177-3AD203B41FA5}">
                      <a16:colId xmlns:a16="http://schemas.microsoft.com/office/drawing/2014/main" val="1492750462"/>
                    </a:ext>
                  </a:extLst>
                </a:gridCol>
                <a:gridCol w="1502228">
                  <a:extLst>
                    <a:ext uri="{9D8B030D-6E8A-4147-A177-3AD203B41FA5}">
                      <a16:colId xmlns:a16="http://schemas.microsoft.com/office/drawing/2014/main" val="1090095785"/>
                    </a:ext>
                  </a:extLst>
                </a:gridCol>
                <a:gridCol w="1502228">
                  <a:extLst>
                    <a:ext uri="{9D8B030D-6E8A-4147-A177-3AD203B41FA5}">
                      <a16:colId xmlns:a16="http://schemas.microsoft.com/office/drawing/2014/main" val="2489026204"/>
                    </a:ext>
                  </a:extLst>
                </a:gridCol>
                <a:gridCol w="1502228">
                  <a:extLst>
                    <a:ext uri="{9D8B030D-6E8A-4147-A177-3AD203B41FA5}">
                      <a16:colId xmlns:a16="http://schemas.microsoft.com/office/drawing/2014/main" val="2286868626"/>
                    </a:ext>
                  </a:extLst>
                </a:gridCol>
                <a:gridCol w="1502228">
                  <a:extLst>
                    <a:ext uri="{9D8B030D-6E8A-4147-A177-3AD203B41FA5}">
                      <a16:colId xmlns:a16="http://schemas.microsoft.com/office/drawing/2014/main" val="3567624916"/>
                    </a:ext>
                  </a:extLst>
                </a:gridCol>
                <a:gridCol w="1502228">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4F37B1C4-F591-4DB6-6F03-6A78143905BD}"/>
              </a:ext>
            </a:extLst>
          </p:cNvPr>
          <p:cNvGraphicFramePr>
            <a:graphicFrameLocks noGrp="1"/>
          </p:cNvGraphicFramePr>
          <p:nvPr>
            <p:extLst>
              <p:ext uri="{D42A27DB-BD31-4B8C-83A1-F6EECF244321}">
                <p14:modId xmlns:p14="http://schemas.microsoft.com/office/powerpoint/2010/main" val="3891462883"/>
              </p:ext>
            </p:extLst>
          </p:nvPr>
        </p:nvGraphicFramePr>
        <p:xfrm>
          <a:off x="644056" y="3769080"/>
          <a:ext cx="10515603" cy="396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39594564"/>
                    </a:ext>
                  </a:extLst>
                </a:gridCol>
                <a:gridCol w="1502229">
                  <a:extLst>
                    <a:ext uri="{9D8B030D-6E8A-4147-A177-3AD203B41FA5}">
                      <a16:colId xmlns:a16="http://schemas.microsoft.com/office/drawing/2014/main" val="695031733"/>
                    </a:ext>
                  </a:extLst>
                </a:gridCol>
                <a:gridCol w="1502229">
                  <a:extLst>
                    <a:ext uri="{9D8B030D-6E8A-4147-A177-3AD203B41FA5}">
                      <a16:colId xmlns:a16="http://schemas.microsoft.com/office/drawing/2014/main" val="682140076"/>
                    </a:ext>
                  </a:extLst>
                </a:gridCol>
                <a:gridCol w="1502229">
                  <a:extLst>
                    <a:ext uri="{9D8B030D-6E8A-4147-A177-3AD203B41FA5}">
                      <a16:colId xmlns:a16="http://schemas.microsoft.com/office/drawing/2014/main" val="2036262340"/>
                    </a:ext>
                  </a:extLst>
                </a:gridCol>
                <a:gridCol w="1502229">
                  <a:extLst>
                    <a:ext uri="{9D8B030D-6E8A-4147-A177-3AD203B41FA5}">
                      <a16:colId xmlns:a16="http://schemas.microsoft.com/office/drawing/2014/main" val="1694826755"/>
                    </a:ext>
                  </a:extLst>
                </a:gridCol>
                <a:gridCol w="1502229">
                  <a:extLst>
                    <a:ext uri="{9D8B030D-6E8A-4147-A177-3AD203B41FA5}">
                      <a16:colId xmlns:a16="http://schemas.microsoft.com/office/drawing/2014/main" val="277827796"/>
                    </a:ext>
                  </a:extLst>
                </a:gridCol>
                <a:gridCol w="1502229">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66FEB51A-EAEA-CD58-0766-8F78CFD9358C}"/>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4F3F5F1-3019-9DCC-82C6-8B7C3A702AB5}"/>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decrypted message is </a:t>
            </a:r>
            <a:r>
              <a:rPr lang="en-US" sz="2884" b="1" kern="1200" dirty="0" err="1">
                <a:solidFill>
                  <a:srgbClr val="B30000"/>
                </a:solidFill>
                <a:latin typeface="Times New Roman" panose="02020603050405020304" pitchFamily="18" charset="0"/>
                <a:ea typeface="+mn-ea"/>
                <a:cs typeface="Times New Roman" panose="02020603050405020304" pitchFamily="18" charset="0"/>
              </a:rPr>
              <a:t>manipal</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46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B837D9-F6DB-071B-FF1D-CB63FD701090}"/>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F99CFB1-0635-1C9E-F238-2799F5BFF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24441B-DB9E-AD0B-E275-8D2D7E4D8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D28D8F7-4144-CAAC-176F-0A1D49D9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17B5008-603A-9D50-2292-3887651F2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05EEE0-A67C-E5E8-BB02-151A33FC7FAC}"/>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6036D696-9EDA-515E-AB6D-1F3B417CCF99}"/>
              </a:ext>
            </a:extLst>
          </p:cNvPr>
          <p:cNvSpPr>
            <a:spLocks/>
          </p:cNvSpPr>
          <p:nvPr/>
        </p:nvSpPr>
        <p:spPr>
          <a:xfrm>
            <a:off x="968830" y="2112579"/>
            <a:ext cx="10863941" cy="4088186"/>
          </a:xfrm>
          <a:prstGeom prst="rect">
            <a:avLst/>
          </a:prstGeom>
        </p:spPr>
        <p:txBody>
          <a:bodyPr>
            <a:normAutofit/>
          </a:bodyPr>
          <a:lstStyle/>
          <a:p>
            <a:pPr defTabSz="667512">
              <a:spcAft>
                <a:spcPts val="600"/>
              </a:spcAft>
            </a:pPr>
            <a:r>
              <a:rPr lang="en-US" sz="2400" dirty="0">
                <a:latin typeface="Times New Roman" panose="02020603050405020304" pitchFamily="18" charset="0"/>
                <a:cs typeface="Times New Roman" panose="02020603050405020304" pitchFamily="18" charset="0"/>
              </a:rPr>
              <a:t>Decrypt</a:t>
            </a:r>
            <a:r>
              <a:rPr lang="en-US" sz="2400" kern="1200" dirty="0">
                <a:solidFill>
                  <a:schemeClr val="tx1"/>
                </a:solidFill>
                <a:latin typeface="Times New Roman" panose="02020603050405020304" pitchFamily="18" charset="0"/>
                <a:ea typeface="+mn-ea"/>
                <a:cs typeface="Times New Roman" panose="02020603050405020304" pitchFamily="18" charset="0"/>
              </a:rPr>
              <a:t> the message </a:t>
            </a:r>
            <a:r>
              <a:rPr lang="en-US" sz="2400" b="1" kern="1200" dirty="0" err="1">
                <a:solidFill>
                  <a:schemeClr val="tx1"/>
                </a:solidFill>
                <a:latin typeface="Times New Roman" panose="02020603050405020304" pitchFamily="18" charset="0"/>
                <a:ea typeface="+mn-ea"/>
                <a:cs typeface="Times New Roman" panose="02020603050405020304" pitchFamily="18" charset="0"/>
              </a:rPr>
              <a:t>nzoxdywn</a:t>
            </a:r>
            <a:r>
              <a:rPr lang="en-US" sz="2400" b="1" kern="1200" dirty="0">
                <a:solidFill>
                  <a:schemeClr val="tx1"/>
                </a:solidFill>
                <a:latin typeface="Times New Roman" panose="02020603050405020304" pitchFamily="18" charset="0"/>
                <a:ea typeface="+mn-ea"/>
                <a:cs typeface="Times New Roman" panose="02020603050405020304" pitchFamily="18" charset="0"/>
              </a:rPr>
              <a:t>#</a:t>
            </a:r>
            <a:r>
              <a:rPr lang="en-US" sz="2400" kern="1200" dirty="0">
                <a:solidFill>
                  <a:schemeClr val="tx1"/>
                </a:solidFill>
                <a:latin typeface="Times New Roman" panose="02020603050405020304" pitchFamily="18" charset="0"/>
                <a:ea typeface="+mn-ea"/>
                <a:cs typeface="Times New Roman" panose="02020603050405020304" pitchFamily="18" charset="0"/>
              </a:rPr>
              <a:t> using </a:t>
            </a:r>
            <a:r>
              <a:rPr lang="en-US" sz="2400" dirty="0">
                <a:latin typeface="Times New Roman" panose="02020603050405020304" pitchFamily="18" charset="0"/>
                <a:cs typeface="Times New Roman" panose="02020603050405020304" pitchFamily="18" charset="0"/>
              </a:rPr>
              <a:t>the key pair k</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 16 and k</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15</a:t>
            </a:r>
            <a:r>
              <a:rPr lang="en-US" sz="2400" kern="1200" dirty="0">
                <a:solidFill>
                  <a:schemeClr val="tx1"/>
                </a:solidFill>
                <a:latin typeface="Times New Roman" panose="02020603050405020304" pitchFamily="18" charset="0"/>
                <a:ea typeface="+mn-ea"/>
                <a:cs typeface="Times New Roman" panose="02020603050405020304" pitchFamily="18" charset="0"/>
              </a:rPr>
              <a:t>, and affine cipher </a:t>
            </a:r>
            <a:r>
              <a:rPr lang="en-US" sz="2400" dirty="0">
                <a:latin typeface="Times New Roman" panose="02020603050405020304" pitchFamily="18" charset="0"/>
                <a:cs typeface="Times New Roman" panose="02020603050405020304" pitchFamily="18" charset="0"/>
              </a:rPr>
              <a:t>using character set of alphabets (excluding the case) with their default numerical equivalents and some special characters (Refer Slide 25)</a:t>
            </a:r>
            <a:endParaRPr lang="en-US" sz="2400"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r>
              <a:rPr lang="en-US" sz="2800" u="sng" kern="1200" dirty="0">
                <a:solidFill>
                  <a:srgbClr val="B30000"/>
                </a:solidFill>
                <a:latin typeface="Times New Roman" panose="02020603050405020304" pitchFamily="18" charset="0"/>
                <a:ea typeface="+mn-ea"/>
                <a:cs typeface="Times New Roman" panose="02020603050405020304" pitchFamily="18" charset="0"/>
              </a:rPr>
              <a:t>Solution:-</a:t>
            </a: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defTabSz="667512">
              <a:spcAft>
                <a:spcPts val="600"/>
              </a:spcAft>
            </a:pPr>
            <a:endParaRPr lang="en-US" sz="1314" kern="1200" dirty="0">
              <a:solidFill>
                <a:schemeClr val="tx1"/>
              </a:solidFill>
              <a:latin typeface="Times New Roman" panose="02020603050405020304" pitchFamily="18" charset="0"/>
              <a:ea typeface="+mn-ea"/>
              <a:cs typeface="Times New Roman" panose="02020603050405020304" pitchFamily="18" charset="0"/>
            </a:endParaRPr>
          </a:p>
          <a:p>
            <a:pPr marL="0" indent="0">
              <a:spcAft>
                <a:spcPts val="600"/>
              </a:spcAft>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1EF775E-E877-7806-0F3F-9D1A5C7BCE6D}"/>
              </a:ext>
            </a:extLst>
          </p:cNvPr>
          <p:cNvGraphicFramePr>
            <a:graphicFrameLocks noGrp="1"/>
          </p:cNvGraphicFramePr>
          <p:nvPr>
            <p:extLst>
              <p:ext uri="{D42A27DB-BD31-4B8C-83A1-F6EECF244321}">
                <p14:modId xmlns:p14="http://schemas.microsoft.com/office/powerpoint/2010/main" val="2536231731"/>
              </p:ext>
            </p:extLst>
          </p:nvPr>
        </p:nvGraphicFramePr>
        <p:xfrm>
          <a:off x="2789673" y="3886630"/>
          <a:ext cx="8127999" cy="39624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2033885560"/>
                    </a:ext>
                  </a:extLst>
                </a:gridCol>
                <a:gridCol w="903111">
                  <a:extLst>
                    <a:ext uri="{9D8B030D-6E8A-4147-A177-3AD203B41FA5}">
                      <a16:colId xmlns:a16="http://schemas.microsoft.com/office/drawing/2014/main" val="79741165"/>
                    </a:ext>
                  </a:extLst>
                </a:gridCol>
                <a:gridCol w="903111">
                  <a:extLst>
                    <a:ext uri="{9D8B030D-6E8A-4147-A177-3AD203B41FA5}">
                      <a16:colId xmlns:a16="http://schemas.microsoft.com/office/drawing/2014/main" val="3259940160"/>
                    </a:ext>
                  </a:extLst>
                </a:gridCol>
                <a:gridCol w="903111">
                  <a:extLst>
                    <a:ext uri="{9D8B030D-6E8A-4147-A177-3AD203B41FA5}">
                      <a16:colId xmlns:a16="http://schemas.microsoft.com/office/drawing/2014/main" val="1343758424"/>
                    </a:ext>
                  </a:extLst>
                </a:gridCol>
                <a:gridCol w="903111">
                  <a:extLst>
                    <a:ext uri="{9D8B030D-6E8A-4147-A177-3AD203B41FA5}">
                      <a16:colId xmlns:a16="http://schemas.microsoft.com/office/drawing/2014/main" val="1644232803"/>
                    </a:ext>
                  </a:extLst>
                </a:gridCol>
                <a:gridCol w="903111">
                  <a:extLst>
                    <a:ext uri="{9D8B030D-6E8A-4147-A177-3AD203B41FA5}">
                      <a16:colId xmlns:a16="http://schemas.microsoft.com/office/drawing/2014/main" val="1305763413"/>
                    </a:ext>
                  </a:extLst>
                </a:gridCol>
                <a:gridCol w="903111">
                  <a:extLst>
                    <a:ext uri="{9D8B030D-6E8A-4147-A177-3AD203B41FA5}">
                      <a16:colId xmlns:a16="http://schemas.microsoft.com/office/drawing/2014/main" val="2817026232"/>
                    </a:ext>
                  </a:extLst>
                </a:gridCol>
                <a:gridCol w="903111">
                  <a:extLst>
                    <a:ext uri="{9D8B030D-6E8A-4147-A177-3AD203B41FA5}">
                      <a16:colId xmlns:a16="http://schemas.microsoft.com/office/drawing/2014/main" val="2968876270"/>
                    </a:ext>
                  </a:extLst>
                </a:gridCol>
                <a:gridCol w="903111">
                  <a:extLst>
                    <a:ext uri="{9D8B030D-6E8A-4147-A177-3AD203B41FA5}">
                      <a16:colId xmlns:a16="http://schemas.microsoft.com/office/drawing/2014/main" val="1403655234"/>
                    </a:ext>
                  </a:extLst>
                </a:gridCol>
              </a:tblGrid>
              <a:tr h="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9753359"/>
                  </a:ext>
                </a:extLst>
              </a:tr>
            </a:tbl>
          </a:graphicData>
        </a:graphic>
      </p:graphicFrame>
      <p:graphicFrame>
        <p:nvGraphicFramePr>
          <p:cNvPr id="5" name="Table 4">
            <a:extLst>
              <a:ext uri="{FF2B5EF4-FFF2-40B4-BE49-F238E27FC236}">
                <a16:creationId xmlns:a16="http://schemas.microsoft.com/office/drawing/2014/main" id="{E6CD221A-25C8-646E-7064-B747FA41466C}"/>
              </a:ext>
            </a:extLst>
          </p:cNvPr>
          <p:cNvGraphicFramePr>
            <a:graphicFrameLocks noGrp="1"/>
          </p:cNvGraphicFramePr>
          <p:nvPr>
            <p:extLst>
              <p:ext uri="{D42A27DB-BD31-4B8C-83A1-F6EECF244321}">
                <p14:modId xmlns:p14="http://schemas.microsoft.com/office/powerpoint/2010/main" val="1754637239"/>
              </p:ext>
            </p:extLst>
          </p:nvPr>
        </p:nvGraphicFramePr>
        <p:xfrm>
          <a:off x="2789673" y="4766384"/>
          <a:ext cx="8127999" cy="39624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1268986042"/>
                    </a:ext>
                  </a:extLst>
                </a:gridCol>
                <a:gridCol w="903111">
                  <a:extLst>
                    <a:ext uri="{9D8B030D-6E8A-4147-A177-3AD203B41FA5}">
                      <a16:colId xmlns:a16="http://schemas.microsoft.com/office/drawing/2014/main" val="4017595204"/>
                    </a:ext>
                  </a:extLst>
                </a:gridCol>
                <a:gridCol w="903111">
                  <a:extLst>
                    <a:ext uri="{9D8B030D-6E8A-4147-A177-3AD203B41FA5}">
                      <a16:colId xmlns:a16="http://schemas.microsoft.com/office/drawing/2014/main" val="2760337"/>
                    </a:ext>
                  </a:extLst>
                </a:gridCol>
                <a:gridCol w="903111">
                  <a:extLst>
                    <a:ext uri="{9D8B030D-6E8A-4147-A177-3AD203B41FA5}">
                      <a16:colId xmlns:a16="http://schemas.microsoft.com/office/drawing/2014/main" val="3971386348"/>
                    </a:ext>
                  </a:extLst>
                </a:gridCol>
                <a:gridCol w="903111">
                  <a:extLst>
                    <a:ext uri="{9D8B030D-6E8A-4147-A177-3AD203B41FA5}">
                      <a16:colId xmlns:a16="http://schemas.microsoft.com/office/drawing/2014/main" val="3164787018"/>
                    </a:ext>
                  </a:extLst>
                </a:gridCol>
                <a:gridCol w="903111">
                  <a:extLst>
                    <a:ext uri="{9D8B030D-6E8A-4147-A177-3AD203B41FA5}">
                      <a16:colId xmlns:a16="http://schemas.microsoft.com/office/drawing/2014/main" val="4160168945"/>
                    </a:ext>
                  </a:extLst>
                </a:gridCol>
                <a:gridCol w="903111">
                  <a:extLst>
                    <a:ext uri="{9D8B030D-6E8A-4147-A177-3AD203B41FA5}">
                      <a16:colId xmlns:a16="http://schemas.microsoft.com/office/drawing/2014/main" val="1528068989"/>
                    </a:ext>
                  </a:extLst>
                </a:gridCol>
                <a:gridCol w="903111">
                  <a:extLst>
                    <a:ext uri="{9D8B030D-6E8A-4147-A177-3AD203B41FA5}">
                      <a16:colId xmlns:a16="http://schemas.microsoft.com/office/drawing/2014/main" val="469938270"/>
                    </a:ext>
                  </a:extLst>
                </a:gridCol>
                <a:gridCol w="903111">
                  <a:extLst>
                    <a:ext uri="{9D8B030D-6E8A-4147-A177-3AD203B41FA5}">
                      <a16:colId xmlns:a16="http://schemas.microsoft.com/office/drawing/2014/main" val="266735891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51446934"/>
                  </a:ext>
                </a:extLst>
              </a:tr>
            </a:tbl>
          </a:graphicData>
        </a:graphic>
      </p:graphicFrame>
      <p:sp>
        <p:nvSpPr>
          <p:cNvPr id="6" name="Rectangle 5">
            <a:extLst>
              <a:ext uri="{FF2B5EF4-FFF2-40B4-BE49-F238E27FC236}">
                <a16:creationId xmlns:a16="http://schemas.microsoft.com/office/drawing/2014/main" id="{64F53A74-D5DB-41B5-069D-A281345121DC}"/>
              </a:ext>
            </a:extLst>
          </p:cNvPr>
          <p:cNvSpPr/>
          <p:nvPr/>
        </p:nvSpPr>
        <p:spPr>
          <a:xfrm>
            <a:off x="3156857" y="5519728"/>
            <a:ext cx="7326086" cy="53719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67512">
              <a:spcAft>
                <a:spcPts val="600"/>
              </a:spcAft>
            </a:pPr>
            <a:r>
              <a:rPr lang="en-US" sz="2000" dirty="0">
                <a:solidFill>
                  <a:srgbClr val="B30000"/>
                </a:solidFill>
                <a:latin typeface="Times New Roman" panose="02020603050405020304" pitchFamily="18" charset="0"/>
                <a:cs typeface="Times New Roman" panose="02020603050405020304" pitchFamily="18" charset="0"/>
              </a:rPr>
              <a:t>p</a:t>
            </a:r>
            <a:r>
              <a:rPr lang="en-US" sz="2000" kern="1200" dirty="0">
                <a:solidFill>
                  <a:srgbClr val="B30000"/>
                </a:solidFill>
                <a:latin typeface="Times New Roman" panose="02020603050405020304" pitchFamily="18" charset="0"/>
                <a:cs typeface="Times New Roman" panose="02020603050405020304" pitchFamily="18" charset="0"/>
              </a:rPr>
              <a:t> = [</a:t>
            </a:r>
            <a:r>
              <a:rPr lang="en-US" sz="2000" dirty="0">
                <a:solidFill>
                  <a:srgbClr val="B30000"/>
                </a:solidFill>
                <a:latin typeface="Times New Roman" panose="02020603050405020304" pitchFamily="18" charset="0"/>
                <a:cs typeface="Times New Roman" panose="02020603050405020304" pitchFamily="18" charset="0"/>
              </a:rPr>
              <a:t>(c-k</a:t>
            </a:r>
            <a:r>
              <a:rPr lang="en-US" sz="2000" baseline="-25000" dirty="0">
                <a:solidFill>
                  <a:srgbClr val="B30000"/>
                </a:solidFill>
                <a:latin typeface="Times New Roman" panose="02020603050405020304" pitchFamily="18" charset="0"/>
                <a:cs typeface="Times New Roman" panose="02020603050405020304" pitchFamily="18" charset="0"/>
              </a:rPr>
              <a:t>2</a:t>
            </a:r>
            <a:r>
              <a:rPr lang="en-US" sz="2000" dirty="0">
                <a:solidFill>
                  <a:srgbClr val="B30000"/>
                </a:solidFill>
                <a:latin typeface="Times New Roman" panose="02020603050405020304" pitchFamily="18" charset="0"/>
                <a:cs typeface="Times New Roman" panose="02020603050405020304" pitchFamily="18" charset="0"/>
              </a:rPr>
              <a:t>)*k</a:t>
            </a:r>
            <a:r>
              <a:rPr lang="en-US" sz="2000" baseline="-25000" dirty="0">
                <a:solidFill>
                  <a:srgbClr val="B30000"/>
                </a:solidFill>
                <a:latin typeface="Times New Roman" panose="02020603050405020304" pitchFamily="18" charset="0"/>
                <a:cs typeface="Times New Roman" panose="02020603050405020304" pitchFamily="18" charset="0"/>
              </a:rPr>
              <a:t>1</a:t>
            </a:r>
            <a:r>
              <a:rPr lang="en-US" sz="2000" baseline="30000" dirty="0">
                <a:solidFill>
                  <a:srgbClr val="B30000"/>
                </a:solidFill>
                <a:latin typeface="Times New Roman" panose="02020603050405020304" pitchFamily="18" charset="0"/>
                <a:cs typeface="Times New Roman" panose="02020603050405020304" pitchFamily="18" charset="0"/>
              </a:rPr>
              <a:t>-1</a:t>
            </a:r>
            <a:r>
              <a:rPr lang="en-US" sz="2000" dirty="0">
                <a:solidFill>
                  <a:srgbClr val="B30000"/>
                </a:solidFill>
                <a:latin typeface="Times New Roman" panose="02020603050405020304" pitchFamily="18" charset="0"/>
                <a:cs typeface="Times New Roman" panose="02020603050405020304" pitchFamily="18" charset="0"/>
              </a:rPr>
              <a:t>]</a:t>
            </a:r>
            <a:r>
              <a:rPr lang="en-US" sz="2000" kern="1200" dirty="0">
                <a:solidFill>
                  <a:srgbClr val="B30000"/>
                </a:solidFill>
                <a:latin typeface="Times New Roman" panose="02020603050405020304" pitchFamily="18" charset="0"/>
                <a:cs typeface="Times New Roman" panose="02020603050405020304" pitchFamily="18" charset="0"/>
              </a:rPr>
              <a:t> mod 26 = </a:t>
            </a:r>
            <a:r>
              <a:rPr lang="en-US" sz="2000" dirty="0">
                <a:solidFill>
                  <a:srgbClr val="B30000"/>
                </a:solidFill>
                <a:latin typeface="Times New Roman" panose="02020603050405020304" pitchFamily="18" charset="0"/>
                <a:cs typeface="Times New Roman" panose="02020603050405020304" pitchFamily="18" charset="0"/>
              </a:rPr>
              <a:t>[(c-15)*31]</a:t>
            </a:r>
            <a:r>
              <a:rPr lang="en-US" sz="2000" kern="1200" dirty="0">
                <a:solidFill>
                  <a:srgbClr val="B30000"/>
                </a:solidFill>
                <a:latin typeface="Times New Roman" panose="02020603050405020304" pitchFamily="18" charset="0"/>
                <a:cs typeface="Times New Roman" panose="02020603050405020304" pitchFamily="18" charset="0"/>
              </a:rPr>
              <a:t> mod </a:t>
            </a:r>
            <a:r>
              <a:rPr lang="en-US" sz="2000" dirty="0">
                <a:solidFill>
                  <a:srgbClr val="B30000"/>
                </a:solidFill>
                <a:latin typeface="Times New Roman" panose="02020603050405020304" pitchFamily="18" charset="0"/>
                <a:cs typeface="Times New Roman" panose="02020603050405020304" pitchFamily="18" charset="0"/>
              </a:rPr>
              <a:t>33</a:t>
            </a:r>
            <a:endParaRPr lang="en-US" sz="2000" dirty="0">
              <a:solidFill>
                <a:srgbClr val="FF0000"/>
              </a:solidFill>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4969687F-8FE3-7965-547D-C35008F35A2B}"/>
              </a:ext>
            </a:extLst>
          </p:cNvPr>
          <p:cNvCxnSpPr>
            <a:cxnSpLocks/>
            <a:stCxn id="4" idx="2"/>
            <a:endCxn id="5" idx="0"/>
          </p:cNvCxnSpPr>
          <p:nvPr/>
        </p:nvCxnSpPr>
        <p:spPr>
          <a:xfrm>
            <a:off x="6853672" y="4282870"/>
            <a:ext cx="0" cy="4835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79922B7-44C1-FE59-FD92-B7CA47737782}"/>
              </a:ext>
            </a:extLst>
          </p:cNvPr>
          <p:cNvCxnSpPr>
            <a:cxnSpLocks/>
            <a:endCxn id="6" idx="0"/>
          </p:cNvCxnSpPr>
          <p:nvPr/>
        </p:nvCxnSpPr>
        <p:spPr>
          <a:xfrm flipH="1">
            <a:off x="6819900" y="5177793"/>
            <a:ext cx="17676" cy="341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B14D499-CAE2-A1F3-1995-2404AFF90357}"/>
              </a:ext>
            </a:extLst>
          </p:cNvPr>
          <p:cNvCxnSpPr>
            <a:cxnSpLocks/>
            <a:stCxn id="6" idx="2"/>
          </p:cNvCxnSpPr>
          <p:nvPr/>
        </p:nvCxnSpPr>
        <p:spPr>
          <a:xfrm>
            <a:off x="6819900" y="6056921"/>
            <a:ext cx="0" cy="62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872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8DD73-72FF-C9F1-E47C-CF10A8355D4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10A79E0-BAF6-129B-FB37-98C8DB81C1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C7605FB-F997-E421-DE8F-5F77FDBA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C3F48E0-E8C7-46B7-D5B4-BAF76020F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A295118-B8C6-94FB-9D61-0B5EDB972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12FE27-7FF8-75F9-156C-F4751DD012B4}"/>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Times New Roman" panose="02020603050405020304" pitchFamily="18" charset="0"/>
                <a:cs typeface="Times New Roman" panose="02020603050405020304" pitchFamily="18" charset="0"/>
              </a:rPr>
              <a:t>Numerical 3 </a:t>
            </a:r>
            <a:r>
              <a:rPr lang="en-US" sz="4000" i="1" dirty="0">
                <a:solidFill>
                  <a:srgbClr val="FFFFFF"/>
                </a:solidFill>
                <a:latin typeface="Times New Roman" panose="02020603050405020304" pitchFamily="18" charset="0"/>
                <a:cs typeface="Times New Roman" panose="02020603050405020304" pitchFamily="18" charset="0"/>
              </a:rPr>
              <a:t>(Contd..)</a:t>
            </a:r>
          </a:p>
        </p:txBody>
      </p:sp>
      <p:graphicFrame>
        <p:nvGraphicFramePr>
          <p:cNvPr id="12" name="Content Placeholder 11">
            <a:extLst>
              <a:ext uri="{FF2B5EF4-FFF2-40B4-BE49-F238E27FC236}">
                <a16:creationId xmlns:a16="http://schemas.microsoft.com/office/drawing/2014/main" id="{12998F33-A5C3-4EB6-B174-F6375B8ABA4F}"/>
              </a:ext>
            </a:extLst>
          </p:cNvPr>
          <p:cNvGraphicFramePr>
            <a:graphicFrameLocks/>
          </p:cNvGraphicFramePr>
          <p:nvPr>
            <p:extLst>
              <p:ext uri="{D42A27DB-BD31-4B8C-83A1-F6EECF244321}">
                <p14:modId xmlns:p14="http://schemas.microsoft.com/office/powerpoint/2010/main" val="3395411126"/>
              </p:ext>
            </p:extLst>
          </p:nvPr>
        </p:nvGraphicFramePr>
        <p:xfrm>
          <a:off x="644063" y="2770284"/>
          <a:ext cx="10515600" cy="396240"/>
        </p:xfrm>
        <a:graphic>
          <a:graphicData uri="http://schemas.openxmlformats.org/drawingml/2006/table">
            <a:tbl>
              <a:tblPr firstRow="1" bandRow="1">
                <a:tableStyleId>{5C22544A-7EE6-4342-B048-85BDC9FD1C3A}</a:tableStyleId>
              </a:tblPr>
              <a:tblGrid>
                <a:gridCol w="1168400">
                  <a:extLst>
                    <a:ext uri="{9D8B030D-6E8A-4147-A177-3AD203B41FA5}">
                      <a16:colId xmlns:a16="http://schemas.microsoft.com/office/drawing/2014/main" val="56479667"/>
                    </a:ext>
                  </a:extLst>
                </a:gridCol>
                <a:gridCol w="1168400">
                  <a:extLst>
                    <a:ext uri="{9D8B030D-6E8A-4147-A177-3AD203B41FA5}">
                      <a16:colId xmlns:a16="http://schemas.microsoft.com/office/drawing/2014/main" val="1492750462"/>
                    </a:ext>
                  </a:extLst>
                </a:gridCol>
                <a:gridCol w="1168400">
                  <a:extLst>
                    <a:ext uri="{9D8B030D-6E8A-4147-A177-3AD203B41FA5}">
                      <a16:colId xmlns:a16="http://schemas.microsoft.com/office/drawing/2014/main" val="1090095785"/>
                    </a:ext>
                  </a:extLst>
                </a:gridCol>
                <a:gridCol w="1168400">
                  <a:extLst>
                    <a:ext uri="{9D8B030D-6E8A-4147-A177-3AD203B41FA5}">
                      <a16:colId xmlns:a16="http://schemas.microsoft.com/office/drawing/2014/main" val="2489026204"/>
                    </a:ext>
                  </a:extLst>
                </a:gridCol>
                <a:gridCol w="1168400">
                  <a:extLst>
                    <a:ext uri="{9D8B030D-6E8A-4147-A177-3AD203B41FA5}">
                      <a16:colId xmlns:a16="http://schemas.microsoft.com/office/drawing/2014/main" val="2286868626"/>
                    </a:ext>
                  </a:extLst>
                </a:gridCol>
                <a:gridCol w="1168400">
                  <a:extLst>
                    <a:ext uri="{9D8B030D-6E8A-4147-A177-3AD203B41FA5}">
                      <a16:colId xmlns:a16="http://schemas.microsoft.com/office/drawing/2014/main" val="3567624916"/>
                    </a:ext>
                  </a:extLst>
                </a:gridCol>
                <a:gridCol w="1168400">
                  <a:extLst>
                    <a:ext uri="{9D8B030D-6E8A-4147-A177-3AD203B41FA5}">
                      <a16:colId xmlns:a16="http://schemas.microsoft.com/office/drawing/2014/main" val="3932543151"/>
                    </a:ext>
                  </a:extLst>
                </a:gridCol>
                <a:gridCol w="1168400">
                  <a:extLst>
                    <a:ext uri="{9D8B030D-6E8A-4147-A177-3AD203B41FA5}">
                      <a16:colId xmlns:a16="http://schemas.microsoft.com/office/drawing/2014/main" val="2129418563"/>
                    </a:ext>
                  </a:extLst>
                </a:gridCol>
                <a:gridCol w="1168400">
                  <a:extLst>
                    <a:ext uri="{9D8B030D-6E8A-4147-A177-3AD203B41FA5}">
                      <a16:colId xmlns:a16="http://schemas.microsoft.com/office/drawing/2014/main" val="1952283380"/>
                    </a:ext>
                  </a:extLst>
                </a:gridCol>
              </a:tblGrid>
              <a:tr h="3708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12505379"/>
                  </a:ext>
                </a:extLst>
              </a:tr>
            </a:tbl>
          </a:graphicData>
        </a:graphic>
      </p:graphicFrame>
      <p:graphicFrame>
        <p:nvGraphicFramePr>
          <p:cNvPr id="13" name="Table 12">
            <a:extLst>
              <a:ext uri="{FF2B5EF4-FFF2-40B4-BE49-F238E27FC236}">
                <a16:creationId xmlns:a16="http://schemas.microsoft.com/office/drawing/2014/main" id="{7496A5FA-28CE-37A3-CB27-A2C679B3442C}"/>
              </a:ext>
            </a:extLst>
          </p:cNvPr>
          <p:cNvGraphicFramePr>
            <a:graphicFrameLocks noGrp="1"/>
          </p:cNvGraphicFramePr>
          <p:nvPr>
            <p:extLst>
              <p:ext uri="{D42A27DB-BD31-4B8C-83A1-F6EECF244321}">
                <p14:modId xmlns:p14="http://schemas.microsoft.com/office/powerpoint/2010/main" val="3723458922"/>
              </p:ext>
            </p:extLst>
          </p:nvPr>
        </p:nvGraphicFramePr>
        <p:xfrm>
          <a:off x="644056" y="3769080"/>
          <a:ext cx="10515600" cy="396240"/>
        </p:xfrm>
        <a:graphic>
          <a:graphicData uri="http://schemas.openxmlformats.org/drawingml/2006/table">
            <a:tbl>
              <a:tblPr firstRow="1" bandRow="1">
                <a:tableStyleId>{5C22544A-7EE6-4342-B048-85BDC9FD1C3A}</a:tableStyleId>
              </a:tblPr>
              <a:tblGrid>
                <a:gridCol w="1168400">
                  <a:extLst>
                    <a:ext uri="{9D8B030D-6E8A-4147-A177-3AD203B41FA5}">
                      <a16:colId xmlns:a16="http://schemas.microsoft.com/office/drawing/2014/main" val="239594564"/>
                    </a:ext>
                  </a:extLst>
                </a:gridCol>
                <a:gridCol w="1168400">
                  <a:extLst>
                    <a:ext uri="{9D8B030D-6E8A-4147-A177-3AD203B41FA5}">
                      <a16:colId xmlns:a16="http://schemas.microsoft.com/office/drawing/2014/main" val="695031733"/>
                    </a:ext>
                  </a:extLst>
                </a:gridCol>
                <a:gridCol w="1168400">
                  <a:extLst>
                    <a:ext uri="{9D8B030D-6E8A-4147-A177-3AD203B41FA5}">
                      <a16:colId xmlns:a16="http://schemas.microsoft.com/office/drawing/2014/main" val="682140076"/>
                    </a:ext>
                  </a:extLst>
                </a:gridCol>
                <a:gridCol w="1168400">
                  <a:extLst>
                    <a:ext uri="{9D8B030D-6E8A-4147-A177-3AD203B41FA5}">
                      <a16:colId xmlns:a16="http://schemas.microsoft.com/office/drawing/2014/main" val="2036262340"/>
                    </a:ext>
                  </a:extLst>
                </a:gridCol>
                <a:gridCol w="1168400">
                  <a:extLst>
                    <a:ext uri="{9D8B030D-6E8A-4147-A177-3AD203B41FA5}">
                      <a16:colId xmlns:a16="http://schemas.microsoft.com/office/drawing/2014/main" val="1694826755"/>
                    </a:ext>
                  </a:extLst>
                </a:gridCol>
                <a:gridCol w="1168400">
                  <a:extLst>
                    <a:ext uri="{9D8B030D-6E8A-4147-A177-3AD203B41FA5}">
                      <a16:colId xmlns:a16="http://schemas.microsoft.com/office/drawing/2014/main" val="277827796"/>
                    </a:ext>
                  </a:extLst>
                </a:gridCol>
                <a:gridCol w="1168400">
                  <a:extLst>
                    <a:ext uri="{9D8B030D-6E8A-4147-A177-3AD203B41FA5}">
                      <a16:colId xmlns:a16="http://schemas.microsoft.com/office/drawing/2014/main" val="278816091"/>
                    </a:ext>
                  </a:extLst>
                </a:gridCol>
                <a:gridCol w="1168400">
                  <a:extLst>
                    <a:ext uri="{9D8B030D-6E8A-4147-A177-3AD203B41FA5}">
                      <a16:colId xmlns:a16="http://schemas.microsoft.com/office/drawing/2014/main" val="1728342194"/>
                    </a:ext>
                  </a:extLst>
                </a:gridCol>
                <a:gridCol w="1168400">
                  <a:extLst>
                    <a:ext uri="{9D8B030D-6E8A-4147-A177-3AD203B41FA5}">
                      <a16:colId xmlns:a16="http://schemas.microsoft.com/office/drawing/2014/main" val="3637103170"/>
                    </a:ext>
                  </a:extLst>
                </a:gridCol>
              </a:tblGrid>
              <a:tr h="396240">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7578959"/>
                  </a:ext>
                </a:extLst>
              </a:tr>
            </a:tbl>
          </a:graphicData>
        </a:graphic>
      </p:graphicFrame>
      <p:cxnSp>
        <p:nvCxnSpPr>
          <p:cNvPr id="16" name="Straight Arrow Connector 15">
            <a:extLst>
              <a:ext uri="{FF2B5EF4-FFF2-40B4-BE49-F238E27FC236}">
                <a16:creationId xmlns:a16="http://schemas.microsoft.com/office/drawing/2014/main" id="{B57C91F6-6916-8929-E39A-E9EC14A1F2E6}"/>
              </a:ext>
            </a:extLst>
          </p:cNvPr>
          <p:cNvCxnSpPr>
            <a:cxnSpLocks/>
          </p:cNvCxnSpPr>
          <p:nvPr/>
        </p:nvCxnSpPr>
        <p:spPr>
          <a:xfrm>
            <a:off x="5813852" y="3182057"/>
            <a:ext cx="0" cy="587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BCDF819-0484-B2A8-2775-F54559CA94B4}"/>
              </a:ext>
            </a:extLst>
          </p:cNvPr>
          <p:cNvSpPr txBox="1"/>
          <p:nvPr/>
        </p:nvSpPr>
        <p:spPr>
          <a:xfrm>
            <a:off x="757188" y="5103948"/>
            <a:ext cx="10226454" cy="543731"/>
          </a:xfrm>
          <a:prstGeom prst="rect">
            <a:avLst/>
          </a:prstGeom>
          <a:noFill/>
        </p:spPr>
        <p:txBody>
          <a:bodyPr wrap="square" rtlCol="0">
            <a:spAutoFit/>
          </a:bodyPr>
          <a:lstStyle/>
          <a:p>
            <a:pPr marL="294323" indent="-294323" defTabSz="941832">
              <a:spcAft>
                <a:spcPts val="600"/>
              </a:spcAft>
              <a:buFont typeface="Arial" panose="020B0604020202020204" pitchFamily="34" charset="0"/>
              <a:buChar char="•"/>
            </a:pPr>
            <a:r>
              <a:rPr lang="en-US" sz="2884" kern="1200" dirty="0">
                <a:solidFill>
                  <a:srgbClr val="B30000"/>
                </a:solidFill>
                <a:latin typeface="Times New Roman" panose="02020603050405020304" pitchFamily="18" charset="0"/>
                <a:ea typeface="+mn-ea"/>
                <a:cs typeface="Times New Roman" panose="02020603050405020304" pitchFamily="18" charset="0"/>
              </a:rPr>
              <a:t>Therefore, the decrypted message is </a:t>
            </a:r>
            <a:r>
              <a:rPr lang="en-US" sz="2884" b="1" dirty="0">
                <a:solidFill>
                  <a:srgbClr val="B30000"/>
                </a:solidFill>
                <a:latin typeface="Times New Roman" panose="02020603050405020304" pitchFamily="18" charset="0"/>
                <a:cs typeface="Times New Roman" panose="02020603050405020304" pitchFamily="18" charset="0"/>
              </a:rPr>
              <a:t>encrypted</a:t>
            </a:r>
            <a:r>
              <a:rPr lang="en-US" sz="2884" kern="1200" dirty="0">
                <a:solidFill>
                  <a:srgbClr val="B30000"/>
                </a:solidFill>
                <a:latin typeface="Times New Roman" panose="02020603050405020304" pitchFamily="18" charset="0"/>
                <a:ea typeface="+mn-ea"/>
                <a:cs typeface="Times New Roman" panose="02020603050405020304" pitchFamily="18" charset="0"/>
              </a:rPr>
              <a:t>.</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85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additive="base">
                                        <p:cTn id="19"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6F8BAB-6149-982F-5488-98423586AA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C6F63EB-D8CA-6CF8-FDBD-21CDCCFC7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54BD7CA-4CE2-77E3-0768-715EC70E2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32B41-8B95-0CE8-D04D-2F5DB53DDA0B}"/>
              </a:ext>
            </a:extLst>
          </p:cNvPr>
          <p:cNvSpPr>
            <a:spLocks noGrp="1"/>
          </p:cNvSpPr>
          <p:nvPr>
            <p:ph type="title"/>
          </p:nvPr>
        </p:nvSpPr>
        <p:spPr>
          <a:xfrm>
            <a:off x="250371" y="1153572"/>
            <a:ext cx="3636863"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Affine Cipher</a:t>
            </a:r>
          </a:p>
        </p:txBody>
      </p:sp>
      <p:sp>
        <p:nvSpPr>
          <p:cNvPr id="12" name="Arc 11">
            <a:extLst>
              <a:ext uri="{FF2B5EF4-FFF2-40B4-BE49-F238E27FC236}">
                <a16:creationId xmlns:a16="http://schemas.microsoft.com/office/drawing/2014/main" id="{8358EE1D-25EA-074F-0941-937AE4741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B330D324-F585-85E8-7168-4299B1B59F82}"/>
              </a:ext>
            </a:extLst>
          </p:cNvPr>
          <p:cNvSpPr txBox="1"/>
          <p:nvPr/>
        </p:nvSpPr>
        <p:spPr>
          <a:xfrm>
            <a:off x="4310743" y="272143"/>
            <a:ext cx="7323092"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Demands negligible computational resources.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More resistant to BFA than Additive and Multiplicative Cipher</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Highly vulnerable to BFA.</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Statistical attack.</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Validity of the keys should be tested.</a:t>
            </a:r>
          </a:p>
        </p:txBody>
      </p:sp>
    </p:spTree>
    <p:extLst>
      <p:ext uri="{BB962C8B-B14F-4D97-AF65-F5344CB8AC3E}">
        <p14:creationId xmlns:p14="http://schemas.microsoft.com/office/powerpoint/2010/main" val="303347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 calcmode="lin" valueType="num">
                                      <p:cBhvr additive="base">
                                        <p:cTn id="37"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Vigenere Cipher</a:t>
            </a:r>
          </a:p>
        </p:txBody>
      </p:sp>
    </p:spTree>
    <p:extLst>
      <p:ext uri="{BB962C8B-B14F-4D97-AF65-F5344CB8AC3E}">
        <p14:creationId xmlns:p14="http://schemas.microsoft.com/office/powerpoint/2010/main" val="27056760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D5689-5042-E8C5-F242-FED81704C531}"/>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Vigenere Cipher</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9145AB48-56B0-0ECC-32AE-526C069ED2B7}"/>
              </a:ext>
            </a:extLst>
          </p:cNvPr>
          <p:cNvSpPr txBox="1"/>
          <p:nvPr/>
        </p:nvSpPr>
        <p:spPr>
          <a:xfrm>
            <a:off x="4365171" y="315686"/>
            <a:ext cx="7489372" cy="4524315"/>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length of the key is made equal to that of the plaintext or ciphertext if it’s not the case already.</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k = [(k</a:t>
            </a:r>
            <a:r>
              <a:rPr lang="en-US" sz="3200" baseline="-25000" dirty="0">
                <a:latin typeface="Times New Roman" panose="02020603050405020304" pitchFamily="18" charset="0"/>
                <a:cs typeface="Times New Roman" panose="02020603050405020304" pitchFamily="18" charset="0"/>
              </a:rPr>
              <a:t>0</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m-1</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0</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1</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 ……,k</a:t>
            </a:r>
            <a:r>
              <a:rPr lang="en-US" sz="3200" baseline="-25000" dirty="0">
                <a:latin typeface="Times New Roman" panose="02020603050405020304" pitchFamily="18" charset="0"/>
                <a:cs typeface="Times New Roman" panose="02020603050405020304" pitchFamily="18" charset="0"/>
              </a:rPr>
              <a:t>m-1</a:t>
            </a:r>
            <a:r>
              <a:rPr lang="en-US" sz="32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 (p</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 k</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a:t>
            </a:r>
            <a:r>
              <a:rPr lang="en-US" sz="3200" baseline="-25000" dirty="0">
                <a:latin typeface="Times New Roman" panose="02020603050405020304" pitchFamily="18" charset="0"/>
                <a:cs typeface="Times New Roman" panose="02020603050405020304" pitchFamily="18" charset="0"/>
              </a:rPr>
              <a:t>mod m</a:t>
            </a:r>
            <a:r>
              <a:rPr lang="en-US" sz="3200" dirty="0">
                <a:latin typeface="Times New Roman" panose="02020603050405020304" pitchFamily="18" charset="0"/>
                <a:cs typeface="Times New Roman" panose="02020603050405020304" pitchFamily="18" charset="0"/>
              </a:rPr>
              <a:t>) mod 26</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 (c</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 k</a:t>
            </a:r>
            <a:r>
              <a:rPr lang="en-US" sz="3200" baseline="-25000" dirty="0">
                <a:latin typeface="Times New Roman" panose="02020603050405020304" pitchFamily="18" charset="0"/>
                <a:cs typeface="Times New Roman" panose="02020603050405020304" pitchFamily="18" charset="0"/>
              </a:rPr>
              <a:t>i</a:t>
            </a:r>
            <a:r>
              <a:rPr lang="en-US" sz="3200" dirty="0">
                <a:latin typeface="Times New Roman" panose="02020603050405020304" pitchFamily="18" charset="0"/>
                <a:cs typeface="Times New Roman" panose="02020603050405020304" pitchFamily="18" charset="0"/>
              </a:rPr>
              <a:t> </a:t>
            </a:r>
            <a:r>
              <a:rPr lang="en-US" sz="3200" baseline="-25000" dirty="0">
                <a:latin typeface="Times New Roman" panose="02020603050405020304" pitchFamily="18" charset="0"/>
                <a:cs typeface="Times New Roman" panose="02020603050405020304" pitchFamily="18" charset="0"/>
              </a:rPr>
              <a:t>mod m</a:t>
            </a:r>
            <a:r>
              <a:rPr lang="en-US" sz="3200" dirty="0">
                <a:latin typeface="Times New Roman" panose="02020603050405020304" pitchFamily="18" charset="0"/>
                <a:cs typeface="Times New Roman" panose="02020603050405020304" pitchFamily="18" charset="0"/>
              </a:rPr>
              <a:t>) mod 26</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Typically, m is lesser than the length of plaintext or ciphertext.</a:t>
            </a:r>
          </a:p>
        </p:txBody>
      </p:sp>
    </p:spTree>
    <p:extLst>
      <p:ext uri="{BB962C8B-B14F-4D97-AF65-F5344CB8AC3E}">
        <p14:creationId xmlns:p14="http://schemas.microsoft.com/office/powerpoint/2010/main" val="361276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7F3CD9E-335F-F469-6F91-6AFF7A1AF47E}"/>
              </a:ext>
            </a:extLst>
          </p:cNvPr>
          <p:cNvSpPr txBox="1"/>
          <p:nvPr/>
        </p:nvSpPr>
        <p:spPr>
          <a:xfrm>
            <a:off x="533400" y="2035629"/>
            <a:ext cx="1116874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Encrypt the plaintext </a:t>
            </a:r>
            <a:r>
              <a:rPr lang="en-US" sz="2400" b="1" dirty="0" err="1">
                <a:latin typeface="Times New Roman" panose="02020603050405020304" pitchFamily="18" charset="0"/>
                <a:cs typeface="Times New Roman" panose="02020603050405020304" pitchFamily="18" charset="0"/>
              </a:rPr>
              <a:t>karnataka</a:t>
            </a:r>
            <a:r>
              <a:rPr lang="en-US" sz="2400" dirty="0">
                <a:latin typeface="Times New Roman" panose="02020603050405020304" pitchFamily="18" charset="0"/>
                <a:cs typeface="Times New Roman" panose="02020603050405020304" pitchFamily="18" charset="0"/>
              </a:rPr>
              <a:t> using Vigenere Cipher and the key </a:t>
            </a:r>
            <a:r>
              <a:rPr lang="en-US" sz="2400" b="1" dirty="0">
                <a:latin typeface="Times New Roman" panose="02020603050405020304" pitchFamily="18" charset="0"/>
                <a:cs typeface="Times New Roman" panose="02020603050405020304" pitchFamily="18" charset="0"/>
              </a:rPr>
              <a:t>hello</a:t>
            </a:r>
            <a:r>
              <a:rPr lang="en-US" sz="2400" dirty="0">
                <a:latin typeface="Times New Roman" panose="02020603050405020304" pitchFamily="18" charset="0"/>
                <a:cs typeface="Times New Roman" panose="02020603050405020304" pitchFamily="18" charset="0"/>
              </a:rPr>
              <a:t>. Assume that only alphabets are used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7BBE645-FBF1-74AA-2503-D654DD4ED783}"/>
              </a:ext>
            </a:extLst>
          </p:cNvPr>
          <p:cNvGraphicFramePr>
            <a:graphicFrameLocks noGrp="1"/>
          </p:cNvGraphicFramePr>
          <p:nvPr>
            <p:extLst>
              <p:ext uri="{D42A27DB-BD31-4B8C-83A1-F6EECF244321}">
                <p14:modId xmlns:p14="http://schemas.microsoft.com/office/powerpoint/2010/main" val="3377948763"/>
              </p:ext>
            </p:extLst>
          </p:nvPr>
        </p:nvGraphicFramePr>
        <p:xfrm>
          <a:off x="1981197" y="3630323"/>
          <a:ext cx="9372600" cy="723880"/>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3347029926"/>
                    </a:ext>
                  </a:extLst>
                </a:gridCol>
                <a:gridCol w="937260">
                  <a:extLst>
                    <a:ext uri="{9D8B030D-6E8A-4147-A177-3AD203B41FA5}">
                      <a16:colId xmlns:a16="http://schemas.microsoft.com/office/drawing/2014/main" val="1937771426"/>
                    </a:ext>
                  </a:extLst>
                </a:gridCol>
                <a:gridCol w="937260">
                  <a:extLst>
                    <a:ext uri="{9D8B030D-6E8A-4147-A177-3AD203B41FA5}">
                      <a16:colId xmlns:a16="http://schemas.microsoft.com/office/drawing/2014/main" val="1233342293"/>
                    </a:ext>
                  </a:extLst>
                </a:gridCol>
                <a:gridCol w="937260">
                  <a:extLst>
                    <a:ext uri="{9D8B030D-6E8A-4147-A177-3AD203B41FA5}">
                      <a16:colId xmlns:a16="http://schemas.microsoft.com/office/drawing/2014/main" val="2795949285"/>
                    </a:ext>
                  </a:extLst>
                </a:gridCol>
                <a:gridCol w="937260">
                  <a:extLst>
                    <a:ext uri="{9D8B030D-6E8A-4147-A177-3AD203B41FA5}">
                      <a16:colId xmlns:a16="http://schemas.microsoft.com/office/drawing/2014/main" val="1714434279"/>
                    </a:ext>
                  </a:extLst>
                </a:gridCol>
                <a:gridCol w="937260">
                  <a:extLst>
                    <a:ext uri="{9D8B030D-6E8A-4147-A177-3AD203B41FA5}">
                      <a16:colId xmlns:a16="http://schemas.microsoft.com/office/drawing/2014/main" val="790840872"/>
                    </a:ext>
                  </a:extLst>
                </a:gridCol>
                <a:gridCol w="937260">
                  <a:extLst>
                    <a:ext uri="{9D8B030D-6E8A-4147-A177-3AD203B41FA5}">
                      <a16:colId xmlns:a16="http://schemas.microsoft.com/office/drawing/2014/main" val="1439589972"/>
                    </a:ext>
                  </a:extLst>
                </a:gridCol>
                <a:gridCol w="937260">
                  <a:extLst>
                    <a:ext uri="{9D8B030D-6E8A-4147-A177-3AD203B41FA5}">
                      <a16:colId xmlns:a16="http://schemas.microsoft.com/office/drawing/2014/main" val="4017109021"/>
                    </a:ext>
                  </a:extLst>
                </a:gridCol>
                <a:gridCol w="937260">
                  <a:extLst>
                    <a:ext uri="{9D8B030D-6E8A-4147-A177-3AD203B41FA5}">
                      <a16:colId xmlns:a16="http://schemas.microsoft.com/office/drawing/2014/main" val="3515405640"/>
                    </a:ext>
                  </a:extLst>
                </a:gridCol>
                <a:gridCol w="937260">
                  <a:extLst>
                    <a:ext uri="{9D8B030D-6E8A-4147-A177-3AD203B41FA5}">
                      <a16:colId xmlns:a16="http://schemas.microsoft.com/office/drawing/2014/main" val="2113544458"/>
                    </a:ext>
                  </a:extLst>
                </a:gridCol>
              </a:tblGrid>
              <a:tr h="723880">
                <a:tc>
                  <a:txBody>
                    <a:bodyPr/>
                    <a:lstStyle/>
                    <a:p>
                      <a:pPr algn="ctr"/>
                      <a:r>
                        <a:rPr lang="en-US" sz="3600" b="1" dirty="0">
                          <a:solidFill>
                            <a:schemeClr val="accent4">
                              <a:lumMod val="50000"/>
                            </a:schemeClr>
                          </a:solidFill>
                          <a:latin typeface="Times New Roman" panose="02020603050405020304" pitchFamily="18" charset="0"/>
                          <a:cs typeface="Times New Roman" panose="02020603050405020304" pitchFamily="18" charset="0"/>
                        </a:rPr>
                        <a:t>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 </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 </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 </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A4522AEB-C8EC-35D0-FBCC-F95D8119A483}"/>
              </a:ext>
            </a:extLst>
          </p:cNvPr>
          <p:cNvSpPr txBox="1"/>
          <p:nvPr/>
        </p:nvSpPr>
        <p:spPr>
          <a:xfrm>
            <a:off x="6270168" y="4577675"/>
            <a:ext cx="794657"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8D713533-B8C6-19A9-5C29-AE8AE3A7646A}"/>
              </a:ext>
            </a:extLst>
          </p:cNvPr>
          <p:cNvGraphicFramePr>
            <a:graphicFrameLocks noGrp="1"/>
          </p:cNvGraphicFramePr>
          <p:nvPr>
            <p:extLst>
              <p:ext uri="{D42A27DB-BD31-4B8C-83A1-F6EECF244321}">
                <p14:modId xmlns:p14="http://schemas.microsoft.com/office/powerpoint/2010/main" val="842920996"/>
              </p:ext>
            </p:extLst>
          </p:nvPr>
        </p:nvGraphicFramePr>
        <p:xfrm>
          <a:off x="1981197" y="5163380"/>
          <a:ext cx="9372600" cy="846654"/>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965488602"/>
                    </a:ext>
                  </a:extLst>
                </a:gridCol>
                <a:gridCol w="937260">
                  <a:extLst>
                    <a:ext uri="{9D8B030D-6E8A-4147-A177-3AD203B41FA5}">
                      <a16:colId xmlns:a16="http://schemas.microsoft.com/office/drawing/2014/main" val="2493585210"/>
                    </a:ext>
                  </a:extLst>
                </a:gridCol>
                <a:gridCol w="937260">
                  <a:extLst>
                    <a:ext uri="{9D8B030D-6E8A-4147-A177-3AD203B41FA5}">
                      <a16:colId xmlns:a16="http://schemas.microsoft.com/office/drawing/2014/main" val="1912715134"/>
                    </a:ext>
                  </a:extLst>
                </a:gridCol>
                <a:gridCol w="937260">
                  <a:extLst>
                    <a:ext uri="{9D8B030D-6E8A-4147-A177-3AD203B41FA5}">
                      <a16:colId xmlns:a16="http://schemas.microsoft.com/office/drawing/2014/main" val="4096474714"/>
                    </a:ext>
                  </a:extLst>
                </a:gridCol>
                <a:gridCol w="937260">
                  <a:extLst>
                    <a:ext uri="{9D8B030D-6E8A-4147-A177-3AD203B41FA5}">
                      <a16:colId xmlns:a16="http://schemas.microsoft.com/office/drawing/2014/main" val="1980879861"/>
                    </a:ext>
                  </a:extLst>
                </a:gridCol>
                <a:gridCol w="937260">
                  <a:extLst>
                    <a:ext uri="{9D8B030D-6E8A-4147-A177-3AD203B41FA5}">
                      <a16:colId xmlns:a16="http://schemas.microsoft.com/office/drawing/2014/main" val="777280121"/>
                    </a:ext>
                  </a:extLst>
                </a:gridCol>
                <a:gridCol w="937260">
                  <a:extLst>
                    <a:ext uri="{9D8B030D-6E8A-4147-A177-3AD203B41FA5}">
                      <a16:colId xmlns:a16="http://schemas.microsoft.com/office/drawing/2014/main" val="3491682401"/>
                    </a:ext>
                  </a:extLst>
                </a:gridCol>
                <a:gridCol w="937260">
                  <a:extLst>
                    <a:ext uri="{9D8B030D-6E8A-4147-A177-3AD203B41FA5}">
                      <a16:colId xmlns:a16="http://schemas.microsoft.com/office/drawing/2014/main" val="18054107"/>
                    </a:ext>
                  </a:extLst>
                </a:gridCol>
                <a:gridCol w="937260">
                  <a:extLst>
                    <a:ext uri="{9D8B030D-6E8A-4147-A177-3AD203B41FA5}">
                      <a16:colId xmlns:a16="http://schemas.microsoft.com/office/drawing/2014/main" val="57862029"/>
                    </a:ext>
                  </a:extLst>
                </a:gridCol>
                <a:gridCol w="937260">
                  <a:extLst>
                    <a:ext uri="{9D8B030D-6E8A-4147-A177-3AD203B41FA5}">
                      <a16:colId xmlns:a16="http://schemas.microsoft.com/office/drawing/2014/main" val="4134059627"/>
                    </a:ext>
                  </a:extLst>
                </a:gridCol>
              </a:tblGrid>
              <a:tr h="846654">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h</a:t>
                      </a:r>
                    </a:p>
                    <a:p>
                      <a:pPr algn="ctr"/>
                      <a:r>
                        <a:rPr lang="en-US" sz="2000">
                          <a:solidFill>
                            <a:srgbClr val="FF0000"/>
                          </a:solidFill>
                          <a:latin typeface="Times New Roman" panose="02020603050405020304" pitchFamily="18" charset="0"/>
                          <a:cs typeface="Times New Roman" panose="02020603050405020304" pitchFamily="18" charset="0"/>
                        </a:rPr>
                        <a:t>(7)</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e</a:t>
                      </a:r>
                    </a:p>
                    <a:p>
                      <a:pPr algn="ctr"/>
                      <a:r>
                        <a:rPr lang="en-US" sz="2000">
                          <a:solidFill>
                            <a:srgbClr val="FF0000"/>
                          </a:solidFill>
                          <a:latin typeface="Times New Roman" panose="02020603050405020304" pitchFamily="18" charset="0"/>
                          <a:cs typeface="Times New Roman" panose="02020603050405020304" pitchFamily="18" charset="0"/>
                        </a:rPr>
                        <a:t>(4)</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l</a:t>
                      </a:r>
                    </a:p>
                    <a:p>
                      <a:pPr algn="ctr"/>
                      <a:r>
                        <a:rPr lang="en-US" sz="2000">
                          <a:solidFill>
                            <a:srgbClr val="FF0000"/>
                          </a:solidFill>
                          <a:latin typeface="Times New Roman" panose="02020603050405020304" pitchFamily="18" charset="0"/>
                          <a:cs typeface="Times New Roman" panose="02020603050405020304" pitchFamily="18" charset="0"/>
                        </a:rPr>
                        <a:t>(11)</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l</a:t>
                      </a:r>
                    </a:p>
                    <a:p>
                      <a:pPr algn="ctr"/>
                      <a:r>
                        <a:rPr lang="en-US" sz="2000">
                          <a:solidFill>
                            <a:srgbClr val="FF0000"/>
                          </a:solidFill>
                          <a:latin typeface="Times New Roman" panose="02020603050405020304" pitchFamily="18" charset="0"/>
                          <a:cs typeface="Times New Roman" panose="02020603050405020304" pitchFamily="18" charset="0"/>
                        </a:rPr>
                        <a:t>(11)</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o</a:t>
                      </a:r>
                    </a:p>
                    <a:p>
                      <a:pPr algn="ctr"/>
                      <a:r>
                        <a:rPr lang="en-US" sz="2000">
                          <a:solidFill>
                            <a:srgbClr val="FF0000"/>
                          </a:solidFill>
                          <a:latin typeface="Times New Roman" panose="02020603050405020304" pitchFamily="18" charset="0"/>
                          <a:cs typeface="Times New Roman" panose="02020603050405020304" pitchFamily="18" charset="0"/>
                        </a:rPr>
                        <a:t>(14)</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h</a:t>
                      </a:r>
                    </a:p>
                    <a:p>
                      <a:pPr algn="ctr"/>
                      <a:r>
                        <a:rPr lang="en-US" sz="2000">
                          <a:solidFill>
                            <a:srgbClr val="FF0000"/>
                          </a:solidFill>
                          <a:latin typeface="Times New Roman" panose="02020603050405020304" pitchFamily="18" charset="0"/>
                          <a:cs typeface="Times New Roman" panose="02020603050405020304" pitchFamily="18" charset="0"/>
                        </a:rPr>
                        <a:t>(7)</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e</a:t>
                      </a:r>
                    </a:p>
                    <a:p>
                      <a:pPr algn="ctr"/>
                      <a:r>
                        <a:rPr lang="en-US" sz="2000">
                          <a:solidFill>
                            <a:srgbClr val="FF0000"/>
                          </a:solidFill>
                          <a:latin typeface="Times New Roman" panose="02020603050405020304" pitchFamily="18" charset="0"/>
                          <a:cs typeface="Times New Roman" panose="02020603050405020304" pitchFamily="18" charset="0"/>
                        </a:rPr>
                        <a:t>(4)</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solidFill>
                            <a:srgbClr val="FF0000"/>
                          </a:solidFill>
                          <a:latin typeface="Times New Roman" panose="02020603050405020304" pitchFamily="18" charset="0"/>
                          <a:cs typeface="Times New Roman" panose="02020603050405020304" pitchFamily="18" charset="0"/>
                        </a:rPr>
                        <a:t>l</a:t>
                      </a:r>
                    </a:p>
                    <a:p>
                      <a:pPr algn="ctr"/>
                      <a:r>
                        <a:rPr lang="en-US" sz="2000">
                          <a:solidFill>
                            <a:srgbClr val="FF0000"/>
                          </a:solidFill>
                          <a:latin typeface="Times New Roman" panose="02020603050405020304" pitchFamily="18" charset="0"/>
                          <a:cs typeface="Times New Roman" panose="02020603050405020304" pitchFamily="18" charset="0"/>
                        </a:rPr>
                        <a:t>(11)</a:t>
                      </a:r>
                      <a:endParaRPr 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15422295"/>
                  </a:ext>
                </a:extLst>
              </a:tr>
            </a:tbl>
          </a:graphicData>
        </a:graphic>
      </p:graphicFrame>
      <p:sp>
        <p:nvSpPr>
          <p:cNvPr id="10" name="TextBox 9">
            <a:extLst>
              <a:ext uri="{FF2B5EF4-FFF2-40B4-BE49-F238E27FC236}">
                <a16:creationId xmlns:a16="http://schemas.microsoft.com/office/drawing/2014/main" id="{8FC23B49-F8DA-11AA-D70B-670AB45D0500}"/>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spTree>
    <p:extLst>
      <p:ext uri="{BB962C8B-B14F-4D97-AF65-F5344CB8AC3E}">
        <p14:creationId xmlns:p14="http://schemas.microsoft.com/office/powerpoint/2010/main" val="82943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7F3CD9E-335F-F469-6F91-6AFF7A1AF47E}"/>
              </a:ext>
            </a:extLst>
          </p:cNvPr>
          <p:cNvSpPr txBox="1"/>
          <p:nvPr/>
        </p:nvSpPr>
        <p:spPr>
          <a:xfrm>
            <a:off x="533400" y="2035629"/>
            <a:ext cx="11168743" cy="830997"/>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758CC5D-C6F1-F18F-8980-2AED2F346562}"/>
              </a:ext>
            </a:extLst>
          </p:cNvPr>
          <p:cNvGraphicFramePr>
            <a:graphicFrameLocks noGrp="1"/>
          </p:cNvGraphicFramePr>
          <p:nvPr>
            <p:extLst>
              <p:ext uri="{D42A27DB-BD31-4B8C-83A1-F6EECF244321}">
                <p14:modId xmlns:p14="http://schemas.microsoft.com/office/powerpoint/2010/main" val="1107514551"/>
              </p:ext>
            </p:extLst>
          </p:nvPr>
        </p:nvGraphicFramePr>
        <p:xfrm>
          <a:off x="1007364" y="2080286"/>
          <a:ext cx="9464040" cy="892585"/>
        </p:xfrm>
        <a:graphic>
          <a:graphicData uri="http://schemas.openxmlformats.org/drawingml/2006/table">
            <a:tbl>
              <a:tblPr firstRow="1" bandRow="1">
                <a:tableStyleId>{5C22544A-7EE6-4342-B048-85BDC9FD1C3A}</a:tableStyleId>
              </a:tblPr>
              <a:tblGrid>
                <a:gridCol w="946404">
                  <a:extLst>
                    <a:ext uri="{9D8B030D-6E8A-4147-A177-3AD203B41FA5}">
                      <a16:colId xmlns:a16="http://schemas.microsoft.com/office/drawing/2014/main" val="2017826704"/>
                    </a:ext>
                  </a:extLst>
                </a:gridCol>
                <a:gridCol w="946404">
                  <a:extLst>
                    <a:ext uri="{9D8B030D-6E8A-4147-A177-3AD203B41FA5}">
                      <a16:colId xmlns:a16="http://schemas.microsoft.com/office/drawing/2014/main" val="80088430"/>
                    </a:ext>
                  </a:extLst>
                </a:gridCol>
                <a:gridCol w="946404">
                  <a:extLst>
                    <a:ext uri="{9D8B030D-6E8A-4147-A177-3AD203B41FA5}">
                      <a16:colId xmlns:a16="http://schemas.microsoft.com/office/drawing/2014/main" val="1279489623"/>
                    </a:ext>
                  </a:extLst>
                </a:gridCol>
                <a:gridCol w="946404">
                  <a:extLst>
                    <a:ext uri="{9D8B030D-6E8A-4147-A177-3AD203B41FA5}">
                      <a16:colId xmlns:a16="http://schemas.microsoft.com/office/drawing/2014/main" val="2493842608"/>
                    </a:ext>
                  </a:extLst>
                </a:gridCol>
                <a:gridCol w="946404">
                  <a:extLst>
                    <a:ext uri="{9D8B030D-6E8A-4147-A177-3AD203B41FA5}">
                      <a16:colId xmlns:a16="http://schemas.microsoft.com/office/drawing/2014/main" val="1226217058"/>
                    </a:ext>
                  </a:extLst>
                </a:gridCol>
                <a:gridCol w="946404">
                  <a:extLst>
                    <a:ext uri="{9D8B030D-6E8A-4147-A177-3AD203B41FA5}">
                      <a16:colId xmlns:a16="http://schemas.microsoft.com/office/drawing/2014/main" val="3246206686"/>
                    </a:ext>
                  </a:extLst>
                </a:gridCol>
                <a:gridCol w="946404">
                  <a:extLst>
                    <a:ext uri="{9D8B030D-6E8A-4147-A177-3AD203B41FA5}">
                      <a16:colId xmlns:a16="http://schemas.microsoft.com/office/drawing/2014/main" val="2400515694"/>
                    </a:ext>
                  </a:extLst>
                </a:gridCol>
                <a:gridCol w="946404">
                  <a:extLst>
                    <a:ext uri="{9D8B030D-6E8A-4147-A177-3AD203B41FA5}">
                      <a16:colId xmlns:a16="http://schemas.microsoft.com/office/drawing/2014/main" val="2751366929"/>
                    </a:ext>
                  </a:extLst>
                </a:gridCol>
                <a:gridCol w="946404">
                  <a:extLst>
                    <a:ext uri="{9D8B030D-6E8A-4147-A177-3AD203B41FA5}">
                      <a16:colId xmlns:a16="http://schemas.microsoft.com/office/drawing/2014/main" val="3069826485"/>
                    </a:ext>
                  </a:extLst>
                </a:gridCol>
                <a:gridCol w="946404">
                  <a:extLst>
                    <a:ext uri="{9D8B030D-6E8A-4147-A177-3AD203B41FA5}">
                      <a16:colId xmlns:a16="http://schemas.microsoft.com/office/drawing/2014/main" val="3050491480"/>
                    </a:ext>
                  </a:extLst>
                </a:gridCol>
              </a:tblGrid>
              <a:tr h="892585">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a:t>
                      </a:r>
                    </a:p>
                    <a:p>
                      <a:pPr algn="ctr"/>
                      <a:r>
                        <a:rPr lang="en-US" sz="200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14</a:t>
                      </a:r>
                    </a:p>
                    <a:p>
                      <a:pPr algn="ctr"/>
                      <a:r>
                        <a:rPr lang="en-US" sz="200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21</a:t>
                      </a:r>
                    </a:p>
                    <a:p>
                      <a:pPr algn="ctr"/>
                      <a:r>
                        <a:rPr lang="en-US" sz="200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11</a:t>
                      </a:r>
                    </a:p>
                    <a:p>
                      <a:pPr algn="ctr"/>
                      <a:r>
                        <a:rPr lang="en-US" sz="200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16905659"/>
                  </a:ext>
                </a:extLst>
              </a:tr>
            </a:tbl>
          </a:graphicData>
        </a:graphic>
      </p:graphicFrame>
      <p:sp>
        <p:nvSpPr>
          <p:cNvPr id="7" name="TextBox 6">
            <a:extLst>
              <a:ext uri="{FF2B5EF4-FFF2-40B4-BE49-F238E27FC236}">
                <a16:creationId xmlns:a16="http://schemas.microsoft.com/office/drawing/2014/main" id="{678F1D67-2B56-398A-3BAF-22F536127A2F}"/>
              </a:ext>
            </a:extLst>
          </p:cNvPr>
          <p:cNvSpPr txBox="1"/>
          <p:nvPr/>
        </p:nvSpPr>
        <p:spPr>
          <a:xfrm>
            <a:off x="669036" y="3657600"/>
            <a:ext cx="10434393"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ciphertext is </a:t>
            </a:r>
            <a:r>
              <a:rPr lang="en-US" sz="2400" b="1" dirty="0" err="1">
                <a:solidFill>
                  <a:srgbClr val="FF0000"/>
                </a:solidFill>
                <a:latin typeface="Times New Roman" panose="02020603050405020304" pitchFamily="18" charset="0"/>
                <a:cs typeface="Times New Roman" panose="02020603050405020304" pitchFamily="18" charset="0"/>
              </a:rPr>
              <a:t>recyoaevl</a:t>
            </a:r>
            <a:r>
              <a:rPr 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5348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7F3CD9E-335F-F469-6F91-6AFF7A1AF47E}"/>
              </a:ext>
            </a:extLst>
          </p:cNvPr>
          <p:cNvSpPr txBox="1"/>
          <p:nvPr/>
        </p:nvSpPr>
        <p:spPr>
          <a:xfrm>
            <a:off x="533400" y="2035629"/>
            <a:ext cx="1116874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Decrypt the ciphertext </a:t>
            </a:r>
            <a:r>
              <a:rPr lang="en-US" sz="2400" b="1" dirty="0" err="1">
                <a:latin typeface="Times New Roman" panose="02020603050405020304" pitchFamily="18" charset="0"/>
                <a:cs typeface="Times New Roman" panose="02020603050405020304" pitchFamily="18" charset="0"/>
              </a:rPr>
              <a:t>recyoaevl</a:t>
            </a:r>
            <a:r>
              <a:rPr lang="en-US" sz="2400" dirty="0">
                <a:latin typeface="Times New Roman" panose="02020603050405020304" pitchFamily="18" charset="0"/>
                <a:cs typeface="Times New Roman" panose="02020603050405020304" pitchFamily="18" charset="0"/>
              </a:rPr>
              <a:t> using Vigenere Cipher and the key </a:t>
            </a:r>
            <a:r>
              <a:rPr lang="en-US" sz="2400" b="1" dirty="0">
                <a:latin typeface="Times New Roman" panose="02020603050405020304" pitchFamily="18" charset="0"/>
                <a:cs typeface="Times New Roman" panose="02020603050405020304" pitchFamily="18" charset="0"/>
              </a:rPr>
              <a:t>hello</a:t>
            </a:r>
            <a:r>
              <a:rPr lang="en-US" sz="2400" dirty="0">
                <a:latin typeface="Times New Roman" panose="02020603050405020304" pitchFamily="18" charset="0"/>
                <a:cs typeface="Times New Roman" panose="02020603050405020304" pitchFamily="18" charset="0"/>
              </a:rPr>
              <a:t>. Assume that only alphabets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7BBE645-FBF1-74AA-2503-D654DD4ED783}"/>
              </a:ext>
            </a:extLst>
          </p:cNvPr>
          <p:cNvGraphicFramePr>
            <a:graphicFrameLocks noGrp="1"/>
          </p:cNvGraphicFramePr>
          <p:nvPr>
            <p:extLst>
              <p:ext uri="{D42A27DB-BD31-4B8C-83A1-F6EECF244321}">
                <p14:modId xmlns:p14="http://schemas.microsoft.com/office/powerpoint/2010/main" val="3550793280"/>
              </p:ext>
            </p:extLst>
          </p:nvPr>
        </p:nvGraphicFramePr>
        <p:xfrm>
          <a:off x="1981197" y="3630323"/>
          <a:ext cx="9372600" cy="723880"/>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3347029926"/>
                    </a:ext>
                  </a:extLst>
                </a:gridCol>
                <a:gridCol w="937260">
                  <a:extLst>
                    <a:ext uri="{9D8B030D-6E8A-4147-A177-3AD203B41FA5}">
                      <a16:colId xmlns:a16="http://schemas.microsoft.com/office/drawing/2014/main" val="1937771426"/>
                    </a:ext>
                  </a:extLst>
                </a:gridCol>
                <a:gridCol w="937260">
                  <a:extLst>
                    <a:ext uri="{9D8B030D-6E8A-4147-A177-3AD203B41FA5}">
                      <a16:colId xmlns:a16="http://schemas.microsoft.com/office/drawing/2014/main" val="1233342293"/>
                    </a:ext>
                  </a:extLst>
                </a:gridCol>
                <a:gridCol w="937260">
                  <a:extLst>
                    <a:ext uri="{9D8B030D-6E8A-4147-A177-3AD203B41FA5}">
                      <a16:colId xmlns:a16="http://schemas.microsoft.com/office/drawing/2014/main" val="2795949285"/>
                    </a:ext>
                  </a:extLst>
                </a:gridCol>
                <a:gridCol w="937260">
                  <a:extLst>
                    <a:ext uri="{9D8B030D-6E8A-4147-A177-3AD203B41FA5}">
                      <a16:colId xmlns:a16="http://schemas.microsoft.com/office/drawing/2014/main" val="1714434279"/>
                    </a:ext>
                  </a:extLst>
                </a:gridCol>
                <a:gridCol w="937260">
                  <a:extLst>
                    <a:ext uri="{9D8B030D-6E8A-4147-A177-3AD203B41FA5}">
                      <a16:colId xmlns:a16="http://schemas.microsoft.com/office/drawing/2014/main" val="790840872"/>
                    </a:ext>
                  </a:extLst>
                </a:gridCol>
                <a:gridCol w="937260">
                  <a:extLst>
                    <a:ext uri="{9D8B030D-6E8A-4147-A177-3AD203B41FA5}">
                      <a16:colId xmlns:a16="http://schemas.microsoft.com/office/drawing/2014/main" val="1439589972"/>
                    </a:ext>
                  </a:extLst>
                </a:gridCol>
                <a:gridCol w="937260">
                  <a:extLst>
                    <a:ext uri="{9D8B030D-6E8A-4147-A177-3AD203B41FA5}">
                      <a16:colId xmlns:a16="http://schemas.microsoft.com/office/drawing/2014/main" val="4017109021"/>
                    </a:ext>
                  </a:extLst>
                </a:gridCol>
                <a:gridCol w="937260">
                  <a:extLst>
                    <a:ext uri="{9D8B030D-6E8A-4147-A177-3AD203B41FA5}">
                      <a16:colId xmlns:a16="http://schemas.microsoft.com/office/drawing/2014/main" val="3515405640"/>
                    </a:ext>
                  </a:extLst>
                </a:gridCol>
                <a:gridCol w="937260">
                  <a:extLst>
                    <a:ext uri="{9D8B030D-6E8A-4147-A177-3AD203B41FA5}">
                      <a16:colId xmlns:a16="http://schemas.microsoft.com/office/drawing/2014/main" val="2113544458"/>
                    </a:ext>
                  </a:extLst>
                </a:gridCol>
              </a:tblGrid>
              <a:tr h="723880">
                <a:tc>
                  <a:txBody>
                    <a:bodyPr/>
                    <a:lstStyle/>
                    <a:p>
                      <a:pPr algn="ctr"/>
                      <a:r>
                        <a:rPr lang="en-US" sz="36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 </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 </a:t>
                      </a:r>
                    </a:p>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a:t>
                      </a:r>
                    </a:p>
                    <a:p>
                      <a:pPr algn="ctr"/>
                      <a:r>
                        <a:rPr lang="en-US" sz="200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 </a:t>
                      </a:r>
                    </a:p>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o </a:t>
                      </a:r>
                    </a:p>
                    <a:p>
                      <a:pPr algn="ctr"/>
                      <a:r>
                        <a:rPr lang="en-US" sz="2000" dirty="0">
                          <a:solidFill>
                            <a:srgbClr val="FF0000"/>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 </a:t>
                      </a:r>
                    </a:p>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v </a:t>
                      </a:r>
                    </a:p>
                    <a:p>
                      <a:pPr algn="ctr"/>
                      <a:r>
                        <a:rPr lang="en-US" sz="2000" dirty="0">
                          <a:solidFill>
                            <a:srgbClr val="FF0000"/>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 </a:t>
                      </a:r>
                    </a:p>
                    <a:p>
                      <a:pPr algn="ctr"/>
                      <a:r>
                        <a:rPr lang="en-US" sz="2000" dirty="0">
                          <a:solidFill>
                            <a:srgbClr val="FF0000"/>
                          </a:solidFill>
                          <a:latin typeface="Times New Roman" panose="02020603050405020304" pitchFamily="18" charset="0"/>
                          <a:cs typeface="Times New Roman" panose="02020603050405020304" pitchFamily="18" charset="0"/>
                        </a:rPr>
                        <a:t>(11)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A4522AEB-C8EC-35D0-FBCC-F95D8119A483}"/>
              </a:ext>
            </a:extLst>
          </p:cNvPr>
          <p:cNvSpPr txBox="1"/>
          <p:nvPr/>
        </p:nvSpPr>
        <p:spPr>
          <a:xfrm>
            <a:off x="6270167" y="4271211"/>
            <a:ext cx="794657" cy="707886"/>
          </a:xfrm>
          <a:prstGeom prst="rect">
            <a:avLst/>
          </a:prstGeom>
          <a:noFill/>
        </p:spPr>
        <p:txBody>
          <a:bodyPr wrap="square" rtlCol="0">
            <a:spAutoFit/>
          </a:bodyPr>
          <a:lstStyle/>
          <a:p>
            <a:pPr algn="ctr"/>
            <a:r>
              <a:rPr lang="en-US" sz="4000" dirty="0">
                <a:solidFill>
                  <a:srgbClr val="FF0000"/>
                </a:solidFill>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8D713533-B8C6-19A9-5C29-AE8AE3A7646A}"/>
              </a:ext>
            </a:extLst>
          </p:cNvPr>
          <p:cNvGraphicFramePr>
            <a:graphicFrameLocks noGrp="1"/>
          </p:cNvGraphicFramePr>
          <p:nvPr/>
        </p:nvGraphicFramePr>
        <p:xfrm>
          <a:off x="1981197" y="5163380"/>
          <a:ext cx="9372600" cy="846654"/>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965488602"/>
                    </a:ext>
                  </a:extLst>
                </a:gridCol>
                <a:gridCol w="937260">
                  <a:extLst>
                    <a:ext uri="{9D8B030D-6E8A-4147-A177-3AD203B41FA5}">
                      <a16:colId xmlns:a16="http://schemas.microsoft.com/office/drawing/2014/main" val="2493585210"/>
                    </a:ext>
                  </a:extLst>
                </a:gridCol>
                <a:gridCol w="937260">
                  <a:extLst>
                    <a:ext uri="{9D8B030D-6E8A-4147-A177-3AD203B41FA5}">
                      <a16:colId xmlns:a16="http://schemas.microsoft.com/office/drawing/2014/main" val="1912715134"/>
                    </a:ext>
                  </a:extLst>
                </a:gridCol>
                <a:gridCol w="937260">
                  <a:extLst>
                    <a:ext uri="{9D8B030D-6E8A-4147-A177-3AD203B41FA5}">
                      <a16:colId xmlns:a16="http://schemas.microsoft.com/office/drawing/2014/main" val="4096474714"/>
                    </a:ext>
                  </a:extLst>
                </a:gridCol>
                <a:gridCol w="937260">
                  <a:extLst>
                    <a:ext uri="{9D8B030D-6E8A-4147-A177-3AD203B41FA5}">
                      <a16:colId xmlns:a16="http://schemas.microsoft.com/office/drawing/2014/main" val="1980879861"/>
                    </a:ext>
                  </a:extLst>
                </a:gridCol>
                <a:gridCol w="937260">
                  <a:extLst>
                    <a:ext uri="{9D8B030D-6E8A-4147-A177-3AD203B41FA5}">
                      <a16:colId xmlns:a16="http://schemas.microsoft.com/office/drawing/2014/main" val="777280121"/>
                    </a:ext>
                  </a:extLst>
                </a:gridCol>
                <a:gridCol w="937260">
                  <a:extLst>
                    <a:ext uri="{9D8B030D-6E8A-4147-A177-3AD203B41FA5}">
                      <a16:colId xmlns:a16="http://schemas.microsoft.com/office/drawing/2014/main" val="3491682401"/>
                    </a:ext>
                  </a:extLst>
                </a:gridCol>
                <a:gridCol w="937260">
                  <a:extLst>
                    <a:ext uri="{9D8B030D-6E8A-4147-A177-3AD203B41FA5}">
                      <a16:colId xmlns:a16="http://schemas.microsoft.com/office/drawing/2014/main" val="18054107"/>
                    </a:ext>
                  </a:extLst>
                </a:gridCol>
                <a:gridCol w="937260">
                  <a:extLst>
                    <a:ext uri="{9D8B030D-6E8A-4147-A177-3AD203B41FA5}">
                      <a16:colId xmlns:a16="http://schemas.microsoft.com/office/drawing/2014/main" val="57862029"/>
                    </a:ext>
                  </a:extLst>
                </a:gridCol>
                <a:gridCol w="937260">
                  <a:extLst>
                    <a:ext uri="{9D8B030D-6E8A-4147-A177-3AD203B41FA5}">
                      <a16:colId xmlns:a16="http://schemas.microsoft.com/office/drawing/2014/main" val="4134059627"/>
                    </a:ext>
                  </a:extLst>
                </a:gridCol>
              </a:tblGrid>
              <a:tr h="846654">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h</a:t>
                      </a:r>
                    </a:p>
                    <a:p>
                      <a:pPr algn="ctr"/>
                      <a:r>
                        <a:rPr lang="en-US" sz="200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o</a:t>
                      </a:r>
                    </a:p>
                    <a:p>
                      <a:pPr algn="ctr"/>
                      <a:r>
                        <a:rPr lang="en-US" sz="2000" dirty="0">
                          <a:solidFill>
                            <a:srgbClr val="FF0000"/>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h</a:t>
                      </a:r>
                    </a:p>
                    <a:p>
                      <a:pPr algn="ctr"/>
                      <a:r>
                        <a:rPr lang="en-US" sz="200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15422295"/>
                  </a:ext>
                </a:extLst>
              </a:tr>
            </a:tbl>
          </a:graphicData>
        </a:graphic>
      </p:graphicFrame>
      <p:sp>
        <p:nvSpPr>
          <p:cNvPr id="10" name="TextBox 9">
            <a:extLst>
              <a:ext uri="{FF2B5EF4-FFF2-40B4-BE49-F238E27FC236}">
                <a16:creationId xmlns:a16="http://schemas.microsoft.com/office/drawing/2014/main" id="{8FC23B49-F8DA-11AA-D70B-670AB45D0500}"/>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spTree>
    <p:extLst>
      <p:ext uri="{BB962C8B-B14F-4D97-AF65-F5344CB8AC3E}">
        <p14:creationId xmlns:p14="http://schemas.microsoft.com/office/powerpoint/2010/main" val="237972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7F3CD9E-335F-F469-6F91-6AFF7A1AF47E}"/>
              </a:ext>
            </a:extLst>
          </p:cNvPr>
          <p:cNvSpPr txBox="1"/>
          <p:nvPr/>
        </p:nvSpPr>
        <p:spPr>
          <a:xfrm>
            <a:off x="533400" y="2035629"/>
            <a:ext cx="11168743" cy="830997"/>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758CC5D-C6F1-F18F-8980-2AED2F346562}"/>
              </a:ext>
            </a:extLst>
          </p:cNvPr>
          <p:cNvGraphicFramePr>
            <a:graphicFrameLocks noGrp="1"/>
          </p:cNvGraphicFramePr>
          <p:nvPr>
            <p:extLst>
              <p:ext uri="{D42A27DB-BD31-4B8C-83A1-F6EECF244321}">
                <p14:modId xmlns:p14="http://schemas.microsoft.com/office/powerpoint/2010/main" val="3169521253"/>
              </p:ext>
            </p:extLst>
          </p:nvPr>
        </p:nvGraphicFramePr>
        <p:xfrm>
          <a:off x="1007364" y="2080286"/>
          <a:ext cx="9464040" cy="892585"/>
        </p:xfrm>
        <a:graphic>
          <a:graphicData uri="http://schemas.openxmlformats.org/drawingml/2006/table">
            <a:tbl>
              <a:tblPr firstRow="1" bandRow="1">
                <a:tableStyleId>{5C22544A-7EE6-4342-B048-85BDC9FD1C3A}</a:tableStyleId>
              </a:tblPr>
              <a:tblGrid>
                <a:gridCol w="946404">
                  <a:extLst>
                    <a:ext uri="{9D8B030D-6E8A-4147-A177-3AD203B41FA5}">
                      <a16:colId xmlns:a16="http://schemas.microsoft.com/office/drawing/2014/main" val="2017826704"/>
                    </a:ext>
                  </a:extLst>
                </a:gridCol>
                <a:gridCol w="946404">
                  <a:extLst>
                    <a:ext uri="{9D8B030D-6E8A-4147-A177-3AD203B41FA5}">
                      <a16:colId xmlns:a16="http://schemas.microsoft.com/office/drawing/2014/main" val="80088430"/>
                    </a:ext>
                  </a:extLst>
                </a:gridCol>
                <a:gridCol w="946404">
                  <a:extLst>
                    <a:ext uri="{9D8B030D-6E8A-4147-A177-3AD203B41FA5}">
                      <a16:colId xmlns:a16="http://schemas.microsoft.com/office/drawing/2014/main" val="1279489623"/>
                    </a:ext>
                  </a:extLst>
                </a:gridCol>
                <a:gridCol w="946404">
                  <a:extLst>
                    <a:ext uri="{9D8B030D-6E8A-4147-A177-3AD203B41FA5}">
                      <a16:colId xmlns:a16="http://schemas.microsoft.com/office/drawing/2014/main" val="2493842608"/>
                    </a:ext>
                  </a:extLst>
                </a:gridCol>
                <a:gridCol w="946404">
                  <a:extLst>
                    <a:ext uri="{9D8B030D-6E8A-4147-A177-3AD203B41FA5}">
                      <a16:colId xmlns:a16="http://schemas.microsoft.com/office/drawing/2014/main" val="1226217058"/>
                    </a:ext>
                  </a:extLst>
                </a:gridCol>
                <a:gridCol w="946404">
                  <a:extLst>
                    <a:ext uri="{9D8B030D-6E8A-4147-A177-3AD203B41FA5}">
                      <a16:colId xmlns:a16="http://schemas.microsoft.com/office/drawing/2014/main" val="3246206686"/>
                    </a:ext>
                  </a:extLst>
                </a:gridCol>
                <a:gridCol w="946404">
                  <a:extLst>
                    <a:ext uri="{9D8B030D-6E8A-4147-A177-3AD203B41FA5}">
                      <a16:colId xmlns:a16="http://schemas.microsoft.com/office/drawing/2014/main" val="2400515694"/>
                    </a:ext>
                  </a:extLst>
                </a:gridCol>
                <a:gridCol w="946404">
                  <a:extLst>
                    <a:ext uri="{9D8B030D-6E8A-4147-A177-3AD203B41FA5}">
                      <a16:colId xmlns:a16="http://schemas.microsoft.com/office/drawing/2014/main" val="2751366929"/>
                    </a:ext>
                  </a:extLst>
                </a:gridCol>
                <a:gridCol w="946404">
                  <a:extLst>
                    <a:ext uri="{9D8B030D-6E8A-4147-A177-3AD203B41FA5}">
                      <a16:colId xmlns:a16="http://schemas.microsoft.com/office/drawing/2014/main" val="3069826485"/>
                    </a:ext>
                  </a:extLst>
                </a:gridCol>
                <a:gridCol w="946404">
                  <a:extLst>
                    <a:ext uri="{9D8B030D-6E8A-4147-A177-3AD203B41FA5}">
                      <a16:colId xmlns:a16="http://schemas.microsoft.com/office/drawing/2014/main" val="3050491480"/>
                    </a:ext>
                  </a:extLst>
                </a:gridCol>
              </a:tblGrid>
              <a:tr h="892585">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0</a:t>
                      </a:r>
                    </a:p>
                    <a:p>
                      <a:pPr algn="ctr"/>
                      <a:r>
                        <a:rPr lang="en-US" sz="200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16905659"/>
                  </a:ext>
                </a:extLst>
              </a:tr>
            </a:tbl>
          </a:graphicData>
        </a:graphic>
      </p:graphicFrame>
      <p:sp>
        <p:nvSpPr>
          <p:cNvPr id="7" name="TextBox 6">
            <a:extLst>
              <a:ext uri="{FF2B5EF4-FFF2-40B4-BE49-F238E27FC236}">
                <a16:creationId xmlns:a16="http://schemas.microsoft.com/office/drawing/2014/main" id="{678F1D67-2B56-398A-3BAF-22F536127A2F}"/>
              </a:ext>
            </a:extLst>
          </p:cNvPr>
          <p:cNvSpPr txBox="1"/>
          <p:nvPr/>
        </p:nvSpPr>
        <p:spPr>
          <a:xfrm>
            <a:off x="669036" y="3657600"/>
            <a:ext cx="10434393"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decrypted text is </a:t>
            </a:r>
            <a:r>
              <a:rPr lang="en-US" sz="2400" b="1" dirty="0" err="1">
                <a:solidFill>
                  <a:srgbClr val="FF0000"/>
                </a:solidFill>
                <a:latin typeface="Times New Roman" panose="02020603050405020304" pitchFamily="18" charset="0"/>
                <a:cs typeface="Times New Roman" panose="02020603050405020304" pitchFamily="18" charset="0"/>
              </a:rPr>
              <a:t>karnataka</a:t>
            </a:r>
            <a:r>
              <a:rPr 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9518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7F3CD9E-335F-F469-6F91-6AFF7A1AF47E}"/>
              </a:ext>
            </a:extLst>
          </p:cNvPr>
          <p:cNvSpPr txBox="1"/>
          <p:nvPr/>
        </p:nvSpPr>
        <p:spPr>
          <a:xfrm>
            <a:off x="533400" y="2035629"/>
            <a:ext cx="11168743"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Decrypt the ciphertext </a:t>
            </a:r>
            <a:r>
              <a:rPr lang="en-US" sz="2400" b="1" i="0" dirty="0" err="1">
                <a:solidFill>
                  <a:srgbClr val="000000"/>
                </a:solidFill>
                <a:effectLst/>
                <a:latin typeface="Times New Roman" panose="02020603050405020304" pitchFamily="18" charset="0"/>
                <a:cs typeface="Times New Roman" panose="02020603050405020304" pitchFamily="18" charset="0"/>
              </a:rPr>
              <a:t>yitpiyxugubnmtf</a:t>
            </a:r>
            <a:r>
              <a:rPr lang="en-US" sz="2400" dirty="0">
                <a:latin typeface="Times New Roman" panose="02020603050405020304" pitchFamily="18" charset="0"/>
                <a:cs typeface="Times New Roman" panose="02020603050405020304" pitchFamily="18" charset="0"/>
              </a:rPr>
              <a:t> using Vigenere Cipher and the key </a:t>
            </a:r>
            <a:r>
              <a:rPr lang="en-US" sz="2400" b="1" dirty="0" err="1">
                <a:latin typeface="Times New Roman" panose="02020603050405020304" pitchFamily="18" charset="0"/>
                <a:cs typeface="Times New Roman" panose="02020603050405020304" pitchFamily="18" charset="0"/>
              </a:rPr>
              <a:t>manipal</a:t>
            </a:r>
            <a:r>
              <a:rPr lang="en-US" sz="2400" dirty="0">
                <a:latin typeface="Times New Roman" panose="02020603050405020304" pitchFamily="18" charset="0"/>
                <a:cs typeface="Times New Roman" panose="02020603050405020304" pitchFamily="18" charset="0"/>
              </a:rPr>
              <a:t>. Assume that the encryption/decryption is done using only alphabets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7BBE645-FBF1-74AA-2503-D654DD4ED783}"/>
              </a:ext>
            </a:extLst>
          </p:cNvPr>
          <p:cNvGraphicFramePr>
            <a:graphicFrameLocks noGrp="1"/>
          </p:cNvGraphicFramePr>
          <p:nvPr>
            <p:extLst>
              <p:ext uri="{D42A27DB-BD31-4B8C-83A1-F6EECF244321}">
                <p14:modId xmlns:p14="http://schemas.microsoft.com/office/powerpoint/2010/main" val="4042077904"/>
              </p:ext>
            </p:extLst>
          </p:nvPr>
        </p:nvGraphicFramePr>
        <p:xfrm>
          <a:off x="2068275" y="3492568"/>
          <a:ext cx="9851576" cy="841134"/>
        </p:xfrm>
        <a:graphic>
          <a:graphicData uri="http://schemas.openxmlformats.org/drawingml/2006/table">
            <a:tbl>
              <a:tblPr firstRow="1" bandRow="1">
                <a:tableStyleId>{5C22544A-7EE6-4342-B048-85BDC9FD1C3A}</a:tableStyleId>
              </a:tblPr>
              <a:tblGrid>
                <a:gridCol w="622481">
                  <a:extLst>
                    <a:ext uri="{9D8B030D-6E8A-4147-A177-3AD203B41FA5}">
                      <a16:colId xmlns:a16="http://schemas.microsoft.com/office/drawing/2014/main" val="3347029926"/>
                    </a:ext>
                  </a:extLst>
                </a:gridCol>
                <a:gridCol w="615273">
                  <a:extLst>
                    <a:ext uri="{9D8B030D-6E8A-4147-A177-3AD203B41FA5}">
                      <a16:colId xmlns:a16="http://schemas.microsoft.com/office/drawing/2014/main" val="1937771426"/>
                    </a:ext>
                  </a:extLst>
                </a:gridCol>
                <a:gridCol w="615273">
                  <a:extLst>
                    <a:ext uri="{9D8B030D-6E8A-4147-A177-3AD203B41FA5}">
                      <a16:colId xmlns:a16="http://schemas.microsoft.com/office/drawing/2014/main" val="1233342293"/>
                    </a:ext>
                  </a:extLst>
                </a:gridCol>
                <a:gridCol w="615273">
                  <a:extLst>
                    <a:ext uri="{9D8B030D-6E8A-4147-A177-3AD203B41FA5}">
                      <a16:colId xmlns:a16="http://schemas.microsoft.com/office/drawing/2014/main" val="2795949285"/>
                    </a:ext>
                  </a:extLst>
                </a:gridCol>
                <a:gridCol w="615273">
                  <a:extLst>
                    <a:ext uri="{9D8B030D-6E8A-4147-A177-3AD203B41FA5}">
                      <a16:colId xmlns:a16="http://schemas.microsoft.com/office/drawing/2014/main" val="1714434279"/>
                    </a:ext>
                  </a:extLst>
                </a:gridCol>
                <a:gridCol w="615273">
                  <a:extLst>
                    <a:ext uri="{9D8B030D-6E8A-4147-A177-3AD203B41FA5}">
                      <a16:colId xmlns:a16="http://schemas.microsoft.com/office/drawing/2014/main" val="790840872"/>
                    </a:ext>
                  </a:extLst>
                </a:gridCol>
                <a:gridCol w="615273">
                  <a:extLst>
                    <a:ext uri="{9D8B030D-6E8A-4147-A177-3AD203B41FA5}">
                      <a16:colId xmlns:a16="http://schemas.microsoft.com/office/drawing/2014/main" val="1439589972"/>
                    </a:ext>
                  </a:extLst>
                </a:gridCol>
                <a:gridCol w="615273">
                  <a:extLst>
                    <a:ext uri="{9D8B030D-6E8A-4147-A177-3AD203B41FA5}">
                      <a16:colId xmlns:a16="http://schemas.microsoft.com/office/drawing/2014/main" val="4017109021"/>
                    </a:ext>
                  </a:extLst>
                </a:gridCol>
                <a:gridCol w="615273">
                  <a:extLst>
                    <a:ext uri="{9D8B030D-6E8A-4147-A177-3AD203B41FA5}">
                      <a16:colId xmlns:a16="http://schemas.microsoft.com/office/drawing/2014/main" val="3515405640"/>
                    </a:ext>
                  </a:extLst>
                </a:gridCol>
                <a:gridCol w="499505">
                  <a:extLst>
                    <a:ext uri="{9D8B030D-6E8A-4147-A177-3AD203B41FA5}">
                      <a16:colId xmlns:a16="http://schemas.microsoft.com/office/drawing/2014/main" val="2113544458"/>
                    </a:ext>
                  </a:extLst>
                </a:gridCol>
                <a:gridCol w="731041">
                  <a:extLst>
                    <a:ext uri="{9D8B030D-6E8A-4147-A177-3AD203B41FA5}">
                      <a16:colId xmlns:a16="http://schemas.microsoft.com/office/drawing/2014/main" val="1951145754"/>
                    </a:ext>
                  </a:extLst>
                </a:gridCol>
                <a:gridCol w="615273">
                  <a:extLst>
                    <a:ext uri="{9D8B030D-6E8A-4147-A177-3AD203B41FA5}">
                      <a16:colId xmlns:a16="http://schemas.microsoft.com/office/drawing/2014/main" val="3934267904"/>
                    </a:ext>
                  </a:extLst>
                </a:gridCol>
                <a:gridCol w="615273">
                  <a:extLst>
                    <a:ext uri="{9D8B030D-6E8A-4147-A177-3AD203B41FA5}">
                      <a16:colId xmlns:a16="http://schemas.microsoft.com/office/drawing/2014/main" val="3291482867"/>
                    </a:ext>
                  </a:extLst>
                </a:gridCol>
                <a:gridCol w="615273">
                  <a:extLst>
                    <a:ext uri="{9D8B030D-6E8A-4147-A177-3AD203B41FA5}">
                      <a16:colId xmlns:a16="http://schemas.microsoft.com/office/drawing/2014/main" val="2997039074"/>
                    </a:ext>
                  </a:extLst>
                </a:gridCol>
                <a:gridCol w="615273">
                  <a:extLst>
                    <a:ext uri="{9D8B030D-6E8A-4147-A177-3AD203B41FA5}">
                      <a16:colId xmlns:a16="http://schemas.microsoft.com/office/drawing/2014/main" val="2591830014"/>
                    </a:ext>
                  </a:extLst>
                </a:gridCol>
                <a:gridCol w="615273">
                  <a:extLst>
                    <a:ext uri="{9D8B030D-6E8A-4147-A177-3AD203B41FA5}">
                      <a16:colId xmlns:a16="http://schemas.microsoft.com/office/drawing/2014/main" val="1313156768"/>
                    </a:ext>
                  </a:extLst>
                </a:gridCol>
              </a:tblGrid>
              <a:tr h="841134">
                <a:tc>
                  <a:txBody>
                    <a:bodyPr/>
                    <a:lstStyle/>
                    <a:p>
                      <a:pPr algn="ctr"/>
                      <a:r>
                        <a:rPr lang="en-US" sz="20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y</a:t>
                      </a:r>
                    </a:p>
                    <a:p>
                      <a:pPr algn="ctr"/>
                      <a:r>
                        <a:rPr lang="en-US" sz="2000" dirty="0">
                          <a:solidFill>
                            <a:srgbClr val="FF0000"/>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x</a:t>
                      </a:r>
                    </a:p>
                    <a:p>
                      <a:pPr algn="ctr"/>
                      <a:r>
                        <a:rPr lang="en-US" sz="2000" dirty="0">
                          <a:solidFill>
                            <a:srgbClr val="FF0000"/>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u</a:t>
                      </a:r>
                    </a:p>
                    <a:p>
                      <a:pPr algn="ctr"/>
                      <a:r>
                        <a:rPr lang="en-US" sz="2000" dirty="0">
                          <a:solidFill>
                            <a:srgbClr val="FF0000"/>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g</a:t>
                      </a:r>
                    </a:p>
                    <a:p>
                      <a:pPr algn="ctr"/>
                      <a:r>
                        <a:rPr lang="en-US" sz="2000" dirty="0">
                          <a:solidFill>
                            <a:srgbClr val="FF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u</a:t>
                      </a:r>
                    </a:p>
                    <a:p>
                      <a:pPr algn="ctr"/>
                      <a:r>
                        <a:rPr lang="en-US" sz="2000" dirty="0">
                          <a:solidFill>
                            <a:srgbClr val="FF0000"/>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b</a:t>
                      </a:r>
                    </a:p>
                    <a:p>
                      <a:pPr algn="ctr"/>
                      <a:r>
                        <a:rPr lang="en-US" sz="2000" dirty="0">
                          <a:solidFill>
                            <a:srgbClr val="FF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f</a:t>
                      </a:r>
                    </a:p>
                    <a:p>
                      <a:pPr algn="ctr"/>
                      <a:r>
                        <a:rPr lang="en-US" sz="2000" dirty="0">
                          <a:solidFill>
                            <a:srgbClr val="FF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A4522AEB-C8EC-35D0-FBCC-F95D8119A483}"/>
              </a:ext>
            </a:extLst>
          </p:cNvPr>
          <p:cNvSpPr txBox="1"/>
          <p:nvPr/>
        </p:nvSpPr>
        <p:spPr>
          <a:xfrm>
            <a:off x="6270167" y="4271211"/>
            <a:ext cx="794657" cy="707886"/>
          </a:xfrm>
          <a:prstGeom prst="rect">
            <a:avLst/>
          </a:prstGeom>
          <a:noFill/>
        </p:spPr>
        <p:txBody>
          <a:bodyPr wrap="square" rtlCol="0">
            <a:spAutoFit/>
          </a:bodyPr>
          <a:lstStyle/>
          <a:p>
            <a:pPr algn="ctr"/>
            <a:r>
              <a:rPr lang="en-US" sz="4000" dirty="0">
                <a:solidFill>
                  <a:srgbClr val="FF000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8FC23B49-F8DA-11AA-D70B-670AB45D0500}"/>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graphicFrame>
        <p:nvGraphicFramePr>
          <p:cNvPr id="6" name="Table 5">
            <a:extLst>
              <a:ext uri="{FF2B5EF4-FFF2-40B4-BE49-F238E27FC236}">
                <a16:creationId xmlns:a16="http://schemas.microsoft.com/office/drawing/2014/main" id="{DC1437FC-1AD6-42B3-4C63-12AA68816205}"/>
              </a:ext>
            </a:extLst>
          </p:cNvPr>
          <p:cNvGraphicFramePr>
            <a:graphicFrameLocks noGrp="1"/>
          </p:cNvGraphicFramePr>
          <p:nvPr>
            <p:extLst>
              <p:ext uri="{D42A27DB-BD31-4B8C-83A1-F6EECF244321}">
                <p14:modId xmlns:p14="http://schemas.microsoft.com/office/powerpoint/2010/main" val="1620305053"/>
              </p:ext>
            </p:extLst>
          </p:nvPr>
        </p:nvGraphicFramePr>
        <p:xfrm>
          <a:off x="2068274" y="5053253"/>
          <a:ext cx="9851584" cy="841134"/>
        </p:xfrm>
        <a:graphic>
          <a:graphicData uri="http://schemas.openxmlformats.org/drawingml/2006/table">
            <a:tbl>
              <a:tblPr firstRow="1" bandRow="1">
                <a:tableStyleId>{5C22544A-7EE6-4342-B048-85BDC9FD1C3A}</a:tableStyleId>
              </a:tblPr>
              <a:tblGrid>
                <a:gridCol w="615724">
                  <a:extLst>
                    <a:ext uri="{9D8B030D-6E8A-4147-A177-3AD203B41FA5}">
                      <a16:colId xmlns:a16="http://schemas.microsoft.com/office/drawing/2014/main" val="2261565503"/>
                    </a:ext>
                  </a:extLst>
                </a:gridCol>
                <a:gridCol w="615724">
                  <a:extLst>
                    <a:ext uri="{9D8B030D-6E8A-4147-A177-3AD203B41FA5}">
                      <a16:colId xmlns:a16="http://schemas.microsoft.com/office/drawing/2014/main" val="918652370"/>
                    </a:ext>
                  </a:extLst>
                </a:gridCol>
                <a:gridCol w="615724">
                  <a:extLst>
                    <a:ext uri="{9D8B030D-6E8A-4147-A177-3AD203B41FA5}">
                      <a16:colId xmlns:a16="http://schemas.microsoft.com/office/drawing/2014/main" val="2559167365"/>
                    </a:ext>
                  </a:extLst>
                </a:gridCol>
                <a:gridCol w="615724">
                  <a:extLst>
                    <a:ext uri="{9D8B030D-6E8A-4147-A177-3AD203B41FA5}">
                      <a16:colId xmlns:a16="http://schemas.microsoft.com/office/drawing/2014/main" val="1662241994"/>
                    </a:ext>
                  </a:extLst>
                </a:gridCol>
                <a:gridCol w="615724">
                  <a:extLst>
                    <a:ext uri="{9D8B030D-6E8A-4147-A177-3AD203B41FA5}">
                      <a16:colId xmlns:a16="http://schemas.microsoft.com/office/drawing/2014/main" val="2023972159"/>
                    </a:ext>
                  </a:extLst>
                </a:gridCol>
                <a:gridCol w="615724">
                  <a:extLst>
                    <a:ext uri="{9D8B030D-6E8A-4147-A177-3AD203B41FA5}">
                      <a16:colId xmlns:a16="http://schemas.microsoft.com/office/drawing/2014/main" val="3485246050"/>
                    </a:ext>
                  </a:extLst>
                </a:gridCol>
                <a:gridCol w="615724">
                  <a:extLst>
                    <a:ext uri="{9D8B030D-6E8A-4147-A177-3AD203B41FA5}">
                      <a16:colId xmlns:a16="http://schemas.microsoft.com/office/drawing/2014/main" val="1833339727"/>
                    </a:ext>
                  </a:extLst>
                </a:gridCol>
                <a:gridCol w="615724">
                  <a:extLst>
                    <a:ext uri="{9D8B030D-6E8A-4147-A177-3AD203B41FA5}">
                      <a16:colId xmlns:a16="http://schemas.microsoft.com/office/drawing/2014/main" val="804832396"/>
                    </a:ext>
                  </a:extLst>
                </a:gridCol>
                <a:gridCol w="615724">
                  <a:extLst>
                    <a:ext uri="{9D8B030D-6E8A-4147-A177-3AD203B41FA5}">
                      <a16:colId xmlns:a16="http://schemas.microsoft.com/office/drawing/2014/main" val="3017396674"/>
                    </a:ext>
                  </a:extLst>
                </a:gridCol>
                <a:gridCol w="615724">
                  <a:extLst>
                    <a:ext uri="{9D8B030D-6E8A-4147-A177-3AD203B41FA5}">
                      <a16:colId xmlns:a16="http://schemas.microsoft.com/office/drawing/2014/main" val="336697361"/>
                    </a:ext>
                  </a:extLst>
                </a:gridCol>
                <a:gridCol w="615724">
                  <a:extLst>
                    <a:ext uri="{9D8B030D-6E8A-4147-A177-3AD203B41FA5}">
                      <a16:colId xmlns:a16="http://schemas.microsoft.com/office/drawing/2014/main" val="3009000320"/>
                    </a:ext>
                  </a:extLst>
                </a:gridCol>
                <a:gridCol w="615724">
                  <a:extLst>
                    <a:ext uri="{9D8B030D-6E8A-4147-A177-3AD203B41FA5}">
                      <a16:colId xmlns:a16="http://schemas.microsoft.com/office/drawing/2014/main" val="4293683757"/>
                    </a:ext>
                  </a:extLst>
                </a:gridCol>
                <a:gridCol w="615724">
                  <a:extLst>
                    <a:ext uri="{9D8B030D-6E8A-4147-A177-3AD203B41FA5}">
                      <a16:colId xmlns:a16="http://schemas.microsoft.com/office/drawing/2014/main" val="2912650904"/>
                    </a:ext>
                  </a:extLst>
                </a:gridCol>
                <a:gridCol w="615724">
                  <a:extLst>
                    <a:ext uri="{9D8B030D-6E8A-4147-A177-3AD203B41FA5}">
                      <a16:colId xmlns:a16="http://schemas.microsoft.com/office/drawing/2014/main" val="3343049538"/>
                    </a:ext>
                  </a:extLst>
                </a:gridCol>
                <a:gridCol w="615724">
                  <a:extLst>
                    <a:ext uri="{9D8B030D-6E8A-4147-A177-3AD203B41FA5}">
                      <a16:colId xmlns:a16="http://schemas.microsoft.com/office/drawing/2014/main" val="2035251183"/>
                    </a:ext>
                  </a:extLst>
                </a:gridCol>
                <a:gridCol w="615724">
                  <a:extLst>
                    <a:ext uri="{9D8B030D-6E8A-4147-A177-3AD203B41FA5}">
                      <a16:colId xmlns:a16="http://schemas.microsoft.com/office/drawing/2014/main" val="1670974983"/>
                    </a:ext>
                  </a:extLst>
                </a:gridCol>
              </a:tblGrid>
              <a:tr h="841134">
                <a:tc>
                  <a:txBody>
                    <a:bodyPr/>
                    <a:lstStyle/>
                    <a:p>
                      <a:pPr algn="ctr"/>
                      <a:r>
                        <a:rPr lang="en-US" sz="1800" b="1" dirty="0">
                          <a:solidFill>
                            <a:srgbClr val="002060"/>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err="1">
                          <a:solidFill>
                            <a:srgbClr val="FF0000"/>
                          </a:solidFill>
                          <a:latin typeface="Times New Roman" panose="02020603050405020304" pitchFamily="18" charset="0"/>
                          <a:cs typeface="Times New Roman" panose="02020603050405020304" pitchFamily="18" charset="0"/>
                        </a:rPr>
                        <a:t>i</a:t>
                      </a:r>
                      <a:endParaRPr lang="en-US" sz="2000" dirty="0">
                        <a:solidFill>
                          <a:srgbClr val="FF0000"/>
                        </a:solidFill>
                        <a:latin typeface="Times New Roman" panose="02020603050405020304" pitchFamily="18" charset="0"/>
                        <a:cs typeface="Times New Roman" panose="02020603050405020304" pitchFamily="18" charset="0"/>
                      </a:endParaRPr>
                    </a:p>
                    <a:p>
                      <a:pPr algn="ctr"/>
                      <a:r>
                        <a:rPr lang="en-US" sz="2000" dirty="0">
                          <a:solidFill>
                            <a:srgbClr val="FF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p</a:t>
                      </a:r>
                    </a:p>
                    <a:p>
                      <a:pPr algn="ctr"/>
                      <a:r>
                        <a:rPr lang="en-US" sz="2000" dirty="0">
                          <a:solidFill>
                            <a:srgbClr val="FF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l</a:t>
                      </a:r>
                    </a:p>
                    <a:p>
                      <a:pPr algn="ctr"/>
                      <a:r>
                        <a:rPr lang="en-US" sz="2000" dirty="0">
                          <a:solidFill>
                            <a:srgbClr val="FF0000"/>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m</a:t>
                      </a:r>
                    </a:p>
                    <a:p>
                      <a:pPr algn="ctr"/>
                      <a:r>
                        <a:rPr lang="en-US" sz="2000" dirty="0">
                          <a:solidFill>
                            <a:srgbClr val="FF0000"/>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81415682"/>
                  </a:ext>
                </a:extLst>
              </a:tr>
            </a:tbl>
          </a:graphicData>
        </a:graphic>
      </p:graphicFrame>
    </p:spTree>
    <p:extLst>
      <p:ext uri="{BB962C8B-B14F-4D97-AF65-F5344CB8AC3E}">
        <p14:creationId xmlns:p14="http://schemas.microsoft.com/office/powerpoint/2010/main" val="9716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graphicFrame>
        <p:nvGraphicFramePr>
          <p:cNvPr id="6" name="Table 5">
            <a:extLst>
              <a:ext uri="{FF2B5EF4-FFF2-40B4-BE49-F238E27FC236}">
                <a16:creationId xmlns:a16="http://schemas.microsoft.com/office/drawing/2014/main" id="{DC1437FC-1AD6-42B3-4C63-12AA68816205}"/>
              </a:ext>
            </a:extLst>
          </p:cNvPr>
          <p:cNvGraphicFramePr>
            <a:graphicFrameLocks noGrp="1"/>
          </p:cNvGraphicFramePr>
          <p:nvPr>
            <p:extLst>
              <p:ext uri="{D42A27DB-BD31-4B8C-83A1-F6EECF244321}">
                <p14:modId xmlns:p14="http://schemas.microsoft.com/office/powerpoint/2010/main" val="1243807143"/>
              </p:ext>
            </p:extLst>
          </p:nvPr>
        </p:nvGraphicFramePr>
        <p:xfrm>
          <a:off x="1671380" y="2161802"/>
          <a:ext cx="9851584" cy="841134"/>
        </p:xfrm>
        <a:graphic>
          <a:graphicData uri="http://schemas.openxmlformats.org/drawingml/2006/table">
            <a:tbl>
              <a:tblPr firstRow="1" bandRow="1">
                <a:tableStyleId>{5C22544A-7EE6-4342-B048-85BDC9FD1C3A}</a:tableStyleId>
              </a:tblPr>
              <a:tblGrid>
                <a:gridCol w="615724">
                  <a:extLst>
                    <a:ext uri="{9D8B030D-6E8A-4147-A177-3AD203B41FA5}">
                      <a16:colId xmlns:a16="http://schemas.microsoft.com/office/drawing/2014/main" val="2261565503"/>
                    </a:ext>
                  </a:extLst>
                </a:gridCol>
                <a:gridCol w="615724">
                  <a:extLst>
                    <a:ext uri="{9D8B030D-6E8A-4147-A177-3AD203B41FA5}">
                      <a16:colId xmlns:a16="http://schemas.microsoft.com/office/drawing/2014/main" val="918652370"/>
                    </a:ext>
                  </a:extLst>
                </a:gridCol>
                <a:gridCol w="615724">
                  <a:extLst>
                    <a:ext uri="{9D8B030D-6E8A-4147-A177-3AD203B41FA5}">
                      <a16:colId xmlns:a16="http://schemas.microsoft.com/office/drawing/2014/main" val="2559167365"/>
                    </a:ext>
                  </a:extLst>
                </a:gridCol>
                <a:gridCol w="615724">
                  <a:extLst>
                    <a:ext uri="{9D8B030D-6E8A-4147-A177-3AD203B41FA5}">
                      <a16:colId xmlns:a16="http://schemas.microsoft.com/office/drawing/2014/main" val="1662241994"/>
                    </a:ext>
                  </a:extLst>
                </a:gridCol>
                <a:gridCol w="615724">
                  <a:extLst>
                    <a:ext uri="{9D8B030D-6E8A-4147-A177-3AD203B41FA5}">
                      <a16:colId xmlns:a16="http://schemas.microsoft.com/office/drawing/2014/main" val="2023972159"/>
                    </a:ext>
                  </a:extLst>
                </a:gridCol>
                <a:gridCol w="615724">
                  <a:extLst>
                    <a:ext uri="{9D8B030D-6E8A-4147-A177-3AD203B41FA5}">
                      <a16:colId xmlns:a16="http://schemas.microsoft.com/office/drawing/2014/main" val="3485246050"/>
                    </a:ext>
                  </a:extLst>
                </a:gridCol>
                <a:gridCol w="615724">
                  <a:extLst>
                    <a:ext uri="{9D8B030D-6E8A-4147-A177-3AD203B41FA5}">
                      <a16:colId xmlns:a16="http://schemas.microsoft.com/office/drawing/2014/main" val="1833339727"/>
                    </a:ext>
                  </a:extLst>
                </a:gridCol>
                <a:gridCol w="615724">
                  <a:extLst>
                    <a:ext uri="{9D8B030D-6E8A-4147-A177-3AD203B41FA5}">
                      <a16:colId xmlns:a16="http://schemas.microsoft.com/office/drawing/2014/main" val="804832396"/>
                    </a:ext>
                  </a:extLst>
                </a:gridCol>
                <a:gridCol w="615724">
                  <a:extLst>
                    <a:ext uri="{9D8B030D-6E8A-4147-A177-3AD203B41FA5}">
                      <a16:colId xmlns:a16="http://schemas.microsoft.com/office/drawing/2014/main" val="3017396674"/>
                    </a:ext>
                  </a:extLst>
                </a:gridCol>
                <a:gridCol w="615724">
                  <a:extLst>
                    <a:ext uri="{9D8B030D-6E8A-4147-A177-3AD203B41FA5}">
                      <a16:colId xmlns:a16="http://schemas.microsoft.com/office/drawing/2014/main" val="336697361"/>
                    </a:ext>
                  </a:extLst>
                </a:gridCol>
                <a:gridCol w="615724">
                  <a:extLst>
                    <a:ext uri="{9D8B030D-6E8A-4147-A177-3AD203B41FA5}">
                      <a16:colId xmlns:a16="http://schemas.microsoft.com/office/drawing/2014/main" val="3009000320"/>
                    </a:ext>
                  </a:extLst>
                </a:gridCol>
                <a:gridCol w="615724">
                  <a:extLst>
                    <a:ext uri="{9D8B030D-6E8A-4147-A177-3AD203B41FA5}">
                      <a16:colId xmlns:a16="http://schemas.microsoft.com/office/drawing/2014/main" val="4293683757"/>
                    </a:ext>
                  </a:extLst>
                </a:gridCol>
                <a:gridCol w="615724">
                  <a:extLst>
                    <a:ext uri="{9D8B030D-6E8A-4147-A177-3AD203B41FA5}">
                      <a16:colId xmlns:a16="http://schemas.microsoft.com/office/drawing/2014/main" val="2912650904"/>
                    </a:ext>
                  </a:extLst>
                </a:gridCol>
                <a:gridCol w="615724">
                  <a:extLst>
                    <a:ext uri="{9D8B030D-6E8A-4147-A177-3AD203B41FA5}">
                      <a16:colId xmlns:a16="http://schemas.microsoft.com/office/drawing/2014/main" val="3343049538"/>
                    </a:ext>
                  </a:extLst>
                </a:gridCol>
                <a:gridCol w="615724">
                  <a:extLst>
                    <a:ext uri="{9D8B030D-6E8A-4147-A177-3AD203B41FA5}">
                      <a16:colId xmlns:a16="http://schemas.microsoft.com/office/drawing/2014/main" val="2035251183"/>
                    </a:ext>
                  </a:extLst>
                </a:gridCol>
                <a:gridCol w="615724">
                  <a:extLst>
                    <a:ext uri="{9D8B030D-6E8A-4147-A177-3AD203B41FA5}">
                      <a16:colId xmlns:a16="http://schemas.microsoft.com/office/drawing/2014/main" val="1670974983"/>
                    </a:ext>
                  </a:extLst>
                </a:gridCol>
              </a:tblGrid>
              <a:tr h="841134">
                <a:tc>
                  <a:txBody>
                    <a:bodyPr/>
                    <a:lstStyle/>
                    <a:p>
                      <a:pPr algn="ctr"/>
                      <a:r>
                        <a:rPr lang="en-US" sz="2000" b="1" dirty="0">
                          <a:solidFill>
                            <a:srgbClr val="002060"/>
                          </a:solidFill>
                          <a:latin typeface="Times New Roman" panose="02020603050405020304" pitchFamily="18" charset="0"/>
                          <a:cs typeface="Times New Roman" panose="02020603050405020304" pitchFamily="18" charset="0"/>
                        </a:rPr>
                        <a:t>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p>
                      <a:pPr algn="ctr"/>
                      <a:r>
                        <a:rPr lang="en-US" sz="2000" dirty="0">
                          <a:solidFill>
                            <a:srgbClr val="FF0000"/>
                          </a:solidFill>
                          <a:latin typeface="Times New Roman" panose="02020603050405020304" pitchFamily="18" charset="0"/>
                          <a:cs typeface="Times New Roman" panose="02020603050405020304" pitchFamily="18" charset="0"/>
                        </a:rPr>
                        <a:t>(</a:t>
                      </a:r>
                      <a:r>
                        <a:rPr lang="en-US" sz="2000" dirty="0" err="1">
                          <a:solidFill>
                            <a:srgbClr val="FF0000"/>
                          </a:solidFill>
                          <a:latin typeface="Times New Roman" panose="02020603050405020304" pitchFamily="18" charset="0"/>
                          <a:cs typeface="Times New Roman" panose="02020603050405020304" pitchFamily="18" charset="0"/>
                        </a:rPr>
                        <a:t>i</a:t>
                      </a:r>
                      <a:r>
                        <a:rPr lang="en-US" sz="2000" dirty="0">
                          <a:solidFill>
                            <a:srgbClr val="FF0000"/>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6</a:t>
                      </a:r>
                    </a:p>
                    <a:p>
                      <a:pPr algn="ctr"/>
                      <a:r>
                        <a:rPr lang="en-US" sz="200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7</a:t>
                      </a:r>
                    </a:p>
                    <a:p>
                      <a:pPr algn="ctr"/>
                      <a:r>
                        <a:rPr lang="en-US" sz="200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p>
                      <a:pPr algn="ctr"/>
                      <a:r>
                        <a:rPr lang="en-US" sz="2000" dirty="0">
                          <a:solidFill>
                            <a:srgbClr val="FF0000"/>
                          </a:solidFill>
                          <a:latin typeface="Times New Roman" panose="02020603050405020304" pitchFamily="18" charset="0"/>
                          <a:cs typeface="Times New Roman" panose="02020603050405020304" pitchFamily="18" charset="0"/>
                        </a:rPr>
                        <a:t>(</a:t>
                      </a:r>
                      <a:r>
                        <a:rPr lang="en-US" sz="2000" dirty="0" err="1">
                          <a:solidFill>
                            <a:srgbClr val="FF0000"/>
                          </a:solidFill>
                          <a:latin typeface="Times New Roman" panose="02020603050405020304" pitchFamily="18" charset="0"/>
                          <a:cs typeface="Times New Roman" panose="02020603050405020304" pitchFamily="18" charset="0"/>
                        </a:rPr>
                        <a:t>i</a:t>
                      </a:r>
                      <a:r>
                        <a:rPr lang="en-US" sz="2000" dirty="0">
                          <a:solidFill>
                            <a:srgbClr val="FF0000"/>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6</a:t>
                      </a:r>
                    </a:p>
                    <a:p>
                      <a:pPr algn="ctr"/>
                      <a:r>
                        <a:rPr lang="en-US" sz="200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7</a:t>
                      </a:r>
                    </a:p>
                    <a:p>
                      <a:pPr algn="ctr"/>
                      <a:r>
                        <a:rPr lang="en-US" sz="200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24</a:t>
                      </a:r>
                    </a:p>
                    <a:p>
                      <a:pPr algn="ctr"/>
                      <a:r>
                        <a:rPr lang="en-US" sz="200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12</a:t>
                      </a:r>
                    </a:p>
                    <a:p>
                      <a:pPr algn="ctr"/>
                      <a:r>
                        <a:rPr lang="en-US" sz="200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8</a:t>
                      </a:r>
                    </a:p>
                    <a:p>
                      <a:pPr algn="ctr"/>
                      <a:r>
                        <a:rPr lang="en-US" sz="2000" dirty="0">
                          <a:solidFill>
                            <a:srgbClr val="FF0000"/>
                          </a:solidFill>
                          <a:latin typeface="Times New Roman" panose="02020603050405020304" pitchFamily="18" charset="0"/>
                          <a:cs typeface="Times New Roman" panose="02020603050405020304" pitchFamily="18" charset="0"/>
                        </a:rPr>
                        <a:t>(</a:t>
                      </a:r>
                      <a:r>
                        <a:rPr lang="en-US" sz="2000" dirty="0" err="1">
                          <a:solidFill>
                            <a:srgbClr val="FF0000"/>
                          </a:solidFill>
                          <a:latin typeface="Times New Roman" panose="02020603050405020304" pitchFamily="18" charset="0"/>
                          <a:cs typeface="Times New Roman" panose="02020603050405020304" pitchFamily="18" charset="0"/>
                        </a:rPr>
                        <a:t>i</a:t>
                      </a:r>
                      <a:r>
                        <a:rPr lang="en-US" sz="2000" dirty="0">
                          <a:solidFill>
                            <a:srgbClr val="FF0000"/>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81415682"/>
                  </a:ext>
                </a:extLst>
              </a:tr>
            </a:tbl>
          </a:graphicData>
        </a:graphic>
      </p:graphicFrame>
      <p:sp>
        <p:nvSpPr>
          <p:cNvPr id="7" name="TextBox 6">
            <a:extLst>
              <a:ext uri="{FF2B5EF4-FFF2-40B4-BE49-F238E27FC236}">
                <a16:creationId xmlns:a16="http://schemas.microsoft.com/office/drawing/2014/main" id="{3B961B07-8227-BBFE-0DEF-E6F3BE9446A4}"/>
              </a:ext>
            </a:extLst>
          </p:cNvPr>
          <p:cNvSpPr txBox="1"/>
          <p:nvPr/>
        </p:nvSpPr>
        <p:spPr>
          <a:xfrm>
            <a:off x="1099457" y="3722914"/>
            <a:ext cx="9339943"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Therefore, the decrypted text is </a:t>
            </a:r>
            <a:r>
              <a:rPr lang="en-US" sz="2800" b="1" dirty="0" err="1">
                <a:solidFill>
                  <a:srgbClr val="FF0000"/>
                </a:solidFill>
                <a:latin typeface="Times New Roman" panose="02020603050405020304" pitchFamily="18" charset="0"/>
                <a:cs typeface="Times New Roman" panose="02020603050405020304" pitchFamily="18" charset="0"/>
              </a:rPr>
              <a:t>mightymightymit</a:t>
            </a:r>
            <a:r>
              <a:rPr lang="en-US" sz="28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9032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Vigenere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6986528"/>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More resistant to statistical attack and pattern attack when compared to that of monoalphabetic ciphers.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When the PT is long, the cipher is resistant to BFA if the key is long enough.</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BFA if PT is extremely short.</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statistical attack if key length is significantly lesser than that of the plaintext.</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pattern attack if key length is significantly lesser than that of the plaintext.</a:t>
            </a:r>
          </a:p>
          <a:p>
            <a:endParaRPr lang="en-US" sz="28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42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F0C4B-D6BA-F430-BB80-63B8E3FE8C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96B6A-6283-BC2A-4DB8-919F31640F86}"/>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a:latin typeface="Times New Roman" panose="02020603050405020304" pitchFamily="18" charset="0"/>
                <a:cs typeface="Times New Roman" panose="02020603050405020304" pitchFamily="18" charset="0"/>
              </a:rPr>
              <a:t>Autokey </a:t>
            </a:r>
            <a:r>
              <a:rPr lang="en-US" sz="6000" dirty="0">
                <a:latin typeface="Times New Roman" panose="02020603050405020304" pitchFamily="18" charset="0"/>
                <a:cs typeface="Times New Roman" panose="02020603050405020304" pitchFamily="18" charset="0"/>
              </a:rPr>
              <a:t>Cipher</a:t>
            </a:r>
          </a:p>
        </p:txBody>
      </p:sp>
    </p:spTree>
    <p:extLst>
      <p:ext uri="{BB962C8B-B14F-4D97-AF65-F5344CB8AC3E}">
        <p14:creationId xmlns:p14="http://schemas.microsoft.com/office/powerpoint/2010/main" val="1698721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BB03F6-86AB-FBB4-9EC9-E181AE32071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F6BE464-FA67-239F-30C7-4FA991781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8FDF0AC-10F4-719D-65E3-612523886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737C1-7A36-2678-D3F8-B9151DEE9547}"/>
              </a:ext>
            </a:extLst>
          </p:cNvPr>
          <p:cNvSpPr>
            <a:spLocks noGrp="1"/>
          </p:cNvSpPr>
          <p:nvPr>
            <p:ph type="title"/>
          </p:nvPr>
        </p:nvSpPr>
        <p:spPr>
          <a:xfrm>
            <a:off x="686834" y="1153572"/>
            <a:ext cx="3200400" cy="4461163"/>
          </a:xfrm>
        </p:spPr>
        <p:txBody>
          <a:bodyPr>
            <a:normAutofit/>
          </a:bodyPr>
          <a:lstStyle/>
          <a:p>
            <a:r>
              <a:rPr lang="en-US" sz="5400" dirty="0">
                <a:solidFill>
                  <a:srgbClr val="FFFFFF"/>
                </a:solidFill>
                <a:latin typeface="Times New Roman" panose="02020603050405020304" pitchFamily="18" charset="0"/>
                <a:cs typeface="Times New Roman" panose="02020603050405020304" pitchFamily="18" charset="0"/>
              </a:rPr>
              <a:t>Autokey Cipher</a:t>
            </a:r>
          </a:p>
        </p:txBody>
      </p:sp>
      <p:sp>
        <p:nvSpPr>
          <p:cNvPr id="16" name="Arc 15">
            <a:extLst>
              <a:ext uri="{FF2B5EF4-FFF2-40B4-BE49-F238E27FC236}">
                <a16:creationId xmlns:a16="http://schemas.microsoft.com/office/drawing/2014/main" id="{89920BAB-B37E-2C69-FB19-A1E35E3AA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5" name="Table 4">
            <a:extLst>
              <a:ext uri="{FF2B5EF4-FFF2-40B4-BE49-F238E27FC236}">
                <a16:creationId xmlns:a16="http://schemas.microsoft.com/office/drawing/2014/main" id="{5883B9B0-991E-6157-7AF0-F306625F8AEE}"/>
              </a:ext>
            </a:extLst>
          </p:cNvPr>
          <p:cNvGraphicFramePr>
            <a:graphicFrameLocks noGrp="1"/>
          </p:cNvGraphicFramePr>
          <p:nvPr>
            <p:extLst>
              <p:ext uri="{D42A27DB-BD31-4B8C-83A1-F6EECF244321}">
                <p14:modId xmlns:p14="http://schemas.microsoft.com/office/powerpoint/2010/main" val="2634281688"/>
              </p:ext>
            </p:extLst>
          </p:nvPr>
        </p:nvGraphicFramePr>
        <p:xfrm>
          <a:off x="4261159" y="922771"/>
          <a:ext cx="7372676" cy="3352800"/>
        </p:xfrm>
        <a:graphic>
          <a:graphicData uri="http://schemas.openxmlformats.org/drawingml/2006/table">
            <a:tbl>
              <a:tblPr>
                <a:tableStyleId>{775DCB02-9BB8-47FD-8907-85C794F793BA}</a:tableStyleId>
              </a:tblPr>
              <a:tblGrid>
                <a:gridCol w="2582962">
                  <a:extLst>
                    <a:ext uri="{9D8B030D-6E8A-4147-A177-3AD203B41FA5}">
                      <a16:colId xmlns:a16="http://schemas.microsoft.com/office/drawing/2014/main" val="220221134"/>
                    </a:ext>
                  </a:extLst>
                </a:gridCol>
                <a:gridCol w="4789714">
                  <a:extLst>
                    <a:ext uri="{9D8B030D-6E8A-4147-A177-3AD203B41FA5}">
                      <a16:colId xmlns:a16="http://schemas.microsoft.com/office/drawing/2014/main" val="3653510789"/>
                    </a:ext>
                  </a:extLst>
                </a:gridCol>
              </a:tblGrid>
              <a:tr h="0">
                <a:tc>
                  <a:txBody>
                    <a:bodyPr/>
                    <a:lstStyle/>
                    <a:p>
                      <a:pPr>
                        <a:buNone/>
                      </a:pPr>
                      <a:r>
                        <a:rPr lang="en-IN" sz="2800" b="1">
                          <a:latin typeface="Times New Roman" panose="02020603050405020304" pitchFamily="18" charset="0"/>
                          <a:cs typeface="Times New Roman" panose="02020603050405020304" pitchFamily="18" charset="0"/>
                        </a:rPr>
                        <a:t>Operation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dirty="0">
                          <a:latin typeface="Times New Roman" panose="02020603050405020304" pitchFamily="18" charset="0"/>
                          <a:cs typeface="Times New Roman" panose="02020603050405020304" pitchFamily="18" charset="0"/>
                        </a:rPr>
                        <a:t>Formulae</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25050077"/>
                  </a:ext>
                </a:extLst>
              </a:tr>
              <a:tr h="0">
                <a:tc>
                  <a:txBody>
                    <a:bodyPr/>
                    <a:lstStyle/>
                    <a:p>
                      <a:pPr>
                        <a:buNone/>
                      </a:pPr>
                      <a:r>
                        <a:rPr lang="en-IN" sz="2800" b="1">
                          <a:latin typeface="Times New Roman" panose="02020603050405020304" pitchFamily="18" charset="0"/>
                          <a:cs typeface="Times New Roman" panose="02020603050405020304" pitchFamily="18" charset="0"/>
                        </a:rPr>
                        <a:t>Keystream Generation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K</a:t>
                      </a:r>
                      <a:r>
                        <a:rPr lang="en-IN" sz="2800" baseline="-25000" dirty="0">
                          <a:latin typeface="Times New Roman" panose="02020603050405020304" pitchFamily="18" charset="0"/>
                          <a:cs typeface="Times New Roman" panose="02020603050405020304" pitchFamily="18" charset="0"/>
                        </a:rPr>
                        <a:t>0</a:t>
                      </a:r>
                      <a:r>
                        <a:rPr lang="en-IN" sz="2800" dirty="0">
                          <a:latin typeface="Times New Roman" panose="02020603050405020304" pitchFamily="18" charset="0"/>
                          <a:cs typeface="Times New Roman" panose="02020603050405020304" pitchFamily="18" charset="0"/>
                        </a:rPr>
                        <a:t> = chosen value;</a:t>
                      </a:r>
                    </a:p>
                    <a:p>
                      <a:pPr>
                        <a:buNone/>
                      </a:pPr>
                      <a:r>
                        <a:rPr lang="en-IN" sz="2800" dirty="0">
                          <a:latin typeface="Times New Roman" panose="02020603050405020304" pitchFamily="18" charset="0"/>
                          <a:cs typeface="Times New Roman" panose="02020603050405020304" pitchFamily="18" charset="0"/>
                        </a:rPr>
                        <a:t>K</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P</a:t>
                      </a:r>
                      <a:r>
                        <a:rPr lang="en-IN" sz="2800" baseline="-25000" dirty="0">
                          <a:latin typeface="Times New Roman" panose="02020603050405020304" pitchFamily="18" charset="0"/>
                          <a:cs typeface="Times New Roman" panose="02020603050405020304" pitchFamily="18" charset="0"/>
                        </a:rPr>
                        <a:t>i-1</a:t>
                      </a:r>
                      <a:r>
                        <a:rPr lang="en-IN" sz="2800" dirty="0">
                          <a:latin typeface="Times New Roman" panose="02020603050405020304" pitchFamily="18" charset="0"/>
                          <a:cs typeface="Times New Roman" panose="02020603050405020304" pitchFamily="18" charset="0"/>
                        </a:rPr>
                        <a:t> for 1 ≤ </a:t>
                      </a:r>
                      <a:r>
                        <a:rPr lang="en-IN" sz="2800" dirty="0" err="1">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m-1</a:t>
                      </a:r>
                    </a:p>
                  </a:txBody>
                  <a:tcPr anchor="ctr"/>
                </a:tc>
                <a:extLst>
                  <a:ext uri="{0D108BD9-81ED-4DB2-BD59-A6C34878D82A}">
                    <a16:rowId xmlns:a16="http://schemas.microsoft.com/office/drawing/2014/main" val="1867186618"/>
                  </a:ext>
                </a:extLst>
              </a:tr>
              <a:tr h="0">
                <a:tc>
                  <a:txBody>
                    <a:bodyPr/>
                    <a:lstStyle/>
                    <a:p>
                      <a:pPr>
                        <a:buNone/>
                      </a:pPr>
                      <a:r>
                        <a:rPr lang="en-IN" sz="2800" b="1">
                          <a:latin typeface="Times New Roman" panose="02020603050405020304" pitchFamily="18" charset="0"/>
                          <a:cs typeface="Times New Roman" panose="02020603050405020304" pitchFamily="18" charset="0"/>
                        </a:rPr>
                        <a:t>Encryption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C</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(P</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K</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mod 26 for 0 ≤ </a:t>
                      </a:r>
                      <a:r>
                        <a:rPr lang="en-IN" sz="2800" dirty="0" err="1">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m-1</a:t>
                      </a:r>
                    </a:p>
                  </a:txBody>
                  <a:tcPr anchor="ctr"/>
                </a:tc>
                <a:extLst>
                  <a:ext uri="{0D108BD9-81ED-4DB2-BD59-A6C34878D82A}">
                    <a16:rowId xmlns:a16="http://schemas.microsoft.com/office/drawing/2014/main" val="1827403371"/>
                  </a:ext>
                </a:extLst>
              </a:tr>
              <a:tr h="0">
                <a:tc>
                  <a:txBody>
                    <a:bodyPr/>
                    <a:lstStyle/>
                    <a:p>
                      <a:pPr>
                        <a:buNone/>
                      </a:pPr>
                      <a:r>
                        <a:rPr lang="en-IN" sz="2800" b="1">
                          <a:latin typeface="Times New Roman" panose="02020603050405020304" pitchFamily="18" charset="0"/>
                          <a:cs typeface="Times New Roman" panose="02020603050405020304" pitchFamily="18" charset="0"/>
                        </a:rPr>
                        <a:t>Decryption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P</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(C</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K</a:t>
                      </a:r>
                      <a:r>
                        <a:rPr lang="en-IN" sz="2800" baseline="-250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mod 26 for 0 ≤ </a:t>
                      </a:r>
                      <a:r>
                        <a:rPr lang="en-IN" sz="2800" dirty="0" err="1">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 ≤ m-1</a:t>
                      </a:r>
                    </a:p>
                  </a:txBody>
                  <a:tcPr anchor="ctr"/>
                </a:tc>
                <a:extLst>
                  <a:ext uri="{0D108BD9-81ED-4DB2-BD59-A6C34878D82A}">
                    <a16:rowId xmlns:a16="http://schemas.microsoft.com/office/drawing/2014/main" val="2086560499"/>
                  </a:ext>
                </a:extLst>
              </a:tr>
            </a:tbl>
          </a:graphicData>
        </a:graphic>
      </p:graphicFrame>
    </p:spTree>
    <p:extLst>
      <p:ext uri="{BB962C8B-B14F-4D97-AF65-F5344CB8AC3E}">
        <p14:creationId xmlns:p14="http://schemas.microsoft.com/office/powerpoint/2010/main" val="2451609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4DDCD1-3636-CB7B-D552-A060016F4BF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062600-ABEC-787B-42BD-387FE041C5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C5B9B-2D66-836C-AA7D-A576E5B81EBA}"/>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a:t>
            </a:r>
          </a:p>
        </p:txBody>
      </p:sp>
      <p:sp>
        <p:nvSpPr>
          <p:cNvPr id="13" name="sketch line">
            <a:extLst>
              <a:ext uri="{FF2B5EF4-FFF2-40B4-BE49-F238E27FC236}">
                <a16:creationId xmlns:a16="http://schemas.microsoft.com/office/drawing/2014/main" id="{B36FFCCB-7DDA-BA1C-233E-BE3EDF3E1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C24179C-7F50-FAEB-F118-EABCD9D6E6C6}"/>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862CE502-5A07-DE52-F379-851D61E2A99A}"/>
              </a:ext>
            </a:extLst>
          </p:cNvPr>
          <p:cNvSpPr txBox="1"/>
          <p:nvPr/>
        </p:nvSpPr>
        <p:spPr>
          <a:xfrm>
            <a:off x="533400" y="2035629"/>
            <a:ext cx="1116874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Encrypt the plaintext </a:t>
            </a:r>
            <a:r>
              <a:rPr lang="en-US" sz="2400" b="1" dirty="0" err="1">
                <a:latin typeface="Times New Roman" panose="02020603050405020304" pitchFamily="18" charset="0"/>
                <a:cs typeface="Times New Roman" panose="02020603050405020304" pitchFamily="18" charset="0"/>
              </a:rPr>
              <a:t>karnataka</a:t>
            </a:r>
            <a:r>
              <a:rPr lang="en-US" sz="2400" dirty="0">
                <a:latin typeface="Times New Roman" panose="02020603050405020304" pitchFamily="18" charset="0"/>
                <a:cs typeface="Times New Roman" panose="02020603050405020304" pitchFamily="18" charset="0"/>
              </a:rPr>
              <a:t> using Autokey Cipher with key = </a:t>
            </a:r>
            <a:r>
              <a:rPr lang="en-US" sz="2400" b="1" dirty="0">
                <a:latin typeface="Times New Roman" panose="02020603050405020304" pitchFamily="18" charset="0"/>
                <a:cs typeface="Times New Roman" panose="02020603050405020304" pitchFamily="18" charset="0"/>
              </a:rPr>
              <a:t>10</a:t>
            </a:r>
            <a:r>
              <a:rPr lang="en-US" sz="2400" dirty="0">
                <a:latin typeface="Times New Roman" panose="02020603050405020304" pitchFamily="18" charset="0"/>
                <a:cs typeface="Times New Roman" panose="02020603050405020304" pitchFamily="18" charset="0"/>
              </a:rPr>
              <a:t>. Assume that only alphabets are used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BE0E689-79AC-0E68-0293-60F5398E1295}"/>
              </a:ext>
            </a:extLst>
          </p:cNvPr>
          <p:cNvGraphicFramePr>
            <a:graphicFrameLocks noGrp="1"/>
          </p:cNvGraphicFramePr>
          <p:nvPr/>
        </p:nvGraphicFramePr>
        <p:xfrm>
          <a:off x="1981197" y="3630323"/>
          <a:ext cx="9372600" cy="723880"/>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3347029926"/>
                    </a:ext>
                  </a:extLst>
                </a:gridCol>
                <a:gridCol w="937260">
                  <a:extLst>
                    <a:ext uri="{9D8B030D-6E8A-4147-A177-3AD203B41FA5}">
                      <a16:colId xmlns:a16="http://schemas.microsoft.com/office/drawing/2014/main" val="1937771426"/>
                    </a:ext>
                  </a:extLst>
                </a:gridCol>
                <a:gridCol w="937260">
                  <a:extLst>
                    <a:ext uri="{9D8B030D-6E8A-4147-A177-3AD203B41FA5}">
                      <a16:colId xmlns:a16="http://schemas.microsoft.com/office/drawing/2014/main" val="1233342293"/>
                    </a:ext>
                  </a:extLst>
                </a:gridCol>
                <a:gridCol w="937260">
                  <a:extLst>
                    <a:ext uri="{9D8B030D-6E8A-4147-A177-3AD203B41FA5}">
                      <a16:colId xmlns:a16="http://schemas.microsoft.com/office/drawing/2014/main" val="2795949285"/>
                    </a:ext>
                  </a:extLst>
                </a:gridCol>
                <a:gridCol w="937260">
                  <a:extLst>
                    <a:ext uri="{9D8B030D-6E8A-4147-A177-3AD203B41FA5}">
                      <a16:colId xmlns:a16="http://schemas.microsoft.com/office/drawing/2014/main" val="1714434279"/>
                    </a:ext>
                  </a:extLst>
                </a:gridCol>
                <a:gridCol w="937260">
                  <a:extLst>
                    <a:ext uri="{9D8B030D-6E8A-4147-A177-3AD203B41FA5}">
                      <a16:colId xmlns:a16="http://schemas.microsoft.com/office/drawing/2014/main" val="790840872"/>
                    </a:ext>
                  </a:extLst>
                </a:gridCol>
                <a:gridCol w="937260">
                  <a:extLst>
                    <a:ext uri="{9D8B030D-6E8A-4147-A177-3AD203B41FA5}">
                      <a16:colId xmlns:a16="http://schemas.microsoft.com/office/drawing/2014/main" val="1439589972"/>
                    </a:ext>
                  </a:extLst>
                </a:gridCol>
                <a:gridCol w="937260">
                  <a:extLst>
                    <a:ext uri="{9D8B030D-6E8A-4147-A177-3AD203B41FA5}">
                      <a16:colId xmlns:a16="http://schemas.microsoft.com/office/drawing/2014/main" val="4017109021"/>
                    </a:ext>
                  </a:extLst>
                </a:gridCol>
                <a:gridCol w="937260">
                  <a:extLst>
                    <a:ext uri="{9D8B030D-6E8A-4147-A177-3AD203B41FA5}">
                      <a16:colId xmlns:a16="http://schemas.microsoft.com/office/drawing/2014/main" val="3515405640"/>
                    </a:ext>
                  </a:extLst>
                </a:gridCol>
                <a:gridCol w="937260">
                  <a:extLst>
                    <a:ext uri="{9D8B030D-6E8A-4147-A177-3AD203B41FA5}">
                      <a16:colId xmlns:a16="http://schemas.microsoft.com/office/drawing/2014/main" val="2113544458"/>
                    </a:ext>
                  </a:extLst>
                </a:gridCol>
              </a:tblGrid>
              <a:tr h="723880">
                <a:tc>
                  <a:txBody>
                    <a:bodyPr/>
                    <a:lstStyle/>
                    <a:p>
                      <a:pPr algn="ctr"/>
                      <a:r>
                        <a:rPr lang="en-US" sz="3600" b="1" dirty="0">
                          <a:solidFill>
                            <a:schemeClr val="accent4">
                              <a:lumMod val="50000"/>
                            </a:schemeClr>
                          </a:solidFill>
                          <a:latin typeface="Times New Roman" panose="02020603050405020304" pitchFamily="18" charset="0"/>
                          <a:cs typeface="Times New Roman" panose="02020603050405020304" pitchFamily="18" charset="0"/>
                        </a:rPr>
                        <a:t>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 </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 </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 </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D623EC11-7678-8AC4-CF54-2BDCE7AE47F6}"/>
              </a:ext>
            </a:extLst>
          </p:cNvPr>
          <p:cNvSpPr txBox="1"/>
          <p:nvPr/>
        </p:nvSpPr>
        <p:spPr>
          <a:xfrm>
            <a:off x="6270168" y="4577675"/>
            <a:ext cx="794657"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896093D9-AC92-32E3-0D10-16AF6AFD320A}"/>
              </a:ext>
            </a:extLst>
          </p:cNvPr>
          <p:cNvGraphicFramePr>
            <a:graphicFrameLocks noGrp="1"/>
          </p:cNvGraphicFramePr>
          <p:nvPr>
            <p:extLst>
              <p:ext uri="{D42A27DB-BD31-4B8C-83A1-F6EECF244321}">
                <p14:modId xmlns:p14="http://schemas.microsoft.com/office/powerpoint/2010/main" val="944539474"/>
              </p:ext>
            </p:extLst>
          </p:nvPr>
        </p:nvGraphicFramePr>
        <p:xfrm>
          <a:off x="1981197" y="5163380"/>
          <a:ext cx="9372600" cy="846654"/>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965488602"/>
                    </a:ext>
                  </a:extLst>
                </a:gridCol>
                <a:gridCol w="937260">
                  <a:extLst>
                    <a:ext uri="{9D8B030D-6E8A-4147-A177-3AD203B41FA5}">
                      <a16:colId xmlns:a16="http://schemas.microsoft.com/office/drawing/2014/main" val="2493585210"/>
                    </a:ext>
                  </a:extLst>
                </a:gridCol>
                <a:gridCol w="937260">
                  <a:extLst>
                    <a:ext uri="{9D8B030D-6E8A-4147-A177-3AD203B41FA5}">
                      <a16:colId xmlns:a16="http://schemas.microsoft.com/office/drawing/2014/main" val="1912715134"/>
                    </a:ext>
                  </a:extLst>
                </a:gridCol>
                <a:gridCol w="937260">
                  <a:extLst>
                    <a:ext uri="{9D8B030D-6E8A-4147-A177-3AD203B41FA5}">
                      <a16:colId xmlns:a16="http://schemas.microsoft.com/office/drawing/2014/main" val="4096474714"/>
                    </a:ext>
                  </a:extLst>
                </a:gridCol>
                <a:gridCol w="937260">
                  <a:extLst>
                    <a:ext uri="{9D8B030D-6E8A-4147-A177-3AD203B41FA5}">
                      <a16:colId xmlns:a16="http://schemas.microsoft.com/office/drawing/2014/main" val="1980879861"/>
                    </a:ext>
                  </a:extLst>
                </a:gridCol>
                <a:gridCol w="937260">
                  <a:extLst>
                    <a:ext uri="{9D8B030D-6E8A-4147-A177-3AD203B41FA5}">
                      <a16:colId xmlns:a16="http://schemas.microsoft.com/office/drawing/2014/main" val="777280121"/>
                    </a:ext>
                  </a:extLst>
                </a:gridCol>
                <a:gridCol w="937260">
                  <a:extLst>
                    <a:ext uri="{9D8B030D-6E8A-4147-A177-3AD203B41FA5}">
                      <a16:colId xmlns:a16="http://schemas.microsoft.com/office/drawing/2014/main" val="3491682401"/>
                    </a:ext>
                  </a:extLst>
                </a:gridCol>
                <a:gridCol w="937260">
                  <a:extLst>
                    <a:ext uri="{9D8B030D-6E8A-4147-A177-3AD203B41FA5}">
                      <a16:colId xmlns:a16="http://schemas.microsoft.com/office/drawing/2014/main" val="18054107"/>
                    </a:ext>
                  </a:extLst>
                </a:gridCol>
                <a:gridCol w="937260">
                  <a:extLst>
                    <a:ext uri="{9D8B030D-6E8A-4147-A177-3AD203B41FA5}">
                      <a16:colId xmlns:a16="http://schemas.microsoft.com/office/drawing/2014/main" val="57862029"/>
                    </a:ext>
                  </a:extLst>
                </a:gridCol>
                <a:gridCol w="937260">
                  <a:extLst>
                    <a:ext uri="{9D8B030D-6E8A-4147-A177-3AD203B41FA5}">
                      <a16:colId xmlns:a16="http://schemas.microsoft.com/office/drawing/2014/main" val="4134059627"/>
                    </a:ext>
                  </a:extLst>
                </a:gridCol>
              </a:tblGrid>
              <a:tr h="846654">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 </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 </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 </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a </a:t>
                      </a:r>
                    </a:p>
                    <a:p>
                      <a:pPr algn="ctr"/>
                      <a:r>
                        <a:rPr lang="en-US" sz="2000" dirty="0">
                          <a:solidFill>
                            <a:srgbClr val="FF0000"/>
                          </a:solidFill>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 </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15422295"/>
                  </a:ext>
                </a:extLst>
              </a:tr>
            </a:tbl>
          </a:graphicData>
        </a:graphic>
      </p:graphicFrame>
      <p:sp>
        <p:nvSpPr>
          <p:cNvPr id="10" name="TextBox 9">
            <a:extLst>
              <a:ext uri="{FF2B5EF4-FFF2-40B4-BE49-F238E27FC236}">
                <a16:creationId xmlns:a16="http://schemas.microsoft.com/office/drawing/2014/main" id="{EA26FB12-EBEE-A43E-98C5-8E99816E4832}"/>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spTree>
    <p:extLst>
      <p:ext uri="{BB962C8B-B14F-4D97-AF65-F5344CB8AC3E}">
        <p14:creationId xmlns:p14="http://schemas.microsoft.com/office/powerpoint/2010/main" val="371628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A2FDB6-0473-54BA-1D77-16C216ADA5F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F79E47-A4D1-CA5C-6F51-5032D9046A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4D28A-F2CC-C713-33EA-14EC6767D00B}"/>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 (Contd..)</a:t>
            </a:r>
          </a:p>
        </p:txBody>
      </p:sp>
      <p:sp>
        <p:nvSpPr>
          <p:cNvPr id="13" name="sketch line">
            <a:extLst>
              <a:ext uri="{FF2B5EF4-FFF2-40B4-BE49-F238E27FC236}">
                <a16:creationId xmlns:a16="http://schemas.microsoft.com/office/drawing/2014/main" id="{19D36289-BCD2-9C4A-8FEF-1AE6552EF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528900D-D687-E517-A9A7-35EB5F5857B3}"/>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97BD015B-1C2B-FF1C-085F-A24B64DA714D}"/>
              </a:ext>
            </a:extLst>
          </p:cNvPr>
          <p:cNvSpPr txBox="1"/>
          <p:nvPr/>
        </p:nvSpPr>
        <p:spPr>
          <a:xfrm>
            <a:off x="533400" y="2035629"/>
            <a:ext cx="11168743" cy="830997"/>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9E91260-48AF-390C-EECB-963EB40851B8}"/>
              </a:ext>
            </a:extLst>
          </p:cNvPr>
          <p:cNvGraphicFramePr>
            <a:graphicFrameLocks noGrp="1"/>
          </p:cNvGraphicFramePr>
          <p:nvPr>
            <p:extLst>
              <p:ext uri="{D42A27DB-BD31-4B8C-83A1-F6EECF244321}">
                <p14:modId xmlns:p14="http://schemas.microsoft.com/office/powerpoint/2010/main" val="2631293892"/>
              </p:ext>
            </p:extLst>
          </p:nvPr>
        </p:nvGraphicFramePr>
        <p:xfrm>
          <a:off x="1007364" y="2080286"/>
          <a:ext cx="9464040" cy="892585"/>
        </p:xfrm>
        <a:graphic>
          <a:graphicData uri="http://schemas.openxmlformats.org/drawingml/2006/table">
            <a:tbl>
              <a:tblPr firstRow="1" bandRow="1">
                <a:tableStyleId>{5C22544A-7EE6-4342-B048-85BDC9FD1C3A}</a:tableStyleId>
              </a:tblPr>
              <a:tblGrid>
                <a:gridCol w="946404">
                  <a:extLst>
                    <a:ext uri="{9D8B030D-6E8A-4147-A177-3AD203B41FA5}">
                      <a16:colId xmlns:a16="http://schemas.microsoft.com/office/drawing/2014/main" val="2017826704"/>
                    </a:ext>
                  </a:extLst>
                </a:gridCol>
                <a:gridCol w="946404">
                  <a:extLst>
                    <a:ext uri="{9D8B030D-6E8A-4147-A177-3AD203B41FA5}">
                      <a16:colId xmlns:a16="http://schemas.microsoft.com/office/drawing/2014/main" val="80088430"/>
                    </a:ext>
                  </a:extLst>
                </a:gridCol>
                <a:gridCol w="946404">
                  <a:extLst>
                    <a:ext uri="{9D8B030D-6E8A-4147-A177-3AD203B41FA5}">
                      <a16:colId xmlns:a16="http://schemas.microsoft.com/office/drawing/2014/main" val="1279489623"/>
                    </a:ext>
                  </a:extLst>
                </a:gridCol>
                <a:gridCol w="946404">
                  <a:extLst>
                    <a:ext uri="{9D8B030D-6E8A-4147-A177-3AD203B41FA5}">
                      <a16:colId xmlns:a16="http://schemas.microsoft.com/office/drawing/2014/main" val="2493842608"/>
                    </a:ext>
                  </a:extLst>
                </a:gridCol>
                <a:gridCol w="946404">
                  <a:extLst>
                    <a:ext uri="{9D8B030D-6E8A-4147-A177-3AD203B41FA5}">
                      <a16:colId xmlns:a16="http://schemas.microsoft.com/office/drawing/2014/main" val="1226217058"/>
                    </a:ext>
                  </a:extLst>
                </a:gridCol>
                <a:gridCol w="946404">
                  <a:extLst>
                    <a:ext uri="{9D8B030D-6E8A-4147-A177-3AD203B41FA5}">
                      <a16:colId xmlns:a16="http://schemas.microsoft.com/office/drawing/2014/main" val="3246206686"/>
                    </a:ext>
                  </a:extLst>
                </a:gridCol>
                <a:gridCol w="946404">
                  <a:extLst>
                    <a:ext uri="{9D8B030D-6E8A-4147-A177-3AD203B41FA5}">
                      <a16:colId xmlns:a16="http://schemas.microsoft.com/office/drawing/2014/main" val="2400515694"/>
                    </a:ext>
                  </a:extLst>
                </a:gridCol>
                <a:gridCol w="946404">
                  <a:extLst>
                    <a:ext uri="{9D8B030D-6E8A-4147-A177-3AD203B41FA5}">
                      <a16:colId xmlns:a16="http://schemas.microsoft.com/office/drawing/2014/main" val="2751366929"/>
                    </a:ext>
                  </a:extLst>
                </a:gridCol>
                <a:gridCol w="946404">
                  <a:extLst>
                    <a:ext uri="{9D8B030D-6E8A-4147-A177-3AD203B41FA5}">
                      <a16:colId xmlns:a16="http://schemas.microsoft.com/office/drawing/2014/main" val="3069826485"/>
                    </a:ext>
                  </a:extLst>
                </a:gridCol>
                <a:gridCol w="946404">
                  <a:extLst>
                    <a:ext uri="{9D8B030D-6E8A-4147-A177-3AD203B41FA5}">
                      <a16:colId xmlns:a16="http://schemas.microsoft.com/office/drawing/2014/main" val="3050491480"/>
                    </a:ext>
                  </a:extLst>
                </a:gridCol>
              </a:tblGrid>
              <a:tr h="892585">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20</a:t>
                      </a:r>
                    </a:p>
                    <a:p>
                      <a:pPr algn="ctr"/>
                      <a:r>
                        <a:rPr lang="en-US" sz="200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17</a:t>
                      </a:r>
                    </a:p>
                    <a:p>
                      <a:pPr algn="ctr"/>
                      <a:r>
                        <a:rPr lang="en-US" sz="200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4</a:t>
                      </a:r>
                    </a:p>
                    <a:p>
                      <a:pPr algn="ctr"/>
                      <a:r>
                        <a:rPr lang="en-US" sz="200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13</a:t>
                      </a:r>
                    </a:p>
                    <a:p>
                      <a:pPr algn="ctr"/>
                      <a:r>
                        <a:rPr lang="en-US" sz="200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19</a:t>
                      </a:r>
                    </a:p>
                    <a:p>
                      <a:pPr algn="ctr"/>
                      <a:r>
                        <a:rPr lang="en-US" sz="200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p>
                      <a:pPr algn="ctr"/>
                      <a:r>
                        <a:rPr lang="en-US" sz="200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16905659"/>
                  </a:ext>
                </a:extLst>
              </a:tr>
            </a:tbl>
          </a:graphicData>
        </a:graphic>
      </p:graphicFrame>
      <p:sp>
        <p:nvSpPr>
          <p:cNvPr id="7" name="TextBox 6">
            <a:extLst>
              <a:ext uri="{FF2B5EF4-FFF2-40B4-BE49-F238E27FC236}">
                <a16:creationId xmlns:a16="http://schemas.microsoft.com/office/drawing/2014/main" id="{C22887EC-1630-3F4B-8EA9-DCD188189022}"/>
              </a:ext>
            </a:extLst>
          </p:cNvPr>
          <p:cNvSpPr txBox="1"/>
          <p:nvPr/>
        </p:nvSpPr>
        <p:spPr>
          <a:xfrm>
            <a:off x="669036" y="3657600"/>
            <a:ext cx="10434393"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ciphertext is </a:t>
            </a:r>
            <a:r>
              <a:rPr lang="en-US" sz="2400" b="1" dirty="0" err="1">
                <a:solidFill>
                  <a:srgbClr val="FF0000"/>
                </a:solidFill>
                <a:latin typeface="Times New Roman" panose="02020603050405020304" pitchFamily="18" charset="0"/>
                <a:cs typeface="Times New Roman" panose="02020603050405020304" pitchFamily="18" charset="0"/>
              </a:rPr>
              <a:t>ukrenttkk</a:t>
            </a:r>
            <a:r>
              <a:rPr 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8672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21D589-3FC0-A7AA-99E9-C8F2E6F1F04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CB1344A-BB89-1EB8-68DB-92C4610CF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5F341-085C-C08D-0B33-7DFC3D9B9464}"/>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a:t>
            </a:r>
          </a:p>
        </p:txBody>
      </p:sp>
      <p:sp>
        <p:nvSpPr>
          <p:cNvPr id="13" name="sketch line">
            <a:extLst>
              <a:ext uri="{FF2B5EF4-FFF2-40B4-BE49-F238E27FC236}">
                <a16:creationId xmlns:a16="http://schemas.microsoft.com/office/drawing/2014/main" id="{C67A08C0-DB80-4BAB-C8BD-113796B3B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1A81B21-7D21-2349-3208-81EF26571AE8}"/>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E9CCF61B-727F-B06F-1A1E-7537291C016B}"/>
              </a:ext>
            </a:extLst>
          </p:cNvPr>
          <p:cNvSpPr txBox="1"/>
          <p:nvPr/>
        </p:nvSpPr>
        <p:spPr>
          <a:xfrm>
            <a:off x="533400" y="2035629"/>
            <a:ext cx="1116874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Decrypt the ciphertext </a:t>
            </a:r>
            <a:r>
              <a:rPr lang="en-US" sz="2400" b="1" dirty="0" err="1">
                <a:latin typeface="Times New Roman" panose="02020603050405020304" pitchFamily="18" charset="0"/>
                <a:cs typeface="Times New Roman" panose="02020603050405020304" pitchFamily="18" charset="0"/>
              </a:rPr>
              <a:t>ukrenttkk</a:t>
            </a:r>
            <a:r>
              <a:rPr lang="en-US" sz="2400" dirty="0">
                <a:latin typeface="Times New Roman" panose="02020603050405020304" pitchFamily="18" charset="0"/>
                <a:cs typeface="Times New Roman" panose="02020603050405020304" pitchFamily="18" charset="0"/>
              </a:rPr>
              <a:t> using Autokey Cipher with key = </a:t>
            </a:r>
            <a:r>
              <a:rPr lang="en-US" sz="2400" b="1" dirty="0">
                <a:latin typeface="Times New Roman" panose="02020603050405020304" pitchFamily="18" charset="0"/>
                <a:cs typeface="Times New Roman" panose="02020603050405020304" pitchFamily="18" charset="0"/>
              </a:rPr>
              <a:t>10</a:t>
            </a:r>
            <a:r>
              <a:rPr lang="en-US" sz="2400" dirty="0">
                <a:latin typeface="Times New Roman" panose="02020603050405020304" pitchFamily="18" charset="0"/>
                <a:cs typeface="Times New Roman" panose="02020603050405020304" pitchFamily="18" charset="0"/>
              </a:rPr>
              <a:t>. Assume that only alphabets are used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ADA3331-3A76-3B13-91C6-0FFF98B08A13}"/>
              </a:ext>
            </a:extLst>
          </p:cNvPr>
          <p:cNvGraphicFramePr>
            <a:graphicFrameLocks noGrp="1"/>
          </p:cNvGraphicFramePr>
          <p:nvPr>
            <p:extLst>
              <p:ext uri="{D42A27DB-BD31-4B8C-83A1-F6EECF244321}">
                <p14:modId xmlns:p14="http://schemas.microsoft.com/office/powerpoint/2010/main" val="2729368296"/>
              </p:ext>
            </p:extLst>
          </p:nvPr>
        </p:nvGraphicFramePr>
        <p:xfrm>
          <a:off x="1981197" y="3630323"/>
          <a:ext cx="9372600" cy="723880"/>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3347029926"/>
                    </a:ext>
                  </a:extLst>
                </a:gridCol>
                <a:gridCol w="937260">
                  <a:extLst>
                    <a:ext uri="{9D8B030D-6E8A-4147-A177-3AD203B41FA5}">
                      <a16:colId xmlns:a16="http://schemas.microsoft.com/office/drawing/2014/main" val="1937771426"/>
                    </a:ext>
                  </a:extLst>
                </a:gridCol>
                <a:gridCol w="937260">
                  <a:extLst>
                    <a:ext uri="{9D8B030D-6E8A-4147-A177-3AD203B41FA5}">
                      <a16:colId xmlns:a16="http://schemas.microsoft.com/office/drawing/2014/main" val="1233342293"/>
                    </a:ext>
                  </a:extLst>
                </a:gridCol>
                <a:gridCol w="937260">
                  <a:extLst>
                    <a:ext uri="{9D8B030D-6E8A-4147-A177-3AD203B41FA5}">
                      <a16:colId xmlns:a16="http://schemas.microsoft.com/office/drawing/2014/main" val="2795949285"/>
                    </a:ext>
                  </a:extLst>
                </a:gridCol>
                <a:gridCol w="937260">
                  <a:extLst>
                    <a:ext uri="{9D8B030D-6E8A-4147-A177-3AD203B41FA5}">
                      <a16:colId xmlns:a16="http://schemas.microsoft.com/office/drawing/2014/main" val="1714434279"/>
                    </a:ext>
                  </a:extLst>
                </a:gridCol>
                <a:gridCol w="937260">
                  <a:extLst>
                    <a:ext uri="{9D8B030D-6E8A-4147-A177-3AD203B41FA5}">
                      <a16:colId xmlns:a16="http://schemas.microsoft.com/office/drawing/2014/main" val="790840872"/>
                    </a:ext>
                  </a:extLst>
                </a:gridCol>
                <a:gridCol w="937260">
                  <a:extLst>
                    <a:ext uri="{9D8B030D-6E8A-4147-A177-3AD203B41FA5}">
                      <a16:colId xmlns:a16="http://schemas.microsoft.com/office/drawing/2014/main" val="1439589972"/>
                    </a:ext>
                  </a:extLst>
                </a:gridCol>
                <a:gridCol w="937260">
                  <a:extLst>
                    <a:ext uri="{9D8B030D-6E8A-4147-A177-3AD203B41FA5}">
                      <a16:colId xmlns:a16="http://schemas.microsoft.com/office/drawing/2014/main" val="4017109021"/>
                    </a:ext>
                  </a:extLst>
                </a:gridCol>
                <a:gridCol w="937260">
                  <a:extLst>
                    <a:ext uri="{9D8B030D-6E8A-4147-A177-3AD203B41FA5}">
                      <a16:colId xmlns:a16="http://schemas.microsoft.com/office/drawing/2014/main" val="3515405640"/>
                    </a:ext>
                  </a:extLst>
                </a:gridCol>
                <a:gridCol w="937260">
                  <a:extLst>
                    <a:ext uri="{9D8B030D-6E8A-4147-A177-3AD203B41FA5}">
                      <a16:colId xmlns:a16="http://schemas.microsoft.com/office/drawing/2014/main" val="2113544458"/>
                    </a:ext>
                  </a:extLst>
                </a:gridCol>
              </a:tblGrid>
              <a:tr h="723880">
                <a:tc>
                  <a:txBody>
                    <a:bodyPr/>
                    <a:lstStyle/>
                    <a:p>
                      <a:pPr algn="ctr"/>
                      <a:r>
                        <a:rPr lang="en-US" sz="36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u</a:t>
                      </a:r>
                    </a:p>
                    <a:p>
                      <a:pPr algn="ctr"/>
                      <a:r>
                        <a:rPr lang="en-US" sz="2000" dirty="0">
                          <a:solidFill>
                            <a:srgbClr val="FF0000"/>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e</a:t>
                      </a:r>
                    </a:p>
                    <a:p>
                      <a:pPr algn="ctr"/>
                      <a:r>
                        <a:rPr lang="en-US" sz="200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t</a:t>
                      </a:r>
                    </a:p>
                    <a:p>
                      <a:pPr algn="ctr"/>
                      <a:r>
                        <a:rPr lang="en-US" sz="2000" dirty="0">
                          <a:solidFill>
                            <a:srgbClr val="FF0000"/>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52343B44-D316-10D4-E4B2-36FC30B9C31F}"/>
              </a:ext>
            </a:extLst>
          </p:cNvPr>
          <p:cNvSpPr txBox="1"/>
          <p:nvPr/>
        </p:nvSpPr>
        <p:spPr>
          <a:xfrm>
            <a:off x="6270168" y="4577675"/>
            <a:ext cx="794657"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0149C89A-1EA3-1B20-9B4F-008C9B3FEEFA}"/>
              </a:ext>
            </a:extLst>
          </p:cNvPr>
          <p:cNvGraphicFramePr>
            <a:graphicFrameLocks noGrp="1"/>
          </p:cNvGraphicFramePr>
          <p:nvPr>
            <p:extLst>
              <p:ext uri="{D42A27DB-BD31-4B8C-83A1-F6EECF244321}">
                <p14:modId xmlns:p14="http://schemas.microsoft.com/office/powerpoint/2010/main" val="23571502"/>
              </p:ext>
            </p:extLst>
          </p:nvPr>
        </p:nvGraphicFramePr>
        <p:xfrm>
          <a:off x="1981197" y="5163380"/>
          <a:ext cx="9372600" cy="846654"/>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965488602"/>
                    </a:ext>
                  </a:extLst>
                </a:gridCol>
                <a:gridCol w="937260">
                  <a:extLst>
                    <a:ext uri="{9D8B030D-6E8A-4147-A177-3AD203B41FA5}">
                      <a16:colId xmlns:a16="http://schemas.microsoft.com/office/drawing/2014/main" val="2493585210"/>
                    </a:ext>
                  </a:extLst>
                </a:gridCol>
                <a:gridCol w="937260">
                  <a:extLst>
                    <a:ext uri="{9D8B030D-6E8A-4147-A177-3AD203B41FA5}">
                      <a16:colId xmlns:a16="http://schemas.microsoft.com/office/drawing/2014/main" val="1912715134"/>
                    </a:ext>
                  </a:extLst>
                </a:gridCol>
                <a:gridCol w="937260">
                  <a:extLst>
                    <a:ext uri="{9D8B030D-6E8A-4147-A177-3AD203B41FA5}">
                      <a16:colId xmlns:a16="http://schemas.microsoft.com/office/drawing/2014/main" val="4096474714"/>
                    </a:ext>
                  </a:extLst>
                </a:gridCol>
                <a:gridCol w="937260">
                  <a:extLst>
                    <a:ext uri="{9D8B030D-6E8A-4147-A177-3AD203B41FA5}">
                      <a16:colId xmlns:a16="http://schemas.microsoft.com/office/drawing/2014/main" val="1980879861"/>
                    </a:ext>
                  </a:extLst>
                </a:gridCol>
                <a:gridCol w="937260">
                  <a:extLst>
                    <a:ext uri="{9D8B030D-6E8A-4147-A177-3AD203B41FA5}">
                      <a16:colId xmlns:a16="http://schemas.microsoft.com/office/drawing/2014/main" val="777280121"/>
                    </a:ext>
                  </a:extLst>
                </a:gridCol>
                <a:gridCol w="937260">
                  <a:extLst>
                    <a:ext uri="{9D8B030D-6E8A-4147-A177-3AD203B41FA5}">
                      <a16:colId xmlns:a16="http://schemas.microsoft.com/office/drawing/2014/main" val="3491682401"/>
                    </a:ext>
                  </a:extLst>
                </a:gridCol>
                <a:gridCol w="937260">
                  <a:extLst>
                    <a:ext uri="{9D8B030D-6E8A-4147-A177-3AD203B41FA5}">
                      <a16:colId xmlns:a16="http://schemas.microsoft.com/office/drawing/2014/main" val="18054107"/>
                    </a:ext>
                  </a:extLst>
                </a:gridCol>
                <a:gridCol w="937260">
                  <a:extLst>
                    <a:ext uri="{9D8B030D-6E8A-4147-A177-3AD203B41FA5}">
                      <a16:colId xmlns:a16="http://schemas.microsoft.com/office/drawing/2014/main" val="57862029"/>
                    </a:ext>
                  </a:extLst>
                </a:gridCol>
                <a:gridCol w="937260">
                  <a:extLst>
                    <a:ext uri="{9D8B030D-6E8A-4147-A177-3AD203B41FA5}">
                      <a16:colId xmlns:a16="http://schemas.microsoft.com/office/drawing/2014/main" val="4134059627"/>
                    </a:ext>
                  </a:extLst>
                </a:gridCol>
              </a:tblGrid>
              <a:tr h="846654">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15422295"/>
                  </a:ext>
                </a:extLst>
              </a:tr>
            </a:tbl>
          </a:graphicData>
        </a:graphic>
      </p:graphicFrame>
      <p:sp>
        <p:nvSpPr>
          <p:cNvPr id="10" name="TextBox 9">
            <a:extLst>
              <a:ext uri="{FF2B5EF4-FFF2-40B4-BE49-F238E27FC236}">
                <a16:creationId xmlns:a16="http://schemas.microsoft.com/office/drawing/2014/main" id="{8B10A244-D04F-63A1-92C3-FAC13EC6ACE1}"/>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spTree>
    <p:extLst>
      <p:ext uri="{BB962C8B-B14F-4D97-AF65-F5344CB8AC3E}">
        <p14:creationId xmlns:p14="http://schemas.microsoft.com/office/powerpoint/2010/main" val="58346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194AFC-D5F1-DFA6-5AF1-B0397C47BE6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C47EF4-0B83-6E57-584D-01147B97A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0CBD97-6A38-223F-D92B-58EAC1FA95DD}"/>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 (Contd..)</a:t>
            </a:r>
          </a:p>
        </p:txBody>
      </p:sp>
      <p:sp>
        <p:nvSpPr>
          <p:cNvPr id="13" name="sketch line">
            <a:extLst>
              <a:ext uri="{FF2B5EF4-FFF2-40B4-BE49-F238E27FC236}">
                <a16:creationId xmlns:a16="http://schemas.microsoft.com/office/drawing/2014/main" id="{A751481B-DC9E-83E1-9BC4-504E66675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B3E089-C585-6D2F-93AF-E8A8CFD48737}"/>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848DEABA-0B96-E172-44C4-F8D2B4D774F1}"/>
              </a:ext>
            </a:extLst>
          </p:cNvPr>
          <p:cNvSpPr txBox="1"/>
          <p:nvPr/>
        </p:nvSpPr>
        <p:spPr>
          <a:xfrm>
            <a:off x="533400" y="2035629"/>
            <a:ext cx="11168743" cy="830997"/>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E6B9F7-4280-D38A-187C-81931EE6EF5A}"/>
              </a:ext>
            </a:extLst>
          </p:cNvPr>
          <p:cNvSpPr txBox="1"/>
          <p:nvPr/>
        </p:nvSpPr>
        <p:spPr>
          <a:xfrm>
            <a:off x="838200" y="1989462"/>
            <a:ext cx="1043439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P0 = (20 - 10) mod 26 = 10 (k)</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K1 = P0; P1 = (10 – 10) mod 26 = 0 (a)</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K2 = P1; P2 =  (17 – 0) mod 26 = 17 (r)</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K3 = P2; P3 = (4 – 17) mod 26 = 13 (n)</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K4 = P3; P4 = (13 - 13) mod 26 = 0 (a)</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K5 = P4; P5 = (19 – 0) mod 26 = 19 (t)</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K6 = P5; P6 = (19 – 19) mod 26 = 0 (a)</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K7 = P6; P7 = (10 - 0) mod 26 = 10 (k)</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K8 = P7; P8 = (10 - 10) mod 26 = 0 (a)</a:t>
            </a:r>
          </a:p>
          <a:p>
            <a:pPr marL="342900" indent="-34290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decrypted text is </a:t>
            </a:r>
            <a:r>
              <a:rPr lang="en-US" sz="2400" b="1" dirty="0" err="1">
                <a:solidFill>
                  <a:srgbClr val="FF0000"/>
                </a:solidFill>
                <a:latin typeface="Times New Roman" panose="02020603050405020304" pitchFamily="18" charset="0"/>
                <a:cs typeface="Times New Roman" panose="02020603050405020304" pitchFamily="18" charset="0"/>
              </a:rPr>
              <a:t>karnataka</a:t>
            </a:r>
            <a:endParaRPr lang="en-US"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71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 calcmode="lin" valueType="num">
                                      <p:cBhvr additive="base">
                                        <p:cTn id="4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xEl>
                                              <p:pRg st="8" end="8"/>
                                            </p:txEl>
                                          </p:spTgt>
                                        </p:tgtEl>
                                        <p:attrNameLst>
                                          <p:attrName>style.visibility</p:attrName>
                                        </p:attrNameLst>
                                      </p:cBhvr>
                                      <p:to>
                                        <p:strVal val="visible"/>
                                      </p:to>
                                    </p:set>
                                    <p:anim calcmode="lin" valueType="num">
                                      <p:cBhvr additive="base">
                                        <p:cTn id="5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
                                            <p:txEl>
                                              <p:pRg st="10" end="10"/>
                                            </p:txEl>
                                          </p:spTgt>
                                        </p:tgtEl>
                                        <p:attrNameLst>
                                          <p:attrName>style.visibility</p:attrName>
                                        </p:attrNameLst>
                                      </p:cBhvr>
                                      <p:to>
                                        <p:strVal val="visible"/>
                                      </p:to>
                                    </p:set>
                                    <p:anim calcmode="lin" valueType="num">
                                      <p:cBhvr additive="base">
                                        <p:cTn id="61"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4EC2A4-9791-5616-9A6B-05ED40B7F88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70B26AB-528E-D07A-313B-AAF00C60C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DA812-AEAB-C76F-43EA-07C6E804B27F}"/>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a:t>
            </a:r>
          </a:p>
        </p:txBody>
      </p:sp>
      <p:sp>
        <p:nvSpPr>
          <p:cNvPr id="13" name="sketch line">
            <a:extLst>
              <a:ext uri="{FF2B5EF4-FFF2-40B4-BE49-F238E27FC236}">
                <a16:creationId xmlns:a16="http://schemas.microsoft.com/office/drawing/2014/main" id="{994D7715-DAB6-3DD5-506C-18DA39971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EE4F4D-9BCB-1CB7-A11E-D40CF62F6EC4}"/>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DC76ACC2-8C72-BD40-B83B-B08A64B91D4A}"/>
              </a:ext>
            </a:extLst>
          </p:cNvPr>
          <p:cNvSpPr txBox="1"/>
          <p:nvPr/>
        </p:nvSpPr>
        <p:spPr>
          <a:xfrm>
            <a:off x="533400" y="2035629"/>
            <a:ext cx="1116874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Decrypt the ciphertext </a:t>
            </a:r>
            <a:r>
              <a:rPr lang="en-US" sz="2400" b="1" dirty="0" err="1">
                <a:latin typeface="Times New Roman" panose="02020603050405020304" pitchFamily="18" charset="0"/>
                <a:cs typeface="Times New Roman" panose="02020603050405020304" pitchFamily="18" charset="0"/>
              </a:rPr>
              <a:t>rkrnwr</a:t>
            </a:r>
            <a:r>
              <a:rPr lang="en-US" sz="2400" dirty="0">
                <a:latin typeface="Times New Roman" panose="02020603050405020304" pitchFamily="18" charset="0"/>
                <a:cs typeface="Times New Roman" panose="02020603050405020304" pitchFamily="18" charset="0"/>
              </a:rPr>
              <a:t> using Autokey Cipher with key = </a:t>
            </a:r>
            <a:r>
              <a:rPr lang="en-US" sz="2400" b="1" dirty="0">
                <a:latin typeface="Times New Roman" panose="02020603050405020304" pitchFamily="18" charset="0"/>
                <a:cs typeface="Times New Roman" panose="02020603050405020304" pitchFamily="18" charset="0"/>
              </a:rPr>
              <a:t>7</a:t>
            </a:r>
            <a:r>
              <a:rPr lang="en-US" sz="2400" dirty="0">
                <a:latin typeface="Times New Roman" panose="02020603050405020304" pitchFamily="18" charset="0"/>
                <a:cs typeface="Times New Roman" panose="02020603050405020304" pitchFamily="18" charset="0"/>
              </a:rPr>
              <a:t>. Assume that only alphabets are used by ignoring the case.</a:t>
            </a:r>
          </a:p>
          <a:p>
            <a:endParaRPr lang="en-US" sz="2400" dirty="0">
              <a:latin typeface="Times New Roman" panose="02020603050405020304" pitchFamily="18" charset="0"/>
              <a:cs typeface="Times New Roman" panose="02020603050405020304" pitchFamily="18" charset="0"/>
            </a:endParaRPr>
          </a:p>
          <a:p>
            <a:r>
              <a:rPr lang="en-US" sz="2400" u="sng" dirty="0">
                <a:solidFill>
                  <a:srgbClr val="FF0000"/>
                </a:solidFill>
                <a:latin typeface="Times New Roman" panose="02020603050405020304" pitchFamily="18" charset="0"/>
                <a:cs typeface="Times New Roman" panose="02020603050405020304" pitchFamily="18" charset="0"/>
              </a:rPr>
              <a:t>Solution:-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4EDCE8C-38DE-0AB6-2DC0-E8AD09012BFC}"/>
              </a:ext>
            </a:extLst>
          </p:cNvPr>
          <p:cNvGraphicFramePr>
            <a:graphicFrameLocks noGrp="1"/>
          </p:cNvGraphicFramePr>
          <p:nvPr>
            <p:extLst>
              <p:ext uri="{D42A27DB-BD31-4B8C-83A1-F6EECF244321}">
                <p14:modId xmlns:p14="http://schemas.microsoft.com/office/powerpoint/2010/main" val="2012738588"/>
              </p:ext>
            </p:extLst>
          </p:nvPr>
        </p:nvGraphicFramePr>
        <p:xfrm>
          <a:off x="1981197" y="3630323"/>
          <a:ext cx="6560820" cy="723880"/>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3347029926"/>
                    </a:ext>
                  </a:extLst>
                </a:gridCol>
                <a:gridCol w="937260">
                  <a:extLst>
                    <a:ext uri="{9D8B030D-6E8A-4147-A177-3AD203B41FA5}">
                      <a16:colId xmlns:a16="http://schemas.microsoft.com/office/drawing/2014/main" val="1937771426"/>
                    </a:ext>
                  </a:extLst>
                </a:gridCol>
                <a:gridCol w="937260">
                  <a:extLst>
                    <a:ext uri="{9D8B030D-6E8A-4147-A177-3AD203B41FA5}">
                      <a16:colId xmlns:a16="http://schemas.microsoft.com/office/drawing/2014/main" val="1233342293"/>
                    </a:ext>
                  </a:extLst>
                </a:gridCol>
                <a:gridCol w="937260">
                  <a:extLst>
                    <a:ext uri="{9D8B030D-6E8A-4147-A177-3AD203B41FA5}">
                      <a16:colId xmlns:a16="http://schemas.microsoft.com/office/drawing/2014/main" val="2795949285"/>
                    </a:ext>
                  </a:extLst>
                </a:gridCol>
                <a:gridCol w="937260">
                  <a:extLst>
                    <a:ext uri="{9D8B030D-6E8A-4147-A177-3AD203B41FA5}">
                      <a16:colId xmlns:a16="http://schemas.microsoft.com/office/drawing/2014/main" val="1714434279"/>
                    </a:ext>
                  </a:extLst>
                </a:gridCol>
                <a:gridCol w="937260">
                  <a:extLst>
                    <a:ext uri="{9D8B030D-6E8A-4147-A177-3AD203B41FA5}">
                      <a16:colId xmlns:a16="http://schemas.microsoft.com/office/drawing/2014/main" val="790840872"/>
                    </a:ext>
                  </a:extLst>
                </a:gridCol>
                <a:gridCol w="937260">
                  <a:extLst>
                    <a:ext uri="{9D8B030D-6E8A-4147-A177-3AD203B41FA5}">
                      <a16:colId xmlns:a16="http://schemas.microsoft.com/office/drawing/2014/main" val="1439589972"/>
                    </a:ext>
                  </a:extLst>
                </a:gridCol>
              </a:tblGrid>
              <a:tr h="723880">
                <a:tc>
                  <a:txBody>
                    <a:bodyPr/>
                    <a:lstStyle/>
                    <a:p>
                      <a:pPr algn="ctr"/>
                      <a:r>
                        <a:rPr lang="en-US" sz="3600" b="1" dirty="0">
                          <a:solidFill>
                            <a:schemeClr val="accent4">
                              <a:lumMod val="50000"/>
                            </a:schemeClr>
                          </a:solidFill>
                          <a:latin typeface="Times New Roman" panose="02020603050405020304" pitchFamily="18" charset="0"/>
                          <a:cs typeface="Times New Roman" panose="02020603050405020304" pitchFamily="18" charset="0"/>
                        </a:rPr>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a:t>
                      </a:r>
                    </a:p>
                    <a:p>
                      <a:pPr algn="ctr"/>
                      <a:r>
                        <a:rPr lang="en-US" sz="2000" dirty="0">
                          <a:solidFill>
                            <a:srgbClr val="FF0000"/>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n</a:t>
                      </a:r>
                    </a:p>
                    <a:p>
                      <a:pPr algn="ctr"/>
                      <a:r>
                        <a:rPr lang="en-US" sz="2000" dirty="0">
                          <a:solidFill>
                            <a:srgbClr val="FF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w</a:t>
                      </a:r>
                    </a:p>
                    <a:p>
                      <a:pPr algn="ctr"/>
                      <a:r>
                        <a:rPr lang="en-US" sz="2000" dirty="0">
                          <a:solidFill>
                            <a:srgbClr val="FF0000"/>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r</a:t>
                      </a:r>
                    </a:p>
                    <a:p>
                      <a:pPr algn="ctr"/>
                      <a:r>
                        <a:rPr lang="en-US" sz="2000" dirty="0">
                          <a:solidFill>
                            <a:srgbClr val="FF0000"/>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11318553"/>
                  </a:ext>
                </a:extLst>
              </a:tr>
            </a:tbl>
          </a:graphicData>
        </a:graphic>
      </p:graphicFrame>
      <p:sp>
        <p:nvSpPr>
          <p:cNvPr id="8" name="TextBox 7">
            <a:extLst>
              <a:ext uri="{FF2B5EF4-FFF2-40B4-BE49-F238E27FC236}">
                <a16:creationId xmlns:a16="http://schemas.microsoft.com/office/drawing/2014/main" id="{7F1EFAE0-C2ED-A5D0-F89F-FA5E8CA25051}"/>
              </a:ext>
            </a:extLst>
          </p:cNvPr>
          <p:cNvSpPr txBox="1"/>
          <p:nvPr/>
        </p:nvSpPr>
        <p:spPr>
          <a:xfrm>
            <a:off x="6270168" y="4577675"/>
            <a:ext cx="794657"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t>
            </a:r>
          </a:p>
        </p:txBody>
      </p:sp>
      <p:graphicFrame>
        <p:nvGraphicFramePr>
          <p:cNvPr id="9" name="Table 8">
            <a:extLst>
              <a:ext uri="{FF2B5EF4-FFF2-40B4-BE49-F238E27FC236}">
                <a16:creationId xmlns:a16="http://schemas.microsoft.com/office/drawing/2014/main" id="{EF3EDD3C-CAB5-BAB8-4C98-3C38629CE02F}"/>
              </a:ext>
            </a:extLst>
          </p:cNvPr>
          <p:cNvGraphicFramePr>
            <a:graphicFrameLocks noGrp="1"/>
          </p:cNvGraphicFramePr>
          <p:nvPr>
            <p:extLst>
              <p:ext uri="{D42A27DB-BD31-4B8C-83A1-F6EECF244321}">
                <p14:modId xmlns:p14="http://schemas.microsoft.com/office/powerpoint/2010/main" val="3035907758"/>
              </p:ext>
            </p:extLst>
          </p:nvPr>
        </p:nvGraphicFramePr>
        <p:xfrm>
          <a:off x="1981197" y="5163380"/>
          <a:ext cx="6560820" cy="846654"/>
        </p:xfrm>
        <a:graphic>
          <a:graphicData uri="http://schemas.openxmlformats.org/drawingml/2006/table">
            <a:tbl>
              <a:tblPr firstRow="1" bandRow="1">
                <a:tableStyleId>{5C22544A-7EE6-4342-B048-85BDC9FD1C3A}</a:tableStyleId>
              </a:tblPr>
              <a:tblGrid>
                <a:gridCol w="937260">
                  <a:extLst>
                    <a:ext uri="{9D8B030D-6E8A-4147-A177-3AD203B41FA5}">
                      <a16:colId xmlns:a16="http://schemas.microsoft.com/office/drawing/2014/main" val="965488602"/>
                    </a:ext>
                  </a:extLst>
                </a:gridCol>
                <a:gridCol w="937260">
                  <a:extLst>
                    <a:ext uri="{9D8B030D-6E8A-4147-A177-3AD203B41FA5}">
                      <a16:colId xmlns:a16="http://schemas.microsoft.com/office/drawing/2014/main" val="2493585210"/>
                    </a:ext>
                  </a:extLst>
                </a:gridCol>
                <a:gridCol w="937260">
                  <a:extLst>
                    <a:ext uri="{9D8B030D-6E8A-4147-A177-3AD203B41FA5}">
                      <a16:colId xmlns:a16="http://schemas.microsoft.com/office/drawing/2014/main" val="1912715134"/>
                    </a:ext>
                  </a:extLst>
                </a:gridCol>
                <a:gridCol w="937260">
                  <a:extLst>
                    <a:ext uri="{9D8B030D-6E8A-4147-A177-3AD203B41FA5}">
                      <a16:colId xmlns:a16="http://schemas.microsoft.com/office/drawing/2014/main" val="4096474714"/>
                    </a:ext>
                  </a:extLst>
                </a:gridCol>
                <a:gridCol w="937260">
                  <a:extLst>
                    <a:ext uri="{9D8B030D-6E8A-4147-A177-3AD203B41FA5}">
                      <a16:colId xmlns:a16="http://schemas.microsoft.com/office/drawing/2014/main" val="1980879861"/>
                    </a:ext>
                  </a:extLst>
                </a:gridCol>
                <a:gridCol w="937260">
                  <a:extLst>
                    <a:ext uri="{9D8B030D-6E8A-4147-A177-3AD203B41FA5}">
                      <a16:colId xmlns:a16="http://schemas.microsoft.com/office/drawing/2014/main" val="777280121"/>
                    </a:ext>
                  </a:extLst>
                </a:gridCol>
                <a:gridCol w="937260">
                  <a:extLst>
                    <a:ext uri="{9D8B030D-6E8A-4147-A177-3AD203B41FA5}">
                      <a16:colId xmlns:a16="http://schemas.microsoft.com/office/drawing/2014/main" val="3491682401"/>
                    </a:ext>
                  </a:extLst>
                </a:gridCol>
              </a:tblGrid>
              <a:tr h="846654">
                <a:tc>
                  <a:txBody>
                    <a:bodyPr/>
                    <a:lstStyle/>
                    <a:p>
                      <a:pPr algn="ctr"/>
                      <a:r>
                        <a:rPr lang="en-US" sz="2800" b="1" dirty="0">
                          <a:solidFill>
                            <a:schemeClr val="accent4">
                              <a:lumMod val="50000"/>
                            </a:schemeClr>
                          </a:solidFill>
                          <a:latin typeface="Times New Roman" panose="02020603050405020304" pitchFamily="18" charset="0"/>
                          <a:cs typeface="Times New Roman" panose="02020603050405020304" pitchFamily="18" charset="0"/>
                        </a:rPr>
                        <a:t>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K5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15422295"/>
                  </a:ext>
                </a:extLst>
              </a:tr>
            </a:tbl>
          </a:graphicData>
        </a:graphic>
      </p:graphicFrame>
      <p:sp>
        <p:nvSpPr>
          <p:cNvPr id="10" name="TextBox 9">
            <a:extLst>
              <a:ext uri="{FF2B5EF4-FFF2-40B4-BE49-F238E27FC236}">
                <a16:creationId xmlns:a16="http://schemas.microsoft.com/office/drawing/2014/main" id="{85218A88-F5C8-5FDC-FB89-BD3A41E04452}"/>
              </a:ext>
            </a:extLst>
          </p:cNvPr>
          <p:cNvSpPr txBox="1"/>
          <p:nvPr/>
        </p:nvSpPr>
        <p:spPr>
          <a:xfrm>
            <a:off x="5339439" y="6194317"/>
            <a:ext cx="2656114"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(mod 26) =</a:t>
            </a:r>
          </a:p>
        </p:txBody>
      </p:sp>
    </p:spTree>
    <p:extLst>
      <p:ext uri="{BB962C8B-B14F-4D97-AF65-F5344CB8AC3E}">
        <p14:creationId xmlns:p14="http://schemas.microsoft.com/office/powerpoint/2010/main" val="134268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E7E3A9-A352-CDFD-E687-5B93E6C3CDA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CD2F135-B2D0-8F7F-1FB5-B265633EA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FB746C-289D-8066-56FD-F5BDAB1CD5C7}"/>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13" name="sketch line">
            <a:extLst>
              <a:ext uri="{FF2B5EF4-FFF2-40B4-BE49-F238E27FC236}">
                <a16:creationId xmlns:a16="http://schemas.microsoft.com/office/drawing/2014/main" id="{D451742D-A15D-AC68-1AB1-0EBA315D0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9606CC-36F1-812A-6FD2-F4B1410FE0CE}"/>
              </a:ext>
            </a:extLst>
          </p:cNvPr>
          <p:cNvSpPr>
            <a:spLocks noGrp="1"/>
          </p:cNvSpPr>
          <p:nvPr>
            <p:ph idx="1"/>
          </p:nvPr>
        </p:nvSpPr>
        <p:spPr>
          <a:xfrm>
            <a:off x="838200" y="1929383"/>
            <a:ext cx="10515600" cy="4910329"/>
          </a:xfrm>
        </p:spPr>
        <p:txBody>
          <a:bodyPr>
            <a:normAutofit/>
          </a:bodyPr>
          <a:lstStyle/>
          <a:p>
            <a:pPr marL="0" indent="0">
              <a:buNone/>
            </a:pPr>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p:sp>
        <p:nvSpPr>
          <p:cNvPr id="4" name="TextBox 3">
            <a:extLst>
              <a:ext uri="{FF2B5EF4-FFF2-40B4-BE49-F238E27FC236}">
                <a16:creationId xmlns:a16="http://schemas.microsoft.com/office/drawing/2014/main" id="{7A1E988E-CD6F-8534-2D18-7900DEA3CCC4}"/>
              </a:ext>
            </a:extLst>
          </p:cNvPr>
          <p:cNvSpPr txBox="1"/>
          <p:nvPr/>
        </p:nvSpPr>
        <p:spPr>
          <a:xfrm>
            <a:off x="533400" y="2035629"/>
            <a:ext cx="11168743" cy="830997"/>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F8D350-8D35-617B-8CB0-42163498ACB1}"/>
              </a:ext>
            </a:extLst>
          </p:cNvPr>
          <p:cNvSpPr txBox="1"/>
          <p:nvPr/>
        </p:nvSpPr>
        <p:spPr>
          <a:xfrm>
            <a:off x="838200" y="1989462"/>
            <a:ext cx="10434393"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P0 = (17 - 7) mod 26 = 10 (k)</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K1 = P0; P1 = (10 – 10) mod 26 = 0 (a)</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K2 = P1; P2 =  (17 – 0) mod 26 = 17 (r)</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K3 = P2; P3 = (13 – 17) mod 26 = 22 (w)</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K4 = P3; P4 = (22 - 22) mod 26 = 0 (a)</a:t>
            </a: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K5 = P4; P5 = (17 – 0) mod 26 = 17 (r)</a:t>
            </a:r>
          </a:p>
          <a:p>
            <a:pPr marL="342900" indent="-34290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decrypted text is </a:t>
            </a:r>
            <a:r>
              <a:rPr lang="en-US" sz="2400" b="1" dirty="0" err="1">
                <a:solidFill>
                  <a:srgbClr val="FF0000"/>
                </a:solidFill>
                <a:latin typeface="Times New Roman" panose="02020603050405020304" pitchFamily="18" charset="0"/>
                <a:cs typeface="Times New Roman" panose="02020603050405020304" pitchFamily="18" charset="0"/>
              </a:rPr>
              <a:t>karwar</a:t>
            </a:r>
            <a:endParaRPr lang="en-US"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3789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anim calcmode="lin" valueType="num">
                                      <p:cBhvr additive="base">
                                        <p:cTn id="4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5F5C9B-9DDD-2C16-F3FC-C7C0E3112F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70D811-4432-EA0D-A7B4-02D88B857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FEE77D-A36D-CFDF-307C-BADF10C78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2B0387-AE91-7A6B-7238-85CCE286196A}"/>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Autokey Cipher</a:t>
            </a:r>
          </a:p>
        </p:txBody>
      </p:sp>
      <p:sp>
        <p:nvSpPr>
          <p:cNvPr id="12" name="Arc 11">
            <a:extLst>
              <a:ext uri="{FF2B5EF4-FFF2-40B4-BE49-F238E27FC236}">
                <a16:creationId xmlns:a16="http://schemas.microsoft.com/office/drawing/2014/main" id="{8A21AE71-B38B-062C-E421-42A7E14AD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6B053D43-1351-F4C9-2E66-BB24B13AD447}"/>
              </a:ext>
            </a:extLst>
          </p:cNvPr>
          <p:cNvSpPr txBox="1"/>
          <p:nvPr/>
        </p:nvSpPr>
        <p:spPr>
          <a:xfrm>
            <a:off x="4310743" y="272143"/>
            <a:ext cx="7323092" cy="6124754"/>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More resistant to statistical attack and pattern attack when compared to that of monoalphabetic ciphers.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Dynamic Keystream generation.</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Higher Probability of Error Propagation.</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Efficiency reduces significantly for large plaintexts</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Known Plaintext attack</a:t>
            </a:r>
          </a:p>
          <a:p>
            <a:endParaRPr lang="en-US" sz="28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27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Playfair Cipher</a:t>
            </a:r>
          </a:p>
        </p:txBody>
      </p:sp>
    </p:spTree>
    <p:extLst>
      <p:ext uri="{BB962C8B-B14F-4D97-AF65-F5344CB8AC3E}">
        <p14:creationId xmlns:p14="http://schemas.microsoft.com/office/powerpoint/2010/main" val="5928333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6" y="975815"/>
            <a:ext cx="9614848" cy="1126780"/>
          </a:xfrm>
        </p:spPr>
        <p:txBody>
          <a:bodyPr>
            <a:normAutofit/>
          </a:bodyPr>
          <a:lstStyle/>
          <a:p>
            <a:pPr algn="ctr"/>
            <a:r>
              <a:rPr lang="en-US" dirty="0">
                <a:latin typeface="Times New Roman" panose="02020603050405020304" pitchFamily="18" charset="0"/>
                <a:cs typeface="Times New Roman" panose="02020603050405020304" pitchFamily="18" charset="0"/>
              </a:rPr>
              <a:t>Playfair Cipher</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959309" y="1992086"/>
            <a:ext cx="9263861" cy="3979343"/>
          </a:xfrm>
        </p:spPr>
        <p:txBody>
          <a:bodyPr anchor="ctr">
            <a:normAutofit/>
          </a:bodyPr>
          <a:lstStyle/>
          <a:p>
            <a:r>
              <a:rPr lang="en-US" dirty="0">
                <a:latin typeface="Times New Roman" panose="02020603050405020304" pitchFamily="18" charset="0"/>
                <a:cs typeface="Times New Roman" panose="02020603050405020304" pitchFamily="18" charset="0"/>
              </a:rPr>
              <a:t>Invented by Charles Wheatstone in the year 1854.</a:t>
            </a:r>
          </a:p>
          <a:p>
            <a:r>
              <a:rPr lang="en-US" dirty="0">
                <a:latin typeface="Times New Roman" panose="02020603050405020304" pitchFamily="18" charset="0"/>
                <a:cs typeface="Times New Roman" panose="02020603050405020304" pitchFamily="18" charset="0"/>
              </a:rPr>
              <a:t>Encrypts or decrypts </a:t>
            </a:r>
            <a:r>
              <a:rPr lang="en-US" dirty="0" err="1">
                <a:latin typeface="Times New Roman" panose="02020603050405020304" pitchFamily="18" charset="0"/>
                <a:cs typeface="Times New Roman" panose="02020603050405020304" pitchFamily="18" charset="0"/>
              </a:rPr>
              <a:t>digrams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Key is a 5*5 matrix with all the alphabets (letters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and j are considered as a single entry appropriately) arranged row-wise. </a:t>
            </a:r>
          </a:p>
        </p:txBody>
      </p:sp>
    </p:spTree>
    <p:extLst>
      <p:ext uri="{BB962C8B-B14F-4D97-AF65-F5344CB8AC3E}">
        <p14:creationId xmlns:p14="http://schemas.microsoft.com/office/powerpoint/2010/main" val="391601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additive="base">
                                        <p:cTn id="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anim calcmode="lin" valueType="num">
                                      <p:cBhvr additive="base">
                                        <p:cTn id="1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xEl>
                                              <p:pRg st="2" end="2"/>
                                            </p:txEl>
                                          </p:spTgt>
                                        </p:tgtEl>
                                        <p:attrNameLst>
                                          <p:attrName>style.visibility</p:attrName>
                                        </p:attrNameLst>
                                      </p:cBhvr>
                                      <p:to>
                                        <p:strVal val="visible"/>
                                      </p:to>
                                    </p:set>
                                    <p:anim calcmode="lin" valueType="num">
                                      <p:cBhvr additive="base">
                                        <p:cTn id="19"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6" y="975815"/>
            <a:ext cx="9614848" cy="1126780"/>
          </a:xfrm>
        </p:spPr>
        <p:txBody>
          <a:bodyPr>
            <a:normAutofit/>
          </a:bodyPr>
          <a:lstStyle/>
          <a:p>
            <a:pPr algn="ctr"/>
            <a:r>
              <a:rPr lang="en-US" dirty="0">
                <a:latin typeface="Times New Roman" panose="02020603050405020304" pitchFamily="18" charset="0"/>
                <a:cs typeface="Times New Roman" panose="02020603050405020304" pitchFamily="18" charset="0"/>
              </a:rPr>
              <a:t>Generation of key matrix from key</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959309" y="2434944"/>
            <a:ext cx="9263861" cy="3536486"/>
          </a:xfrm>
        </p:spPr>
        <p:txBody>
          <a:bodyPr anchor="ctr">
            <a:normAutofit/>
          </a:bodyPr>
          <a:lstStyle/>
          <a:p>
            <a:r>
              <a:rPr lang="en-US" dirty="0">
                <a:latin typeface="Times New Roman" panose="02020603050405020304" pitchFamily="18" charset="0"/>
                <a:cs typeface="Times New Roman" panose="02020603050405020304" pitchFamily="18" charset="0"/>
              </a:rPr>
              <a:t>Initially the alphabets of the key are arranged row-wise in a 5*5 matrix, by removing duplicates from the key.</a:t>
            </a:r>
          </a:p>
          <a:p>
            <a:r>
              <a:rPr lang="en-US" dirty="0">
                <a:latin typeface="Times New Roman" panose="02020603050405020304" pitchFamily="18" charset="0"/>
                <a:cs typeface="Times New Roman" panose="02020603050405020304" pitchFamily="18" charset="0"/>
              </a:rPr>
              <a:t>Rest of the vacancies of the matrix are filled with remaining alphabets.</a:t>
            </a:r>
          </a:p>
        </p:txBody>
      </p:sp>
    </p:spTree>
    <p:extLst>
      <p:ext uri="{BB962C8B-B14F-4D97-AF65-F5344CB8AC3E}">
        <p14:creationId xmlns:p14="http://schemas.microsoft.com/office/powerpoint/2010/main" val="85920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additive="base">
                                        <p:cTn id="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anim calcmode="lin" valueType="num">
                                      <p:cBhvr additive="base">
                                        <p:cTn id="1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5" y="975815"/>
            <a:ext cx="10011099" cy="112678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Generation of key matrix from key (Example 1)</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959309" y="2434944"/>
            <a:ext cx="9263861" cy="3536486"/>
          </a:xfrm>
        </p:spPr>
        <p:txBody>
          <a:bodyPr anchor="ctr">
            <a:normAutofit/>
          </a:bodyPr>
          <a:lstStyle/>
          <a:p>
            <a:r>
              <a:rPr lang="en-US" dirty="0">
                <a:latin typeface="Times New Roman" panose="02020603050405020304" pitchFamily="18" charset="0"/>
                <a:cs typeface="Times New Roman" panose="02020603050405020304" pitchFamily="18" charset="0"/>
              </a:rPr>
              <a:t>Consider that the key is </a:t>
            </a:r>
            <a:r>
              <a:rPr lang="en-US" b="1" dirty="0">
                <a:latin typeface="Times New Roman" panose="02020603050405020304" pitchFamily="18" charset="0"/>
                <a:cs typeface="Times New Roman" panose="02020603050405020304" pitchFamily="18" charset="0"/>
              </a:rPr>
              <a:t>UDUPI</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corresponding key matrix will be:-</a:t>
            </a: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4113020-DB49-6D7E-CD37-6EBC2A0959CF}"/>
              </a:ext>
            </a:extLst>
          </p:cNvPr>
          <p:cNvGraphicFramePr>
            <a:graphicFrameLocks noGrp="1"/>
          </p:cNvGraphicFramePr>
          <p:nvPr>
            <p:extLst>
              <p:ext uri="{D42A27DB-BD31-4B8C-83A1-F6EECF244321}">
                <p14:modId xmlns:p14="http://schemas.microsoft.com/office/powerpoint/2010/main" val="1843615317"/>
              </p:ext>
            </p:extLst>
          </p:nvPr>
        </p:nvGraphicFramePr>
        <p:xfrm>
          <a:off x="2104691" y="4584034"/>
          <a:ext cx="8128000" cy="1981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201169902"/>
                    </a:ext>
                  </a:extLst>
                </a:gridCol>
                <a:gridCol w="1625600">
                  <a:extLst>
                    <a:ext uri="{9D8B030D-6E8A-4147-A177-3AD203B41FA5}">
                      <a16:colId xmlns:a16="http://schemas.microsoft.com/office/drawing/2014/main" val="2381733997"/>
                    </a:ext>
                  </a:extLst>
                </a:gridCol>
                <a:gridCol w="1625600">
                  <a:extLst>
                    <a:ext uri="{9D8B030D-6E8A-4147-A177-3AD203B41FA5}">
                      <a16:colId xmlns:a16="http://schemas.microsoft.com/office/drawing/2014/main" val="3186070141"/>
                    </a:ext>
                  </a:extLst>
                </a:gridCol>
                <a:gridCol w="1625600">
                  <a:extLst>
                    <a:ext uri="{9D8B030D-6E8A-4147-A177-3AD203B41FA5}">
                      <a16:colId xmlns:a16="http://schemas.microsoft.com/office/drawing/2014/main" val="3667753905"/>
                    </a:ext>
                  </a:extLst>
                </a:gridCol>
                <a:gridCol w="1625600">
                  <a:extLst>
                    <a:ext uri="{9D8B030D-6E8A-4147-A177-3AD203B41FA5}">
                      <a16:colId xmlns:a16="http://schemas.microsoft.com/office/drawing/2014/main" val="1955803156"/>
                    </a:ext>
                  </a:extLst>
                </a:gridCol>
              </a:tblGrid>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3510034"/>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81120316"/>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19166225"/>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755294630"/>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06385078"/>
                  </a:ext>
                </a:extLst>
              </a:tr>
            </a:tbl>
          </a:graphicData>
        </a:graphic>
      </p:graphicFrame>
    </p:spTree>
    <p:extLst>
      <p:ext uri="{BB962C8B-B14F-4D97-AF65-F5344CB8AC3E}">
        <p14:creationId xmlns:p14="http://schemas.microsoft.com/office/powerpoint/2010/main" val="13603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additive="base">
                                        <p:cTn id="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anim calcmode="lin" valueType="num">
                                      <p:cBhvr additive="base">
                                        <p:cTn id="1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5" y="975815"/>
            <a:ext cx="10011099" cy="112678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Generation of key matrix from key (Example 2)</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959309" y="2434944"/>
            <a:ext cx="9263861" cy="3536486"/>
          </a:xfrm>
        </p:spPr>
        <p:txBody>
          <a:bodyPr anchor="ctr">
            <a:normAutofit/>
          </a:bodyPr>
          <a:lstStyle/>
          <a:p>
            <a:r>
              <a:rPr lang="en-US" dirty="0">
                <a:latin typeface="Times New Roman" panose="02020603050405020304" pitchFamily="18" charset="0"/>
                <a:cs typeface="Times New Roman" panose="02020603050405020304" pitchFamily="18" charset="0"/>
              </a:rPr>
              <a:t>Consider that the key is </a:t>
            </a:r>
            <a:r>
              <a:rPr lang="en-US" b="1" dirty="0">
                <a:latin typeface="Times New Roman" panose="02020603050405020304" pitchFamily="18" charset="0"/>
                <a:cs typeface="Times New Roman" panose="02020603050405020304" pitchFamily="18" charset="0"/>
              </a:rPr>
              <a:t>JAIPUR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corresponding key matrix will be:-</a:t>
            </a: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4113020-DB49-6D7E-CD37-6EBC2A0959CF}"/>
              </a:ext>
            </a:extLst>
          </p:cNvPr>
          <p:cNvGraphicFramePr>
            <a:graphicFrameLocks noGrp="1"/>
          </p:cNvGraphicFramePr>
          <p:nvPr>
            <p:extLst>
              <p:ext uri="{D42A27DB-BD31-4B8C-83A1-F6EECF244321}">
                <p14:modId xmlns:p14="http://schemas.microsoft.com/office/powerpoint/2010/main" val="73647594"/>
              </p:ext>
            </p:extLst>
          </p:nvPr>
        </p:nvGraphicFramePr>
        <p:xfrm>
          <a:off x="2104691" y="4584034"/>
          <a:ext cx="8128000" cy="1981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201169902"/>
                    </a:ext>
                  </a:extLst>
                </a:gridCol>
                <a:gridCol w="1625600">
                  <a:extLst>
                    <a:ext uri="{9D8B030D-6E8A-4147-A177-3AD203B41FA5}">
                      <a16:colId xmlns:a16="http://schemas.microsoft.com/office/drawing/2014/main" val="2381733997"/>
                    </a:ext>
                  </a:extLst>
                </a:gridCol>
                <a:gridCol w="1625600">
                  <a:extLst>
                    <a:ext uri="{9D8B030D-6E8A-4147-A177-3AD203B41FA5}">
                      <a16:colId xmlns:a16="http://schemas.microsoft.com/office/drawing/2014/main" val="3186070141"/>
                    </a:ext>
                  </a:extLst>
                </a:gridCol>
                <a:gridCol w="1625600">
                  <a:extLst>
                    <a:ext uri="{9D8B030D-6E8A-4147-A177-3AD203B41FA5}">
                      <a16:colId xmlns:a16="http://schemas.microsoft.com/office/drawing/2014/main" val="3667753905"/>
                    </a:ext>
                  </a:extLst>
                </a:gridCol>
                <a:gridCol w="1625600">
                  <a:extLst>
                    <a:ext uri="{9D8B030D-6E8A-4147-A177-3AD203B41FA5}">
                      <a16:colId xmlns:a16="http://schemas.microsoft.com/office/drawing/2014/main" val="1955803156"/>
                    </a:ext>
                  </a:extLst>
                </a:gridCol>
              </a:tblGrid>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03510034"/>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81120316"/>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19166225"/>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755294630"/>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06385078"/>
                  </a:ext>
                </a:extLst>
              </a:tr>
            </a:tbl>
          </a:graphicData>
        </a:graphic>
      </p:graphicFrame>
    </p:spTree>
    <p:extLst>
      <p:ext uri="{BB962C8B-B14F-4D97-AF65-F5344CB8AC3E}">
        <p14:creationId xmlns:p14="http://schemas.microsoft.com/office/powerpoint/2010/main" val="235974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additive="base">
                                        <p:cTn id="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anim calcmode="lin" valueType="num">
                                      <p:cBhvr additive="base">
                                        <p:cTn id="1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5" y="975815"/>
            <a:ext cx="10011099" cy="1126780"/>
          </a:xfrm>
        </p:spPr>
        <p:txBody>
          <a:bodyPr>
            <a:normAutofit/>
          </a:bodyPr>
          <a:lstStyle/>
          <a:p>
            <a:pPr algn="ctr"/>
            <a:r>
              <a:rPr lang="en-US" dirty="0">
                <a:latin typeface="Times New Roman" panose="02020603050405020304" pitchFamily="18" charset="0"/>
                <a:cs typeface="Times New Roman" panose="02020603050405020304" pitchFamily="18" charset="0"/>
              </a:rPr>
              <a:t>Steps for Processing Plaintexts</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391886" y="2758793"/>
            <a:ext cx="11876313" cy="4959178"/>
          </a:xfrm>
        </p:spPr>
        <p:txBody>
          <a:bodyPr anchor="ctr">
            <a:normAutofit/>
          </a:bodyPr>
          <a:lstStyle/>
          <a:p>
            <a:r>
              <a:rPr lang="en-US" sz="2400" dirty="0">
                <a:latin typeface="Times New Roman" panose="02020603050405020304" pitchFamily="18" charset="0"/>
                <a:cs typeface="Times New Roman" panose="02020603050405020304" pitchFamily="18" charset="0"/>
              </a:rPr>
              <a:t>Plaintext is processed as each </a:t>
            </a:r>
            <a:r>
              <a:rPr lang="en-US" sz="2400" dirty="0" err="1">
                <a:latin typeface="Times New Roman" panose="02020603050405020304" pitchFamily="18" charset="0"/>
                <a:cs typeface="Times New Roman" panose="02020603050405020304" pitchFamily="18" charset="0"/>
              </a:rPr>
              <a:t>digram</a:t>
            </a:r>
            <a:r>
              <a:rPr lang="en-US" sz="2400" dirty="0">
                <a:latin typeface="Times New Roman" panose="02020603050405020304" pitchFamily="18" charset="0"/>
                <a:cs typeface="Times New Roman" panose="02020603050405020304" pitchFamily="18" charset="0"/>
              </a:rPr>
              <a:t> at a time.</a:t>
            </a:r>
          </a:p>
          <a:p>
            <a:r>
              <a:rPr lang="en-US" sz="2400" dirty="0">
                <a:latin typeface="Times New Roman" panose="02020603050405020304" pitchFamily="18" charset="0"/>
                <a:cs typeface="Times New Roman" panose="02020603050405020304" pitchFamily="18" charset="0"/>
              </a:rPr>
              <a:t>Plaintext is modified (if necessary) to make sure that no </a:t>
            </a:r>
            <a:r>
              <a:rPr lang="en-US" sz="2400" dirty="0" err="1">
                <a:latin typeface="Times New Roman" panose="02020603050405020304" pitchFamily="18" charset="0"/>
                <a:cs typeface="Times New Roman" panose="02020603050405020304" pitchFamily="18" charset="0"/>
              </a:rPr>
              <a:t>digram</a:t>
            </a:r>
            <a:r>
              <a:rPr lang="en-US" sz="2400" dirty="0">
                <a:latin typeface="Times New Roman" panose="02020603050405020304" pitchFamily="18" charset="0"/>
                <a:cs typeface="Times New Roman" panose="02020603050405020304" pitchFamily="18" charset="0"/>
              </a:rPr>
              <a:t> has a duplicate alphabet (by replacing a duplicate alphabet by x).</a:t>
            </a:r>
          </a:p>
          <a:p>
            <a:r>
              <a:rPr lang="en-US" sz="2400" dirty="0">
                <a:latin typeface="Times New Roman" panose="02020603050405020304" pitchFamily="18" charset="0"/>
                <a:cs typeface="Times New Roman" panose="02020603050405020304" pitchFamily="18" charset="0"/>
              </a:rPr>
              <a:t>Plaintext is modified (if necessary) to make sure that no alphabet is left unpaired (by adding x to the last alphabet of the original plaintext to make it form a digraph).</a:t>
            </a:r>
          </a:p>
          <a:p>
            <a:r>
              <a:rPr lang="en-US" sz="2400" dirty="0">
                <a:solidFill>
                  <a:srgbClr val="0070C0"/>
                </a:solidFill>
                <a:latin typeface="Times New Roman" panose="02020603050405020304" pitchFamily="18" charset="0"/>
                <a:cs typeface="Times New Roman" panose="02020603050405020304" pitchFamily="18" charset="0"/>
              </a:rPr>
              <a:t>FEVER ➔ FEVERX</a:t>
            </a:r>
          </a:p>
          <a:p>
            <a:r>
              <a:rPr lang="en-US" sz="2400" dirty="0">
                <a:solidFill>
                  <a:srgbClr val="0070C0"/>
                </a:solidFill>
                <a:latin typeface="Times New Roman" panose="02020603050405020304" pitchFamily="18" charset="0"/>
                <a:cs typeface="Times New Roman" panose="02020603050405020304" pitchFamily="18" charset="0"/>
              </a:rPr>
              <a:t>SHEEP ➔ SHEXEP</a:t>
            </a:r>
          </a:p>
          <a:p>
            <a:r>
              <a:rPr lang="en-US" sz="2400" dirty="0">
                <a:solidFill>
                  <a:srgbClr val="0070C0"/>
                </a:solidFill>
                <a:latin typeface="Times New Roman" panose="02020603050405020304" pitchFamily="18" charset="0"/>
                <a:cs typeface="Times New Roman" panose="02020603050405020304" pitchFamily="18" charset="0"/>
              </a:rPr>
              <a:t>TEAM ➔ TEAM</a:t>
            </a:r>
            <a:endParaRPr lang="en-US" dirty="0">
              <a:solidFill>
                <a:srgbClr val="0070C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265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additive="base">
                                        <p:cTn id="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anim calcmode="lin" valueType="num">
                                      <p:cBhvr additive="base">
                                        <p:cTn id="1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xEl>
                                              <p:pRg st="2" end="2"/>
                                            </p:txEl>
                                          </p:spTgt>
                                        </p:tgtEl>
                                        <p:attrNameLst>
                                          <p:attrName>style.visibility</p:attrName>
                                        </p:attrNameLst>
                                      </p:cBhvr>
                                      <p:to>
                                        <p:strVal val="visible"/>
                                      </p:to>
                                    </p:set>
                                    <p:anim calcmode="lin" valueType="num">
                                      <p:cBhvr additive="base">
                                        <p:cTn id="19"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7">
                                            <p:txEl>
                                              <p:pRg st="3" end="3"/>
                                            </p:txEl>
                                          </p:spTgt>
                                        </p:tgtEl>
                                        <p:attrNameLst>
                                          <p:attrName>style.visibility</p:attrName>
                                        </p:attrNameLst>
                                      </p:cBhvr>
                                      <p:to>
                                        <p:strVal val="visible"/>
                                      </p:to>
                                    </p:set>
                                    <p:anim calcmode="lin" valueType="num">
                                      <p:cBhvr additive="base">
                                        <p:cTn id="25" dur="500" fill="hold"/>
                                        <p:tgtEl>
                                          <p:spTgt spid="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
                                            <p:txEl>
                                              <p:pRg st="4" end="4"/>
                                            </p:txEl>
                                          </p:spTgt>
                                        </p:tgtEl>
                                        <p:attrNameLst>
                                          <p:attrName>style.visibility</p:attrName>
                                        </p:attrNameLst>
                                      </p:cBhvr>
                                      <p:to>
                                        <p:strVal val="visible"/>
                                      </p:to>
                                    </p:set>
                                    <p:anim calcmode="lin" valueType="num">
                                      <p:cBhvr additive="base">
                                        <p:cTn id="31" dur="500" fill="hold"/>
                                        <p:tgtEl>
                                          <p:spTgt spid="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7">
                                            <p:txEl>
                                              <p:pRg st="5" end="5"/>
                                            </p:txEl>
                                          </p:spTgt>
                                        </p:tgtEl>
                                        <p:attrNameLst>
                                          <p:attrName>style.visibility</p:attrName>
                                        </p:attrNameLst>
                                      </p:cBhvr>
                                      <p:to>
                                        <p:strVal val="visible"/>
                                      </p:to>
                                    </p:set>
                                    <p:anim calcmode="lin" valueType="num">
                                      <p:cBhvr additive="base">
                                        <p:cTn id="37" dur="500" fill="hold"/>
                                        <p:tgtEl>
                                          <p:spTgt spid="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5" y="975815"/>
            <a:ext cx="10011099" cy="1126780"/>
          </a:xfrm>
        </p:spPr>
        <p:txBody>
          <a:bodyPr>
            <a:normAutofit/>
          </a:bodyPr>
          <a:lstStyle/>
          <a:p>
            <a:pPr algn="ctr"/>
            <a:r>
              <a:rPr lang="en-US" dirty="0">
                <a:latin typeface="Times New Roman" panose="02020603050405020304" pitchFamily="18" charset="0"/>
                <a:cs typeface="Times New Roman" panose="02020603050405020304" pitchFamily="18" charset="0"/>
              </a:rPr>
              <a:t>Steps for Encrypting a Plaintext</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288575" y="2434944"/>
            <a:ext cx="9934595" cy="3536486"/>
          </a:xfrm>
        </p:spPr>
        <p:txBody>
          <a:bodyPr anchor="ctr">
            <a:normAutofit fontScale="92500" lnSpcReduction="20000"/>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both the alphabets of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are in the same row, then each alphabet is replaced by the alphabet immediately towards its right (the alphabet in the last column is replaced by the alphabet in the first column).</a:t>
            </a:r>
          </a:p>
          <a:p>
            <a:r>
              <a:rPr lang="en-US" dirty="0">
                <a:latin typeface="Times New Roman" panose="02020603050405020304" pitchFamily="18" charset="0"/>
                <a:cs typeface="Times New Roman" panose="02020603050405020304" pitchFamily="18" charset="0"/>
              </a:rPr>
              <a:t>If both the alphabets of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are in the same column, then each alphabet is replaced by the alphabet immediately below it respectively (the alphabet in the last row is replaced by the alphabet in the first row).</a:t>
            </a:r>
          </a:p>
          <a:p>
            <a:r>
              <a:rPr lang="en-US" dirty="0">
                <a:latin typeface="Times New Roman" panose="02020603050405020304" pitchFamily="18" charset="0"/>
                <a:cs typeface="Times New Roman" panose="02020603050405020304" pitchFamily="18" charset="0"/>
              </a:rPr>
              <a:t>Else, in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each alphabet is replaced by the alphabet which is in the same row but in the column of the other alphabet of the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anim calcmode="lin" valueType="num">
                                      <p:cBhvr additive="base">
                                        <p:cTn id="7"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2" end="2"/>
                                            </p:txEl>
                                          </p:spTgt>
                                        </p:tgtEl>
                                        <p:attrNameLst>
                                          <p:attrName>style.visibility</p:attrName>
                                        </p:attrNameLst>
                                      </p:cBhvr>
                                      <p:to>
                                        <p:strVal val="visible"/>
                                      </p:to>
                                    </p:set>
                                    <p:anim calcmode="lin" valueType="num">
                                      <p:cBhvr additive="base">
                                        <p:cTn id="13"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xEl>
                                              <p:pRg st="3" end="3"/>
                                            </p:txEl>
                                          </p:spTgt>
                                        </p:tgtEl>
                                        <p:attrNameLst>
                                          <p:attrName>style.visibility</p:attrName>
                                        </p:attrNameLst>
                                      </p:cBhvr>
                                      <p:to>
                                        <p:strVal val="visible"/>
                                      </p:to>
                                    </p:set>
                                    <p:anim calcmode="lin" valueType="num">
                                      <p:cBhvr additive="base">
                                        <p:cTn id="19" dur="500" fill="hold"/>
                                        <p:tgtEl>
                                          <p:spTgt spid="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EECE8E-B8E8-FAD0-3A29-8EA381EBDD1A}"/>
              </a:ext>
            </a:extLst>
          </p:cNvPr>
          <p:cNvSpPr>
            <a:spLocks noGrp="1"/>
          </p:cNvSpPr>
          <p:nvPr>
            <p:ph type="title"/>
          </p:nvPr>
        </p:nvSpPr>
        <p:spPr>
          <a:xfrm>
            <a:off x="1288575" y="975815"/>
            <a:ext cx="10011099" cy="1126780"/>
          </a:xfrm>
        </p:spPr>
        <p:txBody>
          <a:bodyPr>
            <a:normAutofit/>
          </a:bodyPr>
          <a:lstStyle/>
          <a:p>
            <a:pPr algn="ctr"/>
            <a:r>
              <a:rPr lang="en-US" dirty="0">
                <a:latin typeface="Times New Roman" panose="02020603050405020304" pitchFamily="18" charset="0"/>
                <a:cs typeface="Times New Roman" panose="02020603050405020304" pitchFamily="18" charset="0"/>
              </a:rPr>
              <a:t>Steps for Decrypting a Ciphertext</a:t>
            </a:r>
          </a:p>
        </p:txBody>
      </p:sp>
      <p:sp>
        <p:nvSpPr>
          <p:cNvPr id="26"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2">
            <a:extLst>
              <a:ext uri="{FF2B5EF4-FFF2-40B4-BE49-F238E27FC236}">
                <a16:creationId xmlns:a16="http://schemas.microsoft.com/office/drawing/2014/main" id="{3A5BF3BE-375F-EB15-F4B1-07B6B9E8069A}"/>
              </a:ext>
            </a:extLst>
          </p:cNvPr>
          <p:cNvSpPr>
            <a:spLocks noGrp="1"/>
          </p:cNvSpPr>
          <p:nvPr>
            <p:ph idx="1"/>
          </p:nvPr>
        </p:nvSpPr>
        <p:spPr>
          <a:xfrm>
            <a:off x="1288575" y="2434944"/>
            <a:ext cx="9934595" cy="3536486"/>
          </a:xfrm>
        </p:spPr>
        <p:txBody>
          <a:bodyPr anchor="ctr">
            <a:normAutofit fontScale="92500" lnSpcReduction="20000"/>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both the alphabets of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are in the same row, then each alphabet is replaced by the alphabet immediately towards its left (the alphabet in the first column is replaced by the alphabet in the last column).</a:t>
            </a:r>
          </a:p>
          <a:p>
            <a:r>
              <a:rPr lang="en-US" dirty="0">
                <a:latin typeface="Times New Roman" panose="02020603050405020304" pitchFamily="18" charset="0"/>
                <a:cs typeface="Times New Roman" panose="02020603050405020304" pitchFamily="18" charset="0"/>
              </a:rPr>
              <a:t>If both the alphabets of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are in the same column, then each alphabet is replaced by the alphabet immediately above it respectively (the alphabet in the first row is replaced by the alphabet in the last row).</a:t>
            </a:r>
          </a:p>
          <a:p>
            <a:r>
              <a:rPr lang="en-US" dirty="0">
                <a:latin typeface="Times New Roman" panose="02020603050405020304" pitchFamily="18" charset="0"/>
                <a:cs typeface="Times New Roman" panose="02020603050405020304" pitchFamily="18" charset="0"/>
              </a:rPr>
              <a:t>Else, in a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 each alphabet is replaced by the alphabet which is in the same row but in the column of the other alphabet of the </a:t>
            </a:r>
            <a:r>
              <a:rPr lang="en-US" dirty="0" err="1">
                <a:latin typeface="Times New Roman" panose="02020603050405020304" pitchFamily="18" charset="0"/>
                <a:cs typeface="Times New Roman" panose="02020603050405020304" pitchFamily="18" charset="0"/>
              </a:rPr>
              <a:t>digram</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46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anim calcmode="lin" valueType="num">
                                      <p:cBhvr additive="base">
                                        <p:cTn id="7"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xEl>
                                              <p:pRg st="2" end="2"/>
                                            </p:txEl>
                                          </p:spTgt>
                                        </p:tgtEl>
                                        <p:attrNameLst>
                                          <p:attrName>style.visibility</p:attrName>
                                        </p:attrNameLst>
                                      </p:cBhvr>
                                      <p:to>
                                        <p:strVal val="visible"/>
                                      </p:to>
                                    </p:set>
                                    <p:anim calcmode="lin" valueType="num">
                                      <p:cBhvr additive="base">
                                        <p:cTn id="13"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xEl>
                                              <p:pRg st="3" end="3"/>
                                            </p:txEl>
                                          </p:spTgt>
                                        </p:tgtEl>
                                        <p:attrNameLst>
                                          <p:attrName>style.visibility</p:attrName>
                                        </p:attrNameLst>
                                      </p:cBhvr>
                                      <p:to>
                                        <p:strVal val="visible"/>
                                      </p:to>
                                    </p:set>
                                    <p:anim calcmode="lin" valueType="num">
                                      <p:cBhvr additive="base">
                                        <p:cTn id="19" dur="500" fill="hold"/>
                                        <p:tgtEl>
                                          <p:spTgt spid="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lnSpcReduction="10000"/>
          </a:bodyPr>
          <a:lstStyle/>
          <a:p>
            <a:r>
              <a:rPr lang="en-US" dirty="0">
                <a:latin typeface="Times New Roman" panose="02020603050405020304" pitchFamily="18" charset="0"/>
                <a:cs typeface="Times New Roman" panose="02020603050405020304" pitchFamily="18" charset="0"/>
              </a:rPr>
              <a:t>Encrypt the plaintext </a:t>
            </a:r>
            <a:r>
              <a:rPr lang="en-US" b="1" dirty="0">
                <a:latin typeface="Times New Roman" panose="02020603050405020304" pitchFamily="18" charset="0"/>
                <a:cs typeface="Times New Roman" panose="02020603050405020304" pitchFamily="18" charset="0"/>
              </a:rPr>
              <a:t>CHENNAI</a:t>
            </a:r>
            <a:r>
              <a:rPr lang="en-US" dirty="0">
                <a:latin typeface="Times New Roman" panose="02020603050405020304" pitchFamily="18" charset="0"/>
                <a:cs typeface="Times New Roman" panose="02020603050405020304" pitchFamily="18" charset="0"/>
              </a:rPr>
              <a:t> using the key </a:t>
            </a:r>
            <a:r>
              <a:rPr lang="en-US" b="1" dirty="0">
                <a:latin typeface="Times New Roman" panose="02020603050405020304" pitchFamily="18" charset="0"/>
                <a:cs typeface="Times New Roman" panose="02020603050405020304" pitchFamily="18" charset="0"/>
              </a:rPr>
              <a:t>MANGALORE</a:t>
            </a:r>
            <a:r>
              <a:rPr lang="en-US" dirty="0">
                <a:latin typeface="Times New Roman" panose="02020603050405020304" pitchFamily="18" charset="0"/>
                <a:cs typeface="Times New Roman" panose="02020603050405020304" pitchFamily="18" charset="0"/>
              </a:rPr>
              <a:t>, using Playfair Cipher which uses only alphabets by ignoring the case.</a:t>
            </a:r>
          </a:p>
          <a:p>
            <a:pPr marL="0" indent="0">
              <a:buNone/>
            </a:pPr>
            <a:r>
              <a:rPr lang="en-US" b="1" u="sng" dirty="0">
                <a:solidFill>
                  <a:srgbClr val="FF0000"/>
                </a:solidFill>
                <a:latin typeface="Times New Roman" panose="02020603050405020304" pitchFamily="18" charset="0"/>
                <a:cs typeface="Times New Roman" panose="02020603050405020304" pitchFamily="18" charset="0"/>
              </a:rPr>
              <a:t>Solution:-</a:t>
            </a:r>
          </a:p>
          <a:p>
            <a:r>
              <a:rPr lang="en-US" dirty="0">
                <a:solidFill>
                  <a:srgbClr val="FF0000"/>
                </a:solidFill>
                <a:latin typeface="Times New Roman" panose="02020603050405020304" pitchFamily="18" charset="0"/>
                <a:cs typeface="Times New Roman" panose="02020603050405020304" pitchFamily="18" charset="0"/>
              </a:rPr>
              <a:t>Key matrix:-</a:t>
            </a: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Modified PT = CHENNAIX</a:t>
            </a:r>
          </a:p>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84A1A24-3851-7699-640F-04693BE5EA77}"/>
              </a:ext>
            </a:extLst>
          </p:cNvPr>
          <p:cNvGraphicFramePr>
            <a:graphicFrameLocks noGrp="1"/>
          </p:cNvGraphicFramePr>
          <p:nvPr>
            <p:extLst>
              <p:ext uri="{D42A27DB-BD31-4B8C-83A1-F6EECF244321}">
                <p14:modId xmlns:p14="http://schemas.microsoft.com/office/powerpoint/2010/main" val="600031761"/>
              </p:ext>
            </p:extLst>
          </p:nvPr>
        </p:nvGraphicFramePr>
        <p:xfrm>
          <a:off x="1694542" y="3145971"/>
          <a:ext cx="6415315" cy="2590800"/>
        </p:xfrm>
        <a:graphic>
          <a:graphicData uri="http://schemas.openxmlformats.org/drawingml/2006/table">
            <a:tbl>
              <a:tblPr firstRow="1" bandRow="1">
                <a:tableStyleId>{5C22544A-7EE6-4342-B048-85BDC9FD1C3A}</a:tableStyleId>
              </a:tblPr>
              <a:tblGrid>
                <a:gridCol w="1283063">
                  <a:extLst>
                    <a:ext uri="{9D8B030D-6E8A-4147-A177-3AD203B41FA5}">
                      <a16:colId xmlns:a16="http://schemas.microsoft.com/office/drawing/2014/main" val="1954955497"/>
                    </a:ext>
                  </a:extLst>
                </a:gridCol>
                <a:gridCol w="1283063">
                  <a:extLst>
                    <a:ext uri="{9D8B030D-6E8A-4147-A177-3AD203B41FA5}">
                      <a16:colId xmlns:a16="http://schemas.microsoft.com/office/drawing/2014/main" val="1091786436"/>
                    </a:ext>
                  </a:extLst>
                </a:gridCol>
                <a:gridCol w="1283063">
                  <a:extLst>
                    <a:ext uri="{9D8B030D-6E8A-4147-A177-3AD203B41FA5}">
                      <a16:colId xmlns:a16="http://schemas.microsoft.com/office/drawing/2014/main" val="2012904313"/>
                    </a:ext>
                  </a:extLst>
                </a:gridCol>
                <a:gridCol w="1283063">
                  <a:extLst>
                    <a:ext uri="{9D8B030D-6E8A-4147-A177-3AD203B41FA5}">
                      <a16:colId xmlns:a16="http://schemas.microsoft.com/office/drawing/2014/main" val="2971301646"/>
                    </a:ext>
                  </a:extLst>
                </a:gridCol>
                <a:gridCol w="1283063">
                  <a:extLst>
                    <a:ext uri="{9D8B030D-6E8A-4147-A177-3AD203B41FA5}">
                      <a16:colId xmlns:a16="http://schemas.microsoft.com/office/drawing/2014/main" val="1131432994"/>
                    </a:ext>
                  </a:extLst>
                </a:gridCol>
              </a:tblGrid>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38327609"/>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68918836"/>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11478348"/>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972814034"/>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26821315"/>
                  </a:ext>
                </a:extLst>
              </a:tr>
            </a:tbl>
          </a:graphicData>
        </a:graphic>
      </p:graphicFrame>
    </p:spTree>
    <p:extLst>
      <p:ext uri="{BB962C8B-B14F-4D97-AF65-F5344CB8AC3E}">
        <p14:creationId xmlns:p14="http://schemas.microsoft.com/office/powerpoint/2010/main" val="73152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 calcmode="lin" valueType="num">
                                      <p:cBhvr additive="base">
                                        <p:cTn id="2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1 (Contd..)</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a:bodyPr>
          <a:lstStyle/>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8E39DA-983A-EBE2-8003-49E43BA5365E}"/>
              </a:ext>
            </a:extLst>
          </p:cNvPr>
          <p:cNvSpPr txBox="1"/>
          <p:nvPr/>
        </p:nvSpPr>
        <p:spPr>
          <a:xfrm>
            <a:off x="838200" y="1621971"/>
            <a:ext cx="10287000"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CH    ➔    EK</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EN    ➔    HE</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NA    ➔    GN</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IX     ➔    HY</a:t>
            </a: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ciphertext is </a:t>
            </a:r>
            <a:r>
              <a:rPr lang="en-US" sz="2400" b="1" dirty="0">
                <a:solidFill>
                  <a:srgbClr val="FF0000"/>
                </a:solidFill>
                <a:latin typeface="Times New Roman" panose="02020603050405020304" pitchFamily="18" charset="0"/>
                <a:cs typeface="Times New Roman" panose="02020603050405020304" pitchFamily="18" charset="0"/>
              </a:rPr>
              <a:t>EKHEGNHY</a:t>
            </a:r>
            <a:r>
              <a:rPr 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4459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lnSpcReduction="10000"/>
          </a:bodyPr>
          <a:lstStyle/>
          <a:p>
            <a:r>
              <a:rPr lang="en-US" dirty="0">
                <a:latin typeface="Times New Roman" panose="02020603050405020304" pitchFamily="18" charset="0"/>
                <a:cs typeface="Times New Roman" panose="02020603050405020304" pitchFamily="18" charset="0"/>
              </a:rPr>
              <a:t>Decrypt the ciphertext </a:t>
            </a:r>
            <a:r>
              <a:rPr lang="en-US" b="1" dirty="0">
                <a:latin typeface="Times New Roman" panose="02020603050405020304" pitchFamily="18" charset="0"/>
                <a:cs typeface="Times New Roman" panose="02020603050405020304" pitchFamily="18" charset="0"/>
              </a:rPr>
              <a:t>EKHEGNHY</a:t>
            </a:r>
            <a:r>
              <a:rPr lang="en-US" dirty="0">
                <a:latin typeface="Times New Roman" panose="02020603050405020304" pitchFamily="18" charset="0"/>
                <a:cs typeface="Times New Roman" panose="02020603050405020304" pitchFamily="18" charset="0"/>
              </a:rPr>
              <a:t> using the key </a:t>
            </a:r>
            <a:r>
              <a:rPr lang="en-US" b="1" dirty="0">
                <a:latin typeface="Times New Roman" panose="02020603050405020304" pitchFamily="18" charset="0"/>
                <a:cs typeface="Times New Roman" panose="02020603050405020304" pitchFamily="18" charset="0"/>
              </a:rPr>
              <a:t>MANGALORE</a:t>
            </a:r>
            <a:r>
              <a:rPr lang="en-US" dirty="0">
                <a:latin typeface="Times New Roman" panose="02020603050405020304" pitchFamily="18" charset="0"/>
                <a:cs typeface="Times New Roman" panose="02020603050405020304" pitchFamily="18" charset="0"/>
              </a:rPr>
              <a:t>, using Playfair Cipher which uses only alphabets by ignoring the case.</a:t>
            </a:r>
          </a:p>
          <a:p>
            <a:pPr marL="0" indent="0">
              <a:buNone/>
            </a:pPr>
            <a:r>
              <a:rPr lang="en-US" b="1" u="sng" dirty="0">
                <a:solidFill>
                  <a:srgbClr val="FF0000"/>
                </a:solidFill>
                <a:latin typeface="Times New Roman" panose="02020603050405020304" pitchFamily="18" charset="0"/>
                <a:cs typeface="Times New Roman" panose="02020603050405020304" pitchFamily="18" charset="0"/>
              </a:rPr>
              <a:t>Solution:-</a:t>
            </a:r>
          </a:p>
          <a:p>
            <a:r>
              <a:rPr lang="en-US" dirty="0">
                <a:solidFill>
                  <a:srgbClr val="FF0000"/>
                </a:solidFill>
                <a:latin typeface="Times New Roman" panose="02020603050405020304" pitchFamily="18" charset="0"/>
                <a:cs typeface="Times New Roman" panose="02020603050405020304" pitchFamily="18" charset="0"/>
              </a:rPr>
              <a:t>Key matrix:-</a:t>
            </a: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Modified CT = EKHEGNHY</a:t>
            </a:r>
          </a:p>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84A1A24-3851-7699-640F-04693BE5EA77}"/>
              </a:ext>
            </a:extLst>
          </p:cNvPr>
          <p:cNvGraphicFramePr>
            <a:graphicFrameLocks noGrp="1"/>
          </p:cNvGraphicFramePr>
          <p:nvPr>
            <p:extLst>
              <p:ext uri="{D42A27DB-BD31-4B8C-83A1-F6EECF244321}">
                <p14:modId xmlns:p14="http://schemas.microsoft.com/office/powerpoint/2010/main" val="182319162"/>
              </p:ext>
            </p:extLst>
          </p:nvPr>
        </p:nvGraphicFramePr>
        <p:xfrm>
          <a:off x="3109685" y="3233055"/>
          <a:ext cx="6415315" cy="2590800"/>
        </p:xfrm>
        <a:graphic>
          <a:graphicData uri="http://schemas.openxmlformats.org/drawingml/2006/table">
            <a:tbl>
              <a:tblPr firstRow="1" bandRow="1">
                <a:tableStyleId>{5C22544A-7EE6-4342-B048-85BDC9FD1C3A}</a:tableStyleId>
              </a:tblPr>
              <a:tblGrid>
                <a:gridCol w="1283063">
                  <a:extLst>
                    <a:ext uri="{9D8B030D-6E8A-4147-A177-3AD203B41FA5}">
                      <a16:colId xmlns:a16="http://schemas.microsoft.com/office/drawing/2014/main" val="1954955497"/>
                    </a:ext>
                  </a:extLst>
                </a:gridCol>
                <a:gridCol w="1283063">
                  <a:extLst>
                    <a:ext uri="{9D8B030D-6E8A-4147-A177-3AD203B41FA5}">
                      <a16:colId xmlns:a16="http://schemas.microsoft.com/office/drawing/2014/main" val="1091786436"/>
                    </a:ext>
                  </a:extLst>
                </a:gridCol>
                <a:gridCol w="1283063">
                  <a:extLst>
                    <a:ext uri="{9D8B030D-6E8A-4147-A177-3AD203B41FA5}">
                      <a16:colId xmlns:a16="http://schemas.microsoft.com/office/drawing/2014/main" val="2012904313"/>
                    </a:ext>
                  </a:extLst>
                </a:gridCol>
                <a:gridCol w="1283063">
                  <a:extLst>
                    <a:ext uri="{9D8B030D-6E8A-4147-A177-3AD203B41FA5}">
                      <a16:colId xmlns:a16="http://schemas.microsoft.com/office/drawing/2014/main" val="2971301646"/>
                    </a:ext>
                  </a:extLst>
                </a:gridCol>
                <a:gridCol w="1283063">
                  <a:extLst>
                    <a:ext uri="{9D8B030D-6E8A-4147-A177-3AD203B41FA5}">
                      <a16:colId xmlns:a16="http://schemas.microsoft.com/office/drawing/2014/main" val="1131432994"/>
                    </a:ext>
                  </a:extLst>
                </a:gridCol>
              </a:tblGrid>
              <a:tr h="461554">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38327609"/>
                  </a:ext>
                </a:extLst>
              </a:tr>
              <a:tr h="461554">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68918836"/>
                  </a:ext>
                </a:extLst>
              </a:tr>
              <a:tr h="461554">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11478348"/>
                  </a:ext>
                </a:extLst>
              </a:tr>
              <a:tr h="461554">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972814034"/>
                  </a:ext>
                </a:extLst>
              </a:tr>
              <a:tr h="461554">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26821315"/>
                  </a:ext>
                </a:extLst>
              </a:tr>
            </a:tbl>
          </a:graphicData>
        </a:graphic>
      </p:graphicFrame>
    </p:spTree>
    <p:extLst>
      <p:ext uri="{BB962C8B-B14F-4D97-AF65-F5344CB8AC3E}">
        <p14:creationId xmlns:p14="http://schemas.microsoft.com/office/powerpoint/2010/main" val="426136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2 (Contd..)</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a:bodyPr>
          <a:lstStyle/>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8E39DA-983A-EBE2-8003-49E43BA5365E}"/>
              </a:ext>
            </a:extLst>
          </p:cNvPr>
          <p:cNvSpPr txBox="1"/>
          <p:nvPr/>
        </p:nvSpPr>
        <p:spPr>
          <a:xfrm>
            <a:off x="838200" y="1621971"/>
            <a:ext cx="10287000"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EK    ➔    CH</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HE    ➔    EN</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GN    ➔    NA</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HY     ➔    IX</a:t>
            </a: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 decrypted text is </a:t>
            </a:r>
            <a:r>
              <a:rPr lang="en-US" sz="2400" b="1" dirty="0">
                <a:solidFill>
                  <a:srgbClr val="FF0000"/>
                </a:solidFill>
                <a:latin typeface="Times New Roman" panose="02020603050405020304" pitchFamily="18" charset="0"/>
                <a:cs typeface="Times New Roman" panose="02020603050405020304" pitchFamily="18" charset="0"/>
              </a:rPr>
              <a:t>CHENNAIX</a:t>
            </a:r>
            <a:r>
              <a:rPr lang="en-US" sz="2400" dirty="0">
                <a:solidFill>
                  <a:srgbClr val="FF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final decrypted text is </a:t>
            </a:r>
            <a:r>
              <a:rPr lang="en-US" sz="2400" b="1" dirty="0">
                <a:solidFill>
                  <a:srgbClr val="FF0000"/>
                </a:solidFill>
                <a:latin typeface="Times New Roman" panose="02020603050405020304" pitchFamily="18" charset="0"/>
                <a:cs typeface="Times New Roman" panose="02020603050405020304" pitchFamily="18" charset="0"/>
              </a:rPr>
              <a:t>CHENNAI.</a:t>
            </a:r>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940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lnSpcReduction="10000"/>
          </a:bodyPr>
          <a:lstStyle/>
          <a:p>
            <a:r>
              <a:rPr lang="en-US" dirty="0">
                <a:latin typeface="Times New Roman" panose="02020603050405020304" pitchFamily="18" charset="0"/>
                <a:cs typeface="Times New Roman" panose="02020603050405020304" pitchFamily="18" charset="0"/>
              </a:rPr>
              <a:t>Encrypt the plaintext </a:t>
            </a:r>
            <a:r>
              <a:rPr lang="en-US" b="1" dirty="0">
                <a:latin typeface="Times New Roman" panose="02020603050405020304" pitchFamily="18" charset="0"/>
                <a:cs typeface="Times New Roman" panose="02020603050405020304" pitchFamily="18" charset="0"/>
              </a:rPr>
              <a:t>HELLOINDIA</a:t>
            </a:r>
            <a:r>
              <a:rPr lang="en-US" dirty="0">
                <a:latin typeface="Times New Roman" panose="02020603050405020304" pitchFamily="18" charset="0"/>
                <a:cs typeface="Times New Roman" panose="02020603050405020304" pitchFamily="18" charset="0"/>
              </a:rPr>
              <a:t> using the key </a:t>
            </a:r>
            <a:r>
              <a:rPr lang="en-US" b="1" dirty="0">
                <a:latin typeface="Times New Roman" panose="02020603050405020304" pitchFamily="18" charset="0"/>
                <a:cs typeface="Times New Roman" panose="02020603050405020304" pitchFamily="18" charset="0"/>
              </a:rPr>
              <a:t>PLAYFAIR</a:t>
            </a:r>
            <a:r>
              <a:rPr lang="en-US" dirty="0">
                <a:latin typeface="Times New Roman" panose="02020603050405020304" pitchFamily="18" charset="0"/>
                <a:cs typeface="Times New Roman" panose="02020603050405020304" pitchFamily="18" charset="0"/>
              </a:rPr>
              <a:t>, using Playfair Cipher which uses only alphabets by ignoring the case.</a:t>
            </a:r>
          </a:p>
          <a:p>
            <a:pPr marL="0" indent="0">
              <a:buNone/>
            </a:pPr>
            <a:r>
              <a:rPr lang="en-US" b="1" u="sng" dirty="0">
                <a:solidFill>
                  <a:srgbClr val="FF0000"/>
                </a:solidFill>
                <a:latin typeface="Times New Roman" panose="02020603050405020304" pitchFamily="18" charset="0"/>
                <a:cs typeface="Times New Roman" panose="02020603050405020304" pitchFamily="18" charset="0"/>
              </a:rPr>
              <a:t>Solution:-</a:t>
            </a:r>
          </a:p>
          <a:p>
            <a:r>
              <a:rPr lang="en-US" dirty="0">
                <a:solidFill>
                  <a:srgbClr val="FF0000"/>
                </a:solidFill>
                <a:latin typeface="Times New Roman" panose="02020603050405020304" pitchFamily="18" charset="0"/>
                <a:cs typeface="Times New Roman" panose="02020603050405020304" pitchFamily="18" charset="0"/>
              </a:rPr>
              <a:t>Key matrix:-</a:t>
            </a: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Modified PT = HELXLOINDIAX</a:t>
            </a:r>
          </a:p>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84A1A24-3851-7699-640F-04693BE5EA77}"/>
              </a:ext>
            </a:extLst>
          </p:cNvPr>
          <p:cNvGraphicFramePr>
            <a:graphicFrameLocks noGrp="1"/>
          </p:cNvGraphicFramePr>
          <p:nvPr>
            <p:extLst>
              <p:ext uri="{D42A27DB-BD31-4B8C-83A1-F6EECF244321}">
                <p14:modId xmlns:p14="http://schemas.microsoft.com/office/powerpoint/2010/main" val="3954382427"/>
              </p:ext>
            </p:extLst>
          </p:nvPr>
        </p:nvGraphicFramePr>
        <p:xfrm>
          <a:off x="1694542" y="3145971"/>
          <a:ext cx="6415315" cy="2590800"/>
        </p:xfrm>
        <a:graphic>
          <a:graphicData uri="http://schemas.openxmlformats.org/drawingml/2006/table">
            <a:tbl>
              <a:tblPr firstRow="1" bandRow="1">
                <a:tableStyleId>{5C22544A-7EE6-4342-B048-85BDC9FD1C3A}</a:tableStyleId>
              </a:tblPr>
              <a:tblGrid>
                <a:gridCol w="1283063">
                  <a:extLst>
                    <a:ext uri="{9D8B030D-6E8A-4147-A177-3AD203B41FA5}">
                      <a16:colId xmlns:a16="http://schemas.microsoft.com/office/drawing/2014/main" val="1954955497"/>
                    </a:ext>
                  </a:extLst>
                </a:gridCol>
                <a:gridCol w="1283063">
                  <a:extLst>
                    <a:ext uri="{9D8B030D-6E8A-4147-A177-3AD203B41FA5}">
                      <a16:colId xmlns:a16="http://schemas.microsoft.com/office/drawing/2014/main" val="1091786436"/>
                    </a:ext>
                  </a:extLst>
                </a:gridCol>
                <a:gridCol w="1283063">
                  <a:extLst>
                    <a:ext uri="{9D8B030D-6E8A-4147-A177-3AD203B41FA5}">
                      <a16:colId xmlns:a16="http://schemas.microsoft.com/office/drawing/2014/main" val="2012904313"/>
                    </a:ext>
                  </a:extLst>
                </a:gridCol>
                <a:gridCol w="1283063">
                  <a:extLst>
                    <a:ext uri="{9D8B030D-6E8A-4147-A177-3AD203B41FA5}">
                      <a16:colId xmlns:a16="http://schemas.microsoft.com/office/drawing/2014/main" val="2971301646"/>
                    </a:ext>
                  </a:extLst>
                </a:gridCol>
                <a:gridCol w="1283063">
                  <a:extLst>
                    <a:ext uri="{9D8B030D-6E8A-4147-A177-3AD203B41FA5}">
                      <a16:colId xmlns:a16="http://schemas.microsoft.com/office/drawing/2014/main" val="1131432994"/>
                    </a:ext>
                  </a:extLst>
                </a:gridCol>
              </a:tblGrid>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38327609"/>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68918836"/>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11478348"/>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972814034"/>
                  </a:ext>
                </a:extLst>
              </a:tr>
              <a:tr h="437606">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26821315"/>
                  </a:ext>
                </a:extLst>
              </a:tr>
            </a:tbl>
          </a:graphicData>
        </a:graphic>
      </p:graphicFrame>
    </p:spTree>
    <p:extLst>
      <p:ext uri="{BB962C8B-B14F-4D97-AF65-F5344CB8AC3E}">
        <p14:creationId xmlns:p14="http://schemas.microsoft.com/office/powerpoint/2010/main" val="141268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6D02-1566-37D8-FA5C-F928E0367D8D}"/>
              </a:ext>
            </a:extLst>
          </p:cNvPr>
          <p:cNvSpPr>
            <a:spLocks noGrp="1"/>
          </p:cNvSpPr>
          <p:nvPr>
            <p:ph type="title"/>
          </p:nvPr>
        </p:nvSpPr>
        <p:spPr>
          <a:xfrm>
            <a:off x="838200" y="365126"/>
            <a:ext cx="10515600" cy="984704"/>
          </a:xfrm>
          <a:ln>
            <a:solidFill>
              <a:schemeClr val="tx1"/>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Example 3 (Contd..)</a:t>
            </a:r>
          </a:p>
        </p:txBody>
      </p:sp>
      <p:sp>
        <p:nvSpPr>
          <p:cNvPr id="3" name="Content Placeholder 2">
            <a:extLst>
              <a:ext uri="{FF2B5EF4-FFF2-40B4-BE49-F238E27FC236}">
                <a16:creationId xmlns:a16="http://schemas.microsoft.com/office/drawing/2014/main" id="{2C526B58-6CC2-8F36-E75F-FF4832E4416B}"/>
              </a:ext>
            </a:extLst>
          </p:cNvPr>
          <p:cNvSpPr>
            <a:spLocks noGrp="1"/>
          </p:cNvSpPr>
          <p:nvPr>
            <p:ph idx="1"/>
          </p:nvPr>
        </p:nvSpPr>
        <p:spPr>
          <a:xfrm>
            <a:off x="838200" y="1524000"/>
            <a:ext cx="10515600" cy="5334000"/>
          </a:xfrm>
        </p:spPr>
        <p:txBody>
          <a:bodyPr>
            <a:normAutofit/>
          </a:bodyPr>
          <a:lstStyle/>
          <a:p>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8E39DA-983A-EBE2-8003-49E43BA5365E}"/>
              </a:ext>
            </a:extLst>
          </p:cNvPr>
          <p:cNvSpPr txBox="1"/>
          <p:nvPr/>
        </p:nvSpPr>
        <p:spPr>
          <a:xfrm>
            <a:off x="838200" y="1545771"/>
            <a:ext cx="10287000"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HE    ➔    KG</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LX    ➔    YV</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LO    ➔    RV</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IN    ➔    EU</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DI    ➔    IR</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AX    ➔    YW</a:t>
            </a: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Therefore, the ciphertext is </a:t>
            </a:r>
            <a:r>
              <a:rPr lang="en-US" sz="2400" b="1" dirty="0">
                <a:solidFill>
                  <a:srgbClr val="FF0000"/>
                </a:solidFill>
                <a:latin typeface="Times New Roman" panose="02020603050405020304" pitchFamily="18" charset="0"/>
                <a:cs typeface="Times New Roman" panose="02020603050405020304" pitchFamily="18" charset="0"/>
              </a:rPr>
              <a:t>KGYVRVEUIRYW</a:t>
            </a:r>
            <a:r>
              <a:rPr lang="en-US" sz="2400" dirty="0">
                <a:solidFill>
                  <a:srgbClr val="FF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65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Playfair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6001643"/>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to understand and easy to implement when the plaintext length is even and when the original </a:t>
            </a:r>
            <a:r>
              <a:rPr lang="en-US" sz="2400" dirty="0" err="1">
                <a:latin typeface="Times New Roman" panose="02020603050405020304" pitchFamily="18" charset="0"/>
                <a:cs typeface="Times New Roman" panose="02020603050405020304" pitchFamily="18" charset="0"/>
              </a:rPr>
              <a:t>digrams</a:t>
            </a:r>
            <a:r>
              <a:rPr lang="en-US" sz="2400" dirty="0">
                <a:latin typeface="Times New Roman" panose="02020603050405020304" pitchFamily="18" charset="0"/>
                <a:cs typeface="Times New Roman" panose="02020603050405020304" pitchFamily="18" charset="0"/>
              </a:rPr>
              <a:t> don’t have duplicate alphabets.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BFA on the cipher is almost impossible.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Resistant to statistical and pattern attacks when the plaintexts are short.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Key Management is easy.</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Implementation gets complicated when the plaintext length is odd, or if the original </a:t>
            </a:r>
            <a:r>
              <a:rPr lang="en-US" sz="2400" dirty="0" err="1">
                <a:solidFill>
                  <a:srgbClr val="FF0000"/>
                </a:solidFill>
                <a:latin typeface="Times New Roman" panose="02020603050405020304" pitchFamily="18" charset="0"/>
                <a:cs typeface="Times New Roman" panose="02020603050405020304" pitchFamily="18" charset="0"/>
              </a:rPr>
              <a:t>digrams</a:t>
            </a:r>
            <a:r>
              <a:rPr lang="en-US" sz="2400" dirty="0">
                <a:solidFill>
                  <a:srgbClr val="FF0000"/>
                </a:solidFill>
                <a:latin typeface="Times New Roman" panose="02020603050405020304" pitchFamily="18" charset="0"/>
                <a:cs typeface="Times New Roman" panose="02020603050405020304" pitchFamily="18" charset="0"/>
              </a:rPr>
              <a:t> have duplicate alphabets.</a:t>
            </a:r>
          </a:p>
          <a:p>
            <a:pPr marL="285750" indent="-285750">
              <a:buFont typeface="Arial" panose="020B0604020202020204"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Vulnerable to statistical and pattern attacks when the plaintexts are long (&gt; 1000 characters).</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816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Hill Cipher</a:t>
            </a:r>
          </a:p>
        </p:txBody>
      </p:sp>
    </p:spTree>
    <p:extLst>
      <p:ext uri="{BB962C8B-B14F-4D97-AF65-F5344CB8AC3E}">
        <p14:creationId xmlns:p14="http://schemas.microsoft.com/office/powerpoint/2010/main" val="30978403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D5689-5042-E8C5-F242-FED81704C531}"/>
              </a:ext>
            </a:extLst>
          </p:cNvPr>
          <p:cNvSpPr>
            <a:spLocks noGrp="1"/>
          </p:cNvSpPr>
          <p:nvPr>
            <p:ph type="title"/>
          </p:nvPr>
        </p:nvSpPr>
        <p:spPr>
          <a:xfrm>
            <a:off x="686834" y="1153572"/>
            <a:ext cx="3200400" cy="4461163"/>
          </a:xfrm>
        </p:spPr>
        <p:txBody>
          <a:bodyPr>
            <a:normAutofit/>
          </a:bodyPr>
          <a:lstStyle/>
          <a:p>
            <a:r>
              <a:rPr lang="en-US">
                <a:solidFill>
                  <a:srgbClr val="FFFFFF"/>
                </a:solidFill>
              </a:rPr>
              <a:t>Hill Cipher</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Content Placeholder 6">
            <a:extLst>
              <a:ext uri="{FF2B5EF4-FFF2-40B4-BE49-F238E27FC236}">
                <a16:creationId xmlns:a16="http://schemas.microsoft.com/office/drawing/2014/main" id="{1324E17D-2DDD-B442-DE55-59AABD1B5363}"/>
              </a:ext>
            </a:extLst>
          </p:cNvPr>
          <p:cNvSpPr>
            <a:spLocks noGrp="1"/>
          </p:cNvSpPr>
          <p:nvPr>
            <p:ph idx="1"/>
          </p:nvPr>
        </p:nvSpPr>
        <p:spPr>
          <a:xfrm>
            <a:off x="4447308" y="591344"/>
            <a:ext cx="7505206" cy="5585619"/>
          </a:xfrm>
        </p:spPr>
        <p:txBody>
          <a:bodyPr anchor="ctr">
            <a:normAutofit/>
          </a:bodyPr>
          <a:lstStyle/>
          <a:p>
            <a:r>
              <a:rPr lang="en-US" dirty="0">
                <a:latin typeface="Times New Roman" panose="02020603050405020304" pitchFamily="18" charset="0"/>
                <a:cs typeface="Times New Roman" panose="02020603050405020304" pitchFamily="18" charset="0"/>
              </a:rPr>
              <a:t>Developed by Lester Hill in 1929.</a:t>
            </a:r>
          </a:p>
          <a:p>
            <a:r>
              <a:rPr lang="en-US" dirty="0">
                <a:latin typeface="Times New Roman" panose="02020603050405020304" pitchFamily="18" charset="0"/>
                <a:cs typeface="Times New Roman" panose="02020603050405020304" pitchFamily="18" charset="0"/>
              </a:rPr>
              <a:t>Uses concepts of Linear Algebra.</a:t>
            </a:r>
          </a:p>
          <a:p>
            <a:r>
              <a:rPr lang="en-US" dirty="0">
                <a:latin typeface="Times New Roman" panose="02020603050405020304" pitchFamily="18" charset="0"/>
                <a:cs typeface="Times New Roman" panose="02020603050405020304" pitchFamily="18" charset="0"/>
              </a:rPr>
              <a:t>C = P * K (mod 26), where P is of order m*n, and K is of order n*n.</a:t>
            </a:r>
          </a:p>
          <a:p>
            <a:r>
              <a:rPr lang="en-US" dirty="0">
                <a:latin typeface="Times New Roman" panose="02020603050405020304" pitchFamily="18" charset="0"/>
                <a:cs typeface="Times New Roman" panose="02020603050405020304" pitchFamily="18" charset="0"/>
              </a:rPr>
              <a:t>D = C * K</a:t>
            </a:r>
            <a:r>
              <a:rPr lang="en-US" baseline="50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(mod 26)</a:t>
            </a:r>
          </a:p>
          <a:p>
            <a:r>
              <a:rPr lang="en-US" dirty="0">
                <a:solidFill>
                  <a:srgbClr val="FF0000"/>
                </a:solidFill>
                <a:latin typeface="Times New Roman" panose="02020603050405020304" pitchFamily="18" charset="0"/>
                <a:cs typeface="Times New Roman" panose="02020603050405020304" pitchFamily="18" charset="0"/>
              </a:rPr>
              <a:t>Note:- K is an invertible matrix, and GCD(det(K), 26) = 1</a:t>
            </a:r>
          </a:p>
        </p:txBody>
      </p:sp>
    </p:spTree>
    <p:extLst>
      <p:ext uri="{BB962C8B-B14F-4D97-AF65-F5344CB8AC3E}">
        <p14:creationId xmlns:p14="http://schemas.microsoft.com/office/powerpoint/2010/main" val="328473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251960"/>
              </a:xfrm>
            </p:spPr>
            <p:txBody>
              <a:bodyPr>
                <a:normAutofit fontScale="77500" lnSpcReduction="20000"/>
              </a:bodyPr>
              <a:lstStyle/>
              <a:p>
                <a:r>
                  <a:rPr lang="en-US" sz="3100" dirty="0">
                    <a:latin typeface="Times New Roman" panose="02020603050405020304" pitchFamily="18" charset="0"/>
                    <a:cs typeface="Times New Roman" panose="02020603050405020304" pitchFamily="18" charset="0"/>
                  </a:rPr>
                  <a:t>Encrypt the plaintext </a:t>
                </a:r>
                <a:r>
                  <a:rPr lang="en-US" sz="3100" b="1" dirty="0">
                    <a:latin typeface="Times New Roman" panose="02020603050405020304" pitchFamily="18" charset="0"/>
                    <a:cs typeface="Times New Roman" panose="02020603050405020304" pitchFamily="18" charset="0"/>
                  </a:rPr>
                  <a:t>engineer</a:t>
                </a:r>
                <a:r>
                  <a:rPr lang="en-US" sz="3100" dirty="0">
                    <a:latin typeface="Times New Roman" panose="02020603050405020304" pitchFamily="18" charset="0"/>
                    <a:cs typeface="Times New Roman" panose="02020603050405020304" pitchFamily="18" charset="0"/>
                  </a:rPr>
                  <a:t> using Hill Cipher with the key matrix displayed below. Assume that only alphabets are used, by ignoring the case.</a:t>
                </a:r>
              </a:p>
              <a:p>
                <a:pPr marL="0" indent="0">
                  <a:buNone/>
                </a:pPr>
                <a:r>
                  <a:rPr lang="en-US" sz="3100" dirty="0">
                    <a:latin typeface="Times New Roman" panose="02020603050405020304" pitchFamily="18" charset="0"/>
                    <a:cs typeface="Times New Roman" panose="02020603050405020304" pitchFamily="18" charset="0"/>
                  </a:rPr>
                  <a:t>K = </a:t>
                </a:r>
                <a14:m>
                  <m:oMath xmlns:m="http://schemas.openxmlformats.org/officeDocument/2006/math">
                    <m:d>
                      <m:dPr>
                        <m:begChr m:val="["/>
                        <m:endChr m:val="]"/>
                        <m:ctrlPr>
                          <a:rPr lang="en-US" sz="3100" i="1">
                            <a:latin typeface="Cambria Math" panose="02040503050406030204" pitchFamily="18" charset="0"/>
                          </a:rPr>
                        </m:ctrlPr>
                      </m:dPr>
                      <m:e>
                        <m:m>
                          <m:mPr>
                            <m:mcs>
                              <m:mc>
                                <m:mcPr>
                                  <m:count m:val="2"/>
                                  <m:mcJc m:val="center"/>
                                </m:mcPr>
                              </m:mc>
                            </m:mcs>
                            <m:ctrlPr>
                              <a:rPr lang="en-US" sz="3100" i="1">
                                <a:latin typeface="Cambria Math" panose="02040503050406030204" pitchFamily="18" charset="0"/>
                              </a:rPr>
                            </m:ctrlPr>
                          </m:mPr>
                          <m:mr>
                            <m:e>
                              <m:r>
                                <m:rPr>
                                  <m:brk m:alnAt="7"/>
                                </m:rPr>
                                <a:rPr lang="en-US" sz="3100" b="0" i="1">
                                  <a:latin typeface="Cambria Math" panose="02040503050406030204" pitchFamily="18" charset="0"/>
                                </a:rPr>
                                <m:t>5</m:t>
                              </m:r>
                            </m:e>
                            <m:e>
                              <m:r>
                                <a:rPr lang="en-US" sz="3100" b="0" i="1">
                                  <a:latin typeface="Cambria Math" panose="02040503050406030204" pitchFamily="18" charset="0"/>
                                </a:rPr>
                                <m:t>6</m:t>
                              </m:r>
                            </m:e>
                          </m:mr>
                          <m:mr>
                            <m:e>
                              <m:r>
                                <a:rPr lang="en-US" sz="3100" b="0" i="1">
                                  <a:latin typeface="Cambria Math" panose="02040503050406030204" pitchFamily="18" charset="0"/>
                                </a:rPr>
                                <m:t>3</m:t>
                              </m:r>
                            </m:e>
                            <m:e>
                              <m:r>
                                <a:rPr lang="en-US" sz="3100" b="0" i="1">
                                  <a:latin typeface="Cambria Math" panose="02040503050406030204" pitchFamily="18" charset="0"/>
                                </a:rPr>
                                <m:t>9</m:t>
                              </m:r>
                            </m:e>
                          </m:mr>
                        </m:m>
                      </m:e>
                    </m:d>
                  </m:oMath>
                </a14:m>
                <a:endParaRPr lang="en-US" sz="3100"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r>
                  <a:rPr lang="en-US" sz="3100" u="sng" dirty="0">
                    <a:solidFill>
                      <a:srgbClr val="FF0000"/>
                    </a:solidFill>
                    <a:latin typeface="Times New Roman" panose="02020603050405020304" pitchFamily="18" charset="0"/>
                    <a:cs typeface="Times New Roman" panose="02020603050405020304" pitchFamily="18" charset="0"/>
                  </a:rPr>
                  <a:t>Solution:-</a:t>
                </a:r>
              </a:p>
              <a:p>
                <a:pPr marL="0" indent="0">
                  <a:buNone/>
                </a:pPr>
                <a:endParaRPr lang="en-US" sz="3100" dirty="0">
                  <a:solidFill>
                    <a:srgbClr val="FF0000"/>
                  </a:solidFill>
                  <a:latin typeface="Times New Roman" panose="02020603050405020304" pitchFamily="18" charset="0"/>
                  <a:cs typeface="Times New Roman" panose="02020603050405020304" pitchFamily="18" charset="0"/>
                </a:endParaRPr>
              </a:p>
              <a:p>
                <a:r>
                  <a:rPr lang="en-US" sz="3100" dirty="0">
                    <a:solidFill>
                      <a:srgbClr val="FF0000"/>
                    </a:solidFill>
                    <a:latin typeface="Times New Roman" panose="02020603050405020304" pitchFamily="18" charset="0"/>
                    <a:cs typeface="Times New Roman" panose="02020603050405020304" pitchFamily="18" charset="0"/>
                  </a:rPr>
                  <a:t>P = </a:t>
                </a:r>
                <a14:m>
                  <m:oMath xmlns:m="http://schemas.openxmlformats.org/officeDocument/2006/math">
                    <m:d>
                      <m:dPr>
                        <m:begChr m:val="["/>
                        <m:endChr m:val="]"/>
                        <m:ctrlPr>
                          <a:rPr lang="en-US" sz="3100" i="1">
                            <a:solidFill>
                              <a:srgbClr val="FF0000"/>
                            </a:solidFill>
                            <a:latin typeface="Cambria Math" panose="02040503050406030204" pitchFamily="18" charset="0"/>
                          </a:rPr>
                        </m:ctrlPr>
                      </m:dPr>
                      <m:e>
                        <m:eqArr>
                          <m:eqArrPr>
                            <m:ctrlPr>
                              <a:rPr lang="en-US" sz="3100" i="1">
                                <a:solidFill>
                                  <a:srgbClr val="FF0000"/>
                                </a:solidFill>
                                <a:latin typeface="Cambria Math" panose="02040503050406030204" pitchFamily="18" charset="0"/>
                              </a:rPr>
                            </m:ctrlPr>
                          </m:eqArrPr>
                          <m:e>
                            <m:r>
                              <m:rPr>
                                <m:sty m:val="p"/>
                              </m:rPr>
                              <a:rPr lang="en-US" sz="3100" b="0" i="0" smtClean="0">
                                <a:solidFill>
                                  <a:srgbClr val="FF0000"/>
                                </a:solidFill>
                                <a:latin typeface="Cambria Math" panose="02040503050406030204" pitchFamily="18" charset="0"/>
                              </a:rPr>
                              <m:t>e</m:t>
                            </m:r>
                            <m:r>
                              <a:rPr lang="en-US" sz="3100" i="0">
                                <a:solidFill>
                                  <a:srgbClr val="FF0000"/>
                                </a:solidFill>
                                <a:latin typeface="Cambria Math" panose="02040503050406030204" pitchFamily="18" charset="0"/>
                              </a:rPr>
                              <m:t>       </m:t>
                            </m:r>
                            <m:r>
                              <m:rPr>
                                <m:sty m:val="p"/>
                              </m:rPr>
                              <a:rPr lang="en-US" sz="3100" b="0" i="0" smtClean="0">
                                <a:solidFill>
                                  <a:srgbClr val="FF0000"/>
                                </a:solidFill>
                                <a:latin typeface="Cambria Math" panose="02040503050406030204" pitchFamily="18" charset="0"/>
                              </a:rPr>
                              <m:t>n</m:t>
                            </m:r>
                          </m:e>
                          <m:e>
                            <m:r>
                              <m:rPr>
                                <m:sty m:val="p"/>
                              </m:rPr>
                              <a:rPr lang="en-US" sz="3100" b="0" i="0" smtClean="0">
                                <a:solidFill>
                                  <a:srgbClr val="FF0000"/>
                                </a:solidFill>
                                <a:latin typeface="Cambria Math" panose="02040503050406030204" pitchFamily="18" charset="0"/>
                              </a:rPr>
                              <m:t>g</m:t>
                            </m:r>
                            <m:r>
                              <a:rPr lang="en-US" sz="3100" i="0">
                                <a:solidFill>
                                  <a:srgbClr val="FF0000"/>
                                </a:solidFill>
                                <a:latin typeface="Cambria Math" panose="02040503050406030204" pitchFamily="18" charset="0"/>
                              </a:rPr>
                              <m:t>        </m:t>
                            </m:r>
                            <m:r>
                              <m:rPr>
                                <m:sty m:val="p"/>
                              </m:rPr>
                              <a:rPr lang="en-US" sz="3100" b="0" i="0" smtClean="0">
                                <a:solidFill>
                                  <a:srgbClr val="FF0000"/>
                                </a:solidFill>
                                <a:latin typeface="Cambria Math" panose="02040503050406030204" pitchFamily="18" charset="0"/>
                              </a:rPr>
                              <m:t>i</m:t>
                            </m:r>
                          </m:e>
                          <m:e>
                            <m:r>
                              <m:rPr>
                                <m:sty m:val="p"/>
                              </m:rPr>
                              <a:rPr lang="en-US" sz="3100" b="0" i="0" smtClean="0">
                                <a:solidFill>
                                  <a:srgbClr val="FF0000"/>
                                </a:solidFill>
                                <a:latin typeface="Cambria Math" panose="02040503050406030204" pitchFamily="18" charset="0"/>
                              </a:rPr>
                              <m:t>n</m:t>
                            </m:r>
                            <m:r>
                              <a:rPr lang="en-US" sz="3100" i="0">
                                <a:solidFill>
                                  <a:srgbClr val="FF0000"/>
                                </a:solidFill>
                                <a:latin typeface="Cambria Math" panose="02040503050406030204" pitchFamily="18" charset="0"/>
                              </a:rPr>
                              <m:t>       </m:t>
                            </m:r>
                            <m:r>
                              <m:rPr>
                                <m:sty m:val="p"/>
                              </m:rPr>
                              <a:rPr lang="en-US" sz="3100" b="0" i="0" smtClean="0">
                                <a:solidFill>
                                  <a:srgbClr val="FF0000"/>
                                </a:solidFill>
                                <a:latin typeface="Cambria Math" panose="02040503050406030204" pitchFamily="18" charset="0"/>
                              </a:rPr>
                              <m:t>e</m:t>
                            </m:r>
                          </m:e>
                          <m:e>
                            <m:r>
                              <m:rPr>
                                <m:sty m:val="p"/>
                              </m:rPr>
                              <a:rPr lang="en-US" sz="3100" b="0" i="0" smtClean="0">
                                <a:solidFill>
                                  <a:srgbClr val="FF0000"/>
                                </a:solidFill>
                                <a:latin typeface="Cambria Math" panose="02040503050406030204" pitchFamily="18" charset="0"/>
                              </a:rPr>
                              <m:t>e</m:t>
                            </m:r>
                            <m:r>
                              <a:rPr lang="en-US" sz="3100" i="0">
                                <a:solidFill>
                                  <a:srgbClr val="FF0000"/>
                                </a:solidFill>
                                <a:latin typeface="Cambria Math" panose="02040503050406030204" pitchFamily="18" charset="0"/>
                              </a:rPr>
                              <m:t>       </m:t>
                            </m:r>
                            <m:r>
                              <m:rPr>
                                <m:sty m:val="p"/>
                              </m:rPr>
                              <a:rPr lang="en-US" sz="3100" b="0" i="0" smtClean="0">
                                <a:solidFill>
                                  <a:srgbClr val="FF0000"/>
                                </a:solidFill>
                                <a:latin typeface="Cambria Math" panose="02040503050406030204" pitchFamily="18" charset="0"/>
                              </a:rPr>
                              <m:t>r</m:t>
                            </m:r>
                          </m:e>
                        </m:eqArr>
                      </m:e>
                    </m:d>
                  </m:oMath>
                </a14:m>
                <a:r>
                  <a:rPr lang="en-US" sz="31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3200" i="1">
                            <a:solidFill>
                              <a:srgbClr val="FF0000"/>
                            </a:solidFill>
                            <a:latin typeface="Cambria Math" panose="02040503050406030204" pitchFamily="18" charset="0"/>
                          </a:rPr>
                        </m:ctrlPr>
                      </m:dPr>
                      <m:e>
                        <m:eqArr>
                          <m:eqArrPr>
                            <m:ctrlPr>
                              <a:rPr lang="en-US" sz="3200" i="1">
                                <a:solidFill>
                                  <a:srgbClr val="FF0000"/>
                                </a:solidFill>
                                <a:latin typeface="Cambria Math" panose="02040503050406030204" pitchFamily="18" charset="0"/>
                              </a:rPr>
                            </m:ctrlPr>
                          </m:eqArrPr>
                          <m:e>
                            <m:r>
                              <a:rPr lang="en-US" sz="3200" i="1">
                                <a:solidFill>
                                  <a:srgbClr val="FF0000"/>
                                </a:solidFill>
                                <a:latin typeface="Cambria Math" panose="02040503050406030204" pitchFamily="18" charset="0"/>
                              </a:rPr>
                              <m:t>4       13</m:t>
                            </m:r>
                          </m:e>
                          <m:e>
                            <m:r>
                              <a:rPr lang="en-US" sz="3200" i="1">
                                <a:solidFill>
                                  <a:srgbClr val="FF0000"/>
                                </a:solidFill>
                                <a:latin typeface="Cambria Math" panose="02040503050406030204" pitchFamily="18" charset="0"/>
                              </a:rPr>
                              <m:t>6        8</m:t>
                            </m:r>
                          </m:e>
                          <m:e>
                            <m:r>
                              <a:rPr lang="en-US" sz="3200" i="1">
                                <a:solidFill>
                                  <a:srgbClr val="FF0000"/>
                                </a:solidFill>
                                <a:latin typeface="Cambria Math" panose="02040503050406030204" pitchFamily="18" charset="0"/>
                              </a:rPr>
                              <m:t>13       4</m:t>
                            </m:r>
                          </m:e>
                          <m:e>
                            <m:r>
                              <a:rPr lang="en-US" sz="3200" i="1">
                                <a:solidFill>
                                  <a:srgbClr val="FF0000"/>
                                </a:solidFill>
                                <a:latin typeface="Cambria Math" panose="02040503050406030204" pitchFamily="18" charset="0"/>
                              </a:rPr>
                              <m:t>4       17</m:t>
                            </m:r>
                          </m:e>
                        </m:eqArr>
                      </m:e>
                    </m:d>
                  </m:oMath>
                </a14:m>
                <a:r>
                  <a:rPr lang="en-US" sz="3200" dirty="0">
                    <a:solidFill>
                      <a:srgbClr val="FF0000"/>
                    </a:solidFill>
                    <a:latin typeface="Times New Roman" panose="02020603050405020304" pitchFamily="18" charset="0"/>
                    <a:cs typeface="Times New Roman" panose="02020603050405020304" pitchFamily="18" charset="0"/>
                  </a:rPr>
                  <a:t> </a:t>
                </a:r>
                <a:endParaRPr lang="en-US" sz="31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100" dirty="0">
                  <a:solidFill>
                    <a:srgbClr val="FF0000"/>
                  </a:solidFill>
                  <a:latin typeface="Times New Roman" panose="02020603050405020304" pitchFamily="18" charset="0"/>
                  <a:cs typeface="Times New Roman" panose="02020603050405020304" pitchFamily="18" charset="0"/>
                </a:endParaRPr>
              </a:p>
              <a:p>
                <a:r>
                  <a:rPr lang="en-US" sz="3100" dirty="0">
                    <a:solidFill>
                      <a:srgbClr val="FF0000"/>
                    </a:solidFill>
                    <a:latin typeface="Times New Roman" panose="02020603050405020304" pitchFamily="18" charset="0"/>
                    <a:cs typeface="Times New Roman" panose="02020603050405020304" pitchFamily="18" charset="0"/>
                  </a:rPr>
                  <a:t>C = P*K (mod 26)</a:t>
                </a:r>
              </a:p>
              <a:p>
                <a:endParaRPr lang="en-US" sz="26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928" t="-3443" b="-1435"/>
                </a:stretch>
              </a:blipFill>
            </p:spPr>
            <p:txBody>
              <a:bodyPr/>
              <a:lstStyle/>
              <a:p>
                <a:r>
                  <a:rPr lang="en-IN">
                    <a:noFill/>
                  </a:rPr>
                  <a:t> </a:t>
                </a:r>
              </a:p>
            </p:txBody>
          </p:sp>
        </mc:Fallback>
      </mc:AlternateContent>
    </p:spTree>
    <p:extLst>
      <p:ext uri="{BB962C8B-B14F-4D97-AF65-F5344CB8AC3E}">
        <p14:creationId xmlns:p14="http://schemas.microsoft.com/office/powerpoint/2010/main" val="23730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1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251960"/>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C = </a:t>
                </a:r>
                <a14:m>
                  <m:oMath xmlns:m="http://schemas.openxmlformats.org/officeDocument/2006/math">
                    <m:d>
                      <m:dPr>
                        <m:begChr m:val="["/>
                        <m:endChr m:val="]"/>
                        <m:ctrlPr>
                          <a:rPr lang="en-US" sz="2400" b="0" i="1">
                            <a:solidFill>
                              <a:srgbClr val="FF0000"/>
                            </a:solidFill>
                            <a:latin typeface="Cambria Math" panose="02040503050406030204" pitchFamily="18" charset="0"/>
                          </a:rPr>
                        </m:ctrlPr>
                      </m:dPr>
                      <m:e>
                        <m:eqArr>
                          <m:eqArrPr>
                            <m:ctrlPr>
                              <a:rPr lang="en-US" sz="2400" b="0" i="1">
                                <a:solidFill>
                                  <a:srgbClr val="FF0000"/>
                                </a:solidFill>
                                <a:latin typeface="Cambria Math" panose="02040503050406030204" pitchFamily="18" charset="0"/>
                              </a:rPr>
                            </m:ctrlPr>
                          </m:eqArrPr>
                          <m:e>
                            <m:r>
                              <a:rPr lang="en-US" sz="2400" b="0" i="1">
                                <a:solidFill>
                                  <a:srgbClr val="FF0000"/>
                                </a:solidFill>
                                <a:latin typeface="Cambria Math" panose="02040503050406030204" pitchFamily="18" charset="0"/>
                              </a:rPr>
                              <m:t>4       13</m:t>
                            </m:r>
                          </m:e>
                          <m:e>
                            <m:r>
                              <a:rPr lang="en-US" sz="2400" b="0" i="1">
                                <a:solidFill>
                                  <a:srgbClr val="FF0000"/>
                                </a:solidFill>
                                <a:latin typeface="Cambria Math" panose="02040503050406030204" pitchFamily="18" charset="0"/>
                              </a:rPr>
                              <m:t>6        8</m:t>
                            </m:r>
                          </m:e>
                          <m:e>
                            <m:r>
                              <a:rPr lang="en-US" sz="2400" b="0" i="1">
                                <a:solidFill>
                                  <a:srgbClr val="FF0000"/>
                                </a:solidFill>
                                <a:latin typeface="Cambria Math" panose="02040503050406030204" pitchFamily="18" charset="0"/>
                              </a:rPr>
                              <m:t>13       4</m:t>
                            </m:r>
                          </m:e>
                          <m:e>
                            <m:r>
                              <a:rPr lang="en-US" sz="2400" b="0" i="1">
                                <a:solidFill>
                                  <a:srgbClr val="FF0000"/>
                                </a:solidFill>
                                <a:latin typeface="Cambria Math" panose="02040503050406030204" pitchFamily="18" charset="0"/>
                              </a:rPr>
                              <m:t>4       17</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i="1">
                                  <a:solidFill>
                                    <a:srgbClr val="FF0000"/>
                                  </a:solidFill>
                                  <a:latin typeface="Cambria Math" panose="02040503050406030204" pitchFamily="18" charset="0"/>
                                </a:rPr>
                                <m:t>5</m:t>
                              </m:r>
                            </m:e>
                            <m:e>
                              <m:r>
                                <a:rPr lang="en-US" sz="2400" i="1">
                                  <a:solidFill>
                                    <a:srgbClr val="FF0000"/>
                                  </a:solidFill>
                                  <a:latin typeface="Cambria Math" panose="02040503050406030204" pitchFamily="18" charset="0"/>
                                </a:rPr>
                                <m:t>6</m:t>
                              </m:r>
                            </m:e>
                          </m:mr>
                          <m:mr>
                            <m:e>
                              <m:r>
                                <a:rPr lang="en-US" sz="2400" i="1">
                                  <a:solidFill>
                                    <a:srgbClr val="FF0000"/>
                                  </a:solidFill>
                                  <a:latin typeface="Cambria Math" panose="02040503050406030204" pitchFamily="18" charset="0"/>
                                </a:rPr>
                                <m:t>3</m:t>
                              </m:r>
                            </m:e>
                            <m:e>
                              <m:r>
                                <a:rPr lang="en-US" sz="2400" i="1">
                                  <a:solidFill>
                                    <a:srgbClr val="FF0000"/>
                                  </a:solidFill>
                                  <a:latin typeface="Cambria Math" panose="02040503050406030204" pitchFamily="18" charset="0"/>
                                </a:rPr>
                                <m:t>9</m:t>
                              </m:r>
                            </m:e>
                          </m:mr>
                        </m:m>
                      </m:e>
                    </m:d>
                  </m:oMath>
                </a14:m>
                <a:r>
                  <a:rPr lang="en-US" sz="2400" dirty="0">
                    <a:solidFill>
                      <a:srgbClr val="FF0000"/>
                    </a:solidFill>
                    <a:latin typeface="Times New Roman" panose="02020603050405020304" pitchFamily="18" charset="0"/>
                    <a:cs typeface="Times New Roman" panose="02020603050405020304" pitchFamily="18" charset="0"/>
                  </a:rPr>
                  <a:t>  (mod 26) </a:t>
                </a:r>
              </a:p>
              <a:p>
                <a:r>
                  <a:rPr lang="en-US" sz="2400" dirty="0">
                    <a:solidFill>
                      <a:srgbClr val="FF0000"/>
                    </a:solidFill>
                    <a:latin typeface="Times New Roman" panose="02020603050405020304" pitchFamily="18" charset="0"/>
                    <a:cs typeface="Times New Roman" panose="02020603050405020304" pitchFamily="18" charset="0"/>
                  </a:rPr>
                  <a:t>C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a:rPr lang="en-US" sz="2400" b="0" i="0">
                                <a:solidFill>
                                  <a:srgbClr val="FF0000"/>
                                </a:solidFill>
                                <a:latin typeface="Cambria Math" panose="02040503050406030204" pitchFamily="18" charset="0"/>
                              </a:rPr>
                              <m:t>7</m:t>
                            </m:r>
                            <m:r>
                              <a:rPr lang="en-US" sz="2400" i="0">
                                <a:solidFill>
                                  <a:srgbClr val="FF0000"/>
                                </a:solidFill>
                                <a:latin typeface="Cambria Math" panose="02040503050406030204" pitchFamily="18" charset="0"/>
                              </a:rPr>
                              <m:t>       </m:t>
                            </m:r>
                            <m:r>
                              <a:rPr lang="en-US" sz="2400" b="0" i="0">
                                <a:solidFill>
                                  <a:srgbClr val="FF0000"/>
                                </a:solidFill>
                                <a:latin typeface="Cambria Math" panose="02040503050406030204" pitchFamily="18" charset="0"/>
                              </a:rPr>
                              <m:t>   11</m:t>
                            </m:r>
                          </m:e>
                          <m:e>
                            <m:r>
                              <a:rPr lang="en-US" sz="2400" b="0" i="0">
                                <a:solidFill>
                                  <a:srgbClr val="FF0000"/>
                                </a:solidFill>
                                <a:latin typeface="Cambria Math" panose="02040503050406030204" pitchFamily="18" charset="0"/>
                              </a:rPr>
                              <m:t>2</m:t>
                            </m:r>
                            <m:r>
                              <a:rPr lang="en-US" sz="2400" i="0">
                                <a:solidFill>
                                  <a:srgbClr val="FF0000"/>
                                </a:solidFill>
                                <a:latin typeface="Cambria Math" panose="02040503050406030204" pitchFamily="18" charset="0"/>
                              </a:rPr>
                              <m:t>        </m:t>
                            </m:r>
                            <m:r>
                              <a:rPr lang="en-US" sz="2400" b="0" i="0">
                                <a:solidFill>
                                  <a:srgbClr val="FF0000"/>
                                </a:solidFill>
                                <a:latin typeface="Cambria Math" panose="02040503050406030204" pitchFamily="18" charset="0"/>
                              </a:rPr>
                              <m:t>   4</m:t>
                            </m:r>
                          </m:e>
                          <m:e>
                            <m:r>
                              <a:rPr lang="en-US" sz="2400" i="0">
                                <a:solidFill>
                                  <a:srgbClr val="FF0000"/>
                                </a:solidFill>
                                <a:latin typeface="Cambria Math" panose="02040503050406030204" pitchFamily="18" charset="0"/>
                              </a:rPr>
                              <m:t> </m:t>
                            </m:r>
                            <m:r>
                              <a:rPr lang="en-US" sz="2400" b="0" i="0">
                                <a:solidFill>
                                  <a:srgbClr val="FF0000"/>
                                </a:solidFill>
                                <a:latin typeface="Cambria Math" panose="02040503050406030204" pitchFamily="18" charset="0"/>
                              </a:rPr>
                              <m:t>25</m:t>
                            </m:r>
                            <m:r>
                              <a:rPr lang="en-US" sz="2400" i="0">
                                <a:solidFill>
                                  <a:srgbClr val="FF0000"/>
                                </a:solidFill>
                                <a:latin typeface="Cambria Math" panose="02040503050406030204" pitchFamily="18" charset="0"/>
                              </a:rPr>
                              <m:t>      </m:t>
                            </m:r>
                            <m:r>
                              <a:rPr lang="en-US" sz="2400" b="0" i="0">
                                <a:solidFill>
                                  <a:srgbClr val="FF0000"/>
                                </a:solidFill>
                                <a:latin typeface="Cambria Math" panose="02040503050406030204" pitchFamily="18" charset="0"/>
                              </a:rPr>
                              <m:t>  10</m:t>
                            </m:r>
                          </m:e>
                          <m:e>
                            <m:r>
                              <a:rPr lang="en-US" sz="2400" b="0" i="0">
                                <a:solidFill>
                                  <a:srgbClr val="FF0000"/>
                                </a:solidFill>
                                <a:latin typeface="Cambria Math" panose="02040503050406030204" pitchFamily="18" charset="0"/>
                              </a:rPr>
                              <m:t>19</m:t>
                            </m:r>
                            <m:r>
                              <a:rPr lang="en-US" sz="2400" i="0">
                                <a:solidFill>
                                  <a:srgbClr val="FF0000"/>
                                </a:solidFill>
                                <a:latin typeface="Cambria Math" panose="02040503050406030204" pitchFamily="18" charset="0"/>
                              </a:rPr>
                              <m:t>       </m:t>
                            </m:r>
                            <m:r>
                              <a:rPr lang="en-US" sz="2400" b="0" i="0">
                                <a:solidFill>
                                  <a:srgbClr val="FF0000"/>
                                </a:solidFill>
                                <a:latin typeface="Cambria Math" panose="02040503050406030204" pitchFamily="18" charset="0"/>
                              </a:rPr>
                              <m:t> 21</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b="1" i="1">
                            <a:solidFill>
                              <a:srgbClr val="FF0000"/>
                            </a:solidFill>
                            <a:latin typeface="Cambria Math" panose="02040503050406030204" pitchFamily="18" charset="0"/>
                          </a:rPr>
                        </m:ctrlPr>
                      </m:dPr>
                      <m:e>
                        <m:eqArr>
                          <m:eqArrPr>
                            <m:ctrlPr>
                              <a:rPr lang="en-US" sz="2400" b="1" i="1">
                                <a:solidFill>
                                  <a:srgbClr val="FF0000"/>
                                </a:solidFill>
                                <a:latin typeface="Cambria Math" panose="02040503050406030204" pitchFamily="18" charset="0"/>
                              </a:rPr>
                            </m:ctrlPr>
                          </m:eqArrPr>
                          <m:e>
                            <m:r>
                              <a:rPr lang="en-US" sz="2400" b="1" i="0">
                                <a:solidFill>
                                  <a:srgbClr val="FF0000"/>
                                </a:solidFill>
                                <a:latin typeface="Cambria Math" panose="02040503050406030204" pitchFamily="18" charset="0"/>
                              </a:rPr>
                              <m:t>𝐡</m:t>
                            </m:r>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𝐥</m:t>
                            </m:r>
                          </m:e>
                          <m:e>
                            <m:r>
                              <a:rPr lang="en-US" sz="2400" b="1" i="0">
                                <a:solidFill>
                                  <a:srgbClr val="FF0000"/>
                                </a:solidFill>
                                <a:latin typeface="Cambria Math" panose="02040503050406030204" pitchFamily="18" charset="0"/>
                              </a:rPr>
                              <m:t>𝐜</m:t>
                            </m:r>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𝐞</m:t>
                            </m:r>
                          </m:e>
                          <m:e>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𝐳</m:t>
                            </m:r>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𝐤</m:t>
                            </m:r>
                          </m:e>
                          <m:e>
                            <m:r>
                              <a:rPr lang="en-US" sz="2400" b="1" i="0">
                                <a:solidFill>
                                  <a:srgbClr val="FF0000"/>
                                </a:solidFill>
                                <a:latin typeface="Cambria Math" panose="02040503050406030204" pitchFamily="18" charset="0"/>
                              </a:rPr>
                              <m:t>𝐭</m:t>
                            </m:r>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𝐯</m:t>
                            </m:r>
                          </m:e>
                        </m:eqArr>
                      </m:e>
                    </m:d>
                  </m:oMath>
                </a14:m>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Therefore, the ciphertext is </a:t>
                </a:r>
                <a:r>
                  <a:rPr lang="en-US" sz="2400" b="1" dirty="0" err="1">
                    <a:solidFill>
                      <a:srgbClr val="FF0000"/>
                    </a:solidFill>
                    <a:latin typeface="Times New Roman" panose="02020603050405020304" pitchFamily="18" charset="0"/>
                    <a:cs typeface="Times New Roman" panose="02020603050405020304" pitchFamily="18" charset="0"/>
                  </a:rPr>
                  <a:t>hlcezktv</a:t>
                </a:r>
                <a:r>
                  <a:rPr lang="en-US" sz="2400" dirty="0">
                    <a:solidFill>
                      <a:srgbClr val="FF0000"/>
                    </a:solidFill>
                    <a:latin typeface="Times New Roman" panose="02020603050405020304" pitchFamily="18" charset="0"/>
                    <a:cs typeface="Times New Roman" panose="02020603050405020304" pitchFamily="18" charset="0"/>
                  </a:rPr>
                  <a:t>.</a:t>
                </a: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812" t="-574"/>
                </a:stretch>
              </a:blipFill>
            </p:spPr>
            <p:txBody>
              <a:bodyPr/>
              <a:lstStyle/>
              <a:p>
                <a:r>
                  <a:rPr lang="en-IN">
                    <a:noFill/>
                  </a:rPr>
                  <a:t> </a:t>
                </a:r>
              </a:p>
            </p:txBody>
          </p:sp>
        </mc:Fallback>
      </mc:AlternateContent>
    </p:spTree>
    <p:extLst>
      <p:ext uri="{BB962C8B-B14F-4D97-AF65-F5344CB8AC3E}">
        <p14:creationId xmlns:p14="http://schemas.microsoft.com/office/powerpoint/2010/main" val="387925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736156"/>
              </a:xfrm>
            </p:spPr>
            <p:txBody>
              <a:bodyPr>
                <a:normAutofit lnSpcReduction="10000"/>
              </a:bodyPr>
              <a:lstStyle/>
              <a:p>
                <a:r>
                  <a:rPr lang="en-US" sz="2600" dirty="0">
                    <a:latin typeface="Times New Roman" panose="02020603050405020304" pitchFamily="18" charset="0"/>
                    <a:cs typeface="Times New Roman" panose="02020603050405020304" pitchFamily="18" charset="0"/>
                  </a:rPr>
                  <a:t>Decrypt the ciphertext </a:t>
                </a:r>
                <a:r>
                  <a:rPr lang="en-US" sz="2600" b="1" dirty="0" err="1">
                    <a:latin typeface="Times New Roman" panose="02020603050405020304" pitchFamily="18" charset="0"/>
                    <a:cs typeface="Times New Roman" panose="02020603050405020304" pitchFamily="18" charset="0"/>
                  </a:rPr>
                  <a:t>hlcezktv</a:t>
                </a:r>
                <a:r>
                  <a:rPr lang="en-US" sz="2600" dirty="0">
                    <a:latin typeface="Times New Roman" panose="02020603050405020304" pitchFamily="18" charset="0"/>
                    <a:cs typeface="Times New Roman" panose="02020603050405020304" pitchFamily="18" charset="0"/>
                  </a:rPr>
                  <a:t> using Hill Cipher with the key matrix displayed below. Assume that only alphabets are used, by ignoring the case.</a:t>
                </a:r>
              </a:p>
              <a:p>
                <a:pPr marL="0" indent="0">
                  <a:buNone/>
                </a:pPr>
                <a:r>
                  <a:rPr lang="en-US" sz="2600" dirty="0">
                    <a:latin typeface="Times New Roman" panose="02020603050405020304" pitchFamily="18" charset="0"/>
                    <a:cs typeface="Times New Roman" panose="02020603050405020304" pitchFamily="18" charset="0"/>
                  </a:rPr>
                  <a:t>K = </a:t>
                </a:r>
                <a14:m>
                  <m:oMath xmlns:m="http://schemas.openxmlformats.org/officeDocument/2006/math">
                    <m:d>
                      <m:dPr>
                        <m:begChr m:val="["/>
                        <m:endChr m:val="]"/>
                        <m:ctrlPr>
                          <a:rPr lang="en-US" sz="2600" i="1">
                            <a:latin typeface="Cambria Math" panose="02040503050406030204" pitchFamily="18" charset="0"/>
                          </a:rPr>
                        </m:ctrlPr>
                      </m:dPr>
                      <m:e>
                        <m:m>
                          <m:mPr>
                            <m:mcs>
                              <m:mc>
                                <m:mcPr>
                                  <m:count m:val="2"/>
                                  <m:mcJc m:val="center"/>
                                </m:mcPr>
                              </m:mc>
                            </m:mcs>
                            <m:ctrlPr>
                              <a:rPr lang="en-US" sz="2600" i="1">
                                <a:latin typeface="Cambria Math" panose="02040503050406030204" pitchFamily="18" charset="0"/>
                              </a:rPr>
                            </m:ctrlPr>
                          </m:mPr>
                          <m:mr>
                            <m:e>
                              <m:r>
                                <m:rPr>
                                  <m:brk m:alnAt="7"/>
                                </m:rPr>
                                <a:rPr lang="en-US" sz="2600" b="0" i="1">
                                  <a:latin typeface="Cambria Math" panose="02040503050406030204" pitchFamily="18" charset="0"/>
                                </a:rPr>
                                <m:t>5</m:t>
                              </m:r>
                            </m:e>
                            <m:e>
                              <m:r>
                                <a:rPr lang="en-US" sz="2600" b="0" i="1">
                                  <a:latin typeface="Cambria Math" panose="02040503050406030204" pitchFamily="18" charset="0"/>
                                </a:rPr>
                                <m:t>6</m:t>
                              </m:r>
                            </m:e>
                          </m:mr>
                          <m:mr>
                            <m:e>
                              <m:r>
                                <a:rPr lang="en-US" sz="2600" b="0" i="1">
                                  <a:latin typeface="Cambria Math" panose="02040503050406030204" pitchFamily="18" charset="0"/>
                                </a:rPr>
                                <m:t>3</m:t>
                              </m:r>
                            </m:e>
                            <m:e>
                              <m:r>
                                <a:rPr lang="en-US" sz="2600" b="0" i="1">
                                  <a:latin typeface="Cambria Math" panose="02040503050406030204" pitchFamily="18" charset="0"/>
                                </a:rPr>
                                <m:t>9</m:t>
                              </m:r>
                            </m:e>
                          </m:mr>
                        </m:m>
                      </m:e>
                    </m:d>
                  </m:oMath>
                </a14:m>
                <a:endParaRPr lang="en-US" sz="2600" dirty="0">
                  <a:latin typeface="Times New Roman" panose="02020603050405020304" pitchFamily="18" charset="0"/>
                  <a:cs typeface="Times New Roman" panose="02020603050405020304" pitchFamily="18" charset="0"/>
                </a:endParaRP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r>
                  <a:rPr lang="en-US" sz="2400" u="sng" dirty="0">
                    <a:solidFill>
                      <a:srgbClr val="FF0000"/>
                    </a:solidFill>
                    <a:latin typeface="Times New Roman" panose="02020603050405020304" pitchFamily="18" charset="0"/>
                    <a:cs typeface="Times New Roman" panose="02020603050405020304" pitchFamily="18" charset="0"/>
                  </a:rPr>
                  <a:t>Solution:-</a:t>
                </a:r>
              </a:p>
              <a:p>
                <a:r>
                  <a:rPr lang="en-US" sz="2400" dirty="0">
                    <a:solidFill>
                      <a:srgbClr val="FF0000"/>
                    </a:solidFill>
                    <a:latin typeface="Times New Roman" panose="02020603050405020304" pitchFamily="18" charset="0"/>
                    <a:cs typeface="Times New Roman" panose="02020603050405020304" pitchFamily="18" charset="0"/>
                  </a:rPr>
                  <a:t>det(K) = 27</a:t>
                </a:r>
              </a:p>
              <a:p>
                <a:pPr marL="0" indent="0">
                  <a:buNone/>
                </a:pPr>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C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m:rPr>
                                <m:sty m:val="p"/>
                              </m:rPr>
                              <a:rPr lang="en-US" sz="2400" b="0" i="0">
                                <a:solidFill>
                                  <a:srgbClr val="FF0000"/>
                                </a:solidFill>
                                <a:latin typeface="Cambria Math" panose="02040503050406030204" pitchFamily="18" charset="0"/>
                              </a:rPr>
                              <m:t>h</m:t>
                            </m:r>
                            <m:r>
                              <a:rPr lang="en-US" sz="2400" b="0" i="0">
                                <a:solidFill>
                                  <a:srgbClr val="FF0000"/>
                                </a:solidFill>
                                <a:latin typeface="Cambria Math" panose="02040503050406030204" pitchFamily="18" charset="0"/>
                              </a:rPr>
                              <m:t>          </m:t>
                            </m:r>
                            <m:r>
                              <m:rPr>
                                <m:sty m:val="p"/>
                              </m:rPr>
                              <a:rPr lang="en-US" sz="2400" b="0" i="0">
                                <a:solidFill>
                                  <a:srgbClr val="FF0000"/>
                                </a:solidFill>
                                <a:latin typeface="Cambria Math" panose="02040503050406030204" pitchFamily="18" charset="0"/>
                              </a:rPr>
                              <m:t>l</m:t>
                            </m:r>
                          </m:e>
                          <m:e>
                            <m:r>
                              <m:rPr>
                                <m:sty m:val="p"/>
                              </m:rPr>
                              <a:rPr lang="en-US" sz="2400" b="0" i="0">
                                <a:solidFill>
                                  <a:srgbClr val="FF0000"/>
                                </a:solidFill>
                                <a:latin typeface="Cambria Math" panose="02040503050406030204" pitchFamily="18" charset="0"/>
                              </a:rPr>
                              <m:t>c</m:t>
                            </m:r>
                            <m:r>
                              <a:rPr lang="en-US" sz="2400" b="0" i="0">
                                <a:solidFill>
                                  <a:srgbClr val="FF0000"/>
                                </a:solidFill>
                                <a:latin typeface="Cambria Math" panose="02040503050406030204" pitchFamily="18" charset="0"/>
                              </a:rPr>
                              <m:t>           </m:t>
                            </m:r>
                            <m:r>
                              <m:rPr>
                                <m:sty m:val="p"/>
                              </m:rPr>
                              <a:rPr lang="en-US" sz="2400" b="0" i="0">
                                <a:solidFill>
                                  <a:srgbClr val="FF0000"/>
                                </a:solidFill>
                                <a:latin typeface="Cambria Math" panose="02040503050406030204" pitchFamily="18" charset="0"/>
                              </a:rPr>
                              <m:t>e</m:t>
                            </m:r>
                          </m:e>
                          <m:e>
                            <m:r>
                              <a:rPr lang="en-US" sz="2400" b="0" i="0">
                                <a:solidFill>
                                  <a:srgbClr val="FF0000"/>
                                </a:solidFill>
                                <a:latin typeface="Cambria Math" panose="02040503050406030204" pitchFamily="18" charset="0"/>
                              </a:rPr>
                              <m:t> </m:t>
                            </m:r>
                            <m:r>
                              <m:rPr>
                                <m:sty m:val="p"/>
                              </m:rPr>
                              <a:rPr lang="en-US" sz="2400" b="0" i="0">
                                <a:solidFill>
                                  <a:srgbClr val="FF0000"/>
                                </a:solidFill>
                                <a:latin typeface="Cambria Math" panose="02040503050406030204" pitchFamily="18" charset="0"/>
                              </a:rPr>
                              <m:t>z</m:t>
                            </m:r>
                            <m:r>
                              <a:rPr lang="en-US" sz="2400" b="0" i="0">
                                <a:solidFill>
                                  <a:srgbClr val="FF0000"/>
                                </a:solidFill>
                                <a:latin typeface="Cambria Math" panose="02040503050406030204" pitchFamily="18" charset="0"/>
                              </a:rPr>
                              <m:t>        </m:t>
                            </m:r>
                            <m:r>
                              <m:rPr>
                                <m:sty m:val="p"/>
                              </m:rPr>
                              <a:rPr lang="en-US" sz="2400" b="0" i="0">
                                <a:solidFill>
                                  <a:srgbClr val="FF0000"/>
                                </a:solidFill>
                                <a:latin typeface="Cambria Math" panose="02040503050406030204" pitchFamily="18" charset="0"/>
                              </a:rPr>
                              <m:t>k</m:t>
                            </m:r>
                          </m:e>
                          <m:e>
                            <m:r>
                              <m:rPr>
                                <m:sty m:val="p"/>
                              </m:rPr>
                              <a:rPr lang="en-US" sz="2400" b="0" i="0">
                                <a:solidFill>
                                  <a:srgbClr val="FF0000"/>
                                </a:solidFill>
                                <a:latin typeface="Cambria Math" panose="02040503050406030204" pitchFamily="18" charset="0"/>
                              </a:rPr>
                              <m:t>t</m:t>
                            </m:r>
                            <m:r>
                              <a:rPr lang="en-US" sz="2400" b="0" i="0">
                                <a:solidFill>
                                  <a:srgbClr val="FF0000"/>
                                </a:solidFill>
                                <a:latin typeface="Cambria Math" panose="02040503050406030204" pitchFamily="18" charset="0"/>
                              </a:rPr>
                              <m:t>        </m:t>
                            </m:r>
                            <m:r>
                              <m:rPr>
                                <m:sty m:val="p"/>
                              </m:rPr>
                              <a:rPr lang="en-US" sz="2400" b="0" i="0">
                                <a:solidFill>
                                  <a:srgbClr val="FF0000"/>
                                </a:solidFill>
                                <a:latin typeface="Cambria Math" panose="02040503050406030204" pitchFamily="18" charset="0"/>
                              </a:rPr>
                              <m:t>v</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a:rPr lang="en-US" sz="2400" i="1">
                                <a:solidFill>
                                  <a:srgbClr val="FF0000"/>
                                </a:solidFill>
                                <a:latin typeface="Cambria Math" panose="02040503050406030204" pitchFamily="18" charset="0"/>
                              </a:rPr>
                              <m:t>7       11</m:t>
                            </m:r>
                          </m:e>
                          <m:e>
                            <m:r>
                              <a:rPr lang="en-US" sz="2400" i="1">
                                <a:solidFill>
                                  <a:srgbClr val="FF0000"/>
                                </a:solidFill>
                                <a:latin typeface="Cambria Math" panose="02040503050406030204" pitchFamily="18" charset="0"/>
                              </a:rPr>
                              <m:t>2        4</m:t>
                            </m:r>
                          </m:e>
                          <m:e>
                            <m:r>
                              <a:rPr lang="en-US" sz="2400" i="1">
                                <a:solidFill>
                                  <a:srgbClr val="FF0000"/>
                                </a:solidFill>
                                <a:latin typeface="Cambria Math" panose="02040503050406030204" pitchFamily="18" charset="0"/>
                              </a:rPr>
                              <m:t>25       10</m:t>
                            </m:r>
                          </m:e>
                          <m:e>
                            <m:r>
                              <a:rPr lang="en-US" sz="2400" i="1">
                                <a:solidFill>
                                  <a:srgbClr val="FF0000"/>
                                </a:solidFill>
                                <a:latin typeface="Cambria Math" panose="02040503050406030204" pitchFamily="18" charset="0"/>
                              </a:rPr>
                              <m:t>19       21</m:t>
                            </m:r>
                          </m:e>
                        </m:eqArr>
                      </m:e>
                    </m:d>
                  </m:oMath>
                </a14:m>
                <a:r>
                  <a:rPr lang="en-US" sz="2400" dirty="0">
                    <a:solidFill>
                      <a:srgbClr val="FF0000"/>
                    </a:solidFill>
                    <a:latin typeface="Times New Roman" panose="02020603050405020304" pitchFamily="18" charset="0"/>
                    <a:cs typeface="Times New Roman" panose="02020603050405020304" pitchFamily="18" charset="0"/>
                  </a:rPr>
                  <a:t> </a:t>
                </a:r>
              </a:p>
              <a:p>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736156"/>
              </a:xfrm>
              <a:blipFill>
                <a:blip r:embed="rId2"/>
                <a:stretch>
                  <a:fillRect l="-1043" t="-2964" r="-116"/>
                </a:stretch>
              </a:blipFill>
            </p:spPr>
            <p:txBody>
              <a:bodyPr/>
              <a:lstStyle/>
              <a:p>
                <a:r>
                  <a:rPr lang="en-IN">
                    <a:noFill/>
                  </a:rPr>
                  <a:t> </a:t>
                </a:r>
              </a:p>
            </p:txBody>
          </p:sp>
        </mc:Fallback>
      </mc:AlternateContent>
    </p:spTree>
    <p:extLst>
      <p:ext uri="{BB962C8B-B14F-4D97-AF65-F5344CB8AC3E}">
        <p14:creationId xmlns:p14="http://schemas.microsoft.com/office/powerpoint/2010/main" val="205063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251960"/>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smtClean="0">
                            <a:solidFill>
                              <a:srgbClr val="FF0000"/>
                            </a:solidFill>
                            <a:latin typeface="Cambria Math" panose="02040503050406030204" pitchFamily="18" charset="0"/>
                          </a:rPr>
                        </m:ctrlPr>
                      </m:dPr>
                      <m:e>
                        <m:m>
                          <m:mPr>
                            <m:mcs>
                              <m:mc>
                                <m:mcPr>
                                  <m:count m:val="2"/>
                                  <m:mcJc m:val="center"/>
                                </m:mcPr>
                              </m:mc>
                            </m:mcs>
                            <m:ctrlPr>
                              <a:rPr lang="en-US" sz="2400" i="1" smtClean="0">
                                <a:solidFill>
                                  <a:srgbClr val="FF0000"/>
                                </a:solidFill>
                                <a:latin typeface="Cambria Math" panose="02040503050406030204" pitchFamily="18" charset="0"/>
                              </a:rPr>
                            </m:ctrlPr>
                          </m:mPr>
                          <m:mr>
                            <m:e>
                              <m:r>
                                <m:rPr>
                                  <m:brk m:alnAt="7"/>
                                </m:rPr>
                                <a:rPr lang="en-US" sz="2400" b="0" i="0" smtClean="0">
                                  <a:solidFill>
                                    <a:srgbClr val="FF0000"/>
                                  </a:solidFill>
                                  <a:latin typeface="Cambria Math" panose="02040503050406030204" pitchFamily="18" charset="0"/>
                                </a:rPr>
                                <m:t>9</m:t>
                              </m:r>
                            </m:e>
                            <m:e>
                              <m:r>
                                <a:rPr lang="en-US" sz="2400" b="0" i="0" smtClean="0">
                                  <a:solidFill>
                                    <a:srgbClr val="FF0000"/>
                                  </a:solidFill>
                                  <a:latin typeface="Cambria Math" panose="02040503050406030204" pitchFamily="18" charset="0"/>
                                </a:rPr>
                                <m:t>−6</m:t>
                              </m:r>
                            </m:e>
                          </m:mr>
                          <m:mr>
                            <m:e>
                              <m:r>
                                <a:rPr lang="en-US" sz="2400" b="0" i="0" smtClean="0">
                                  <a:solidFill>
                                    <a:srgbClr val="FF0000"/>
                                  </a:solidFill>
                                  <a:latin typeface="Cambria Math" panose="02040503050406030204" pitchFamily="18" charset="0"/>
                                </a:rPr>
                                <m:t>−3</m:t>
                              </m:r>
                            </m:e>
                            <m:e>
                              <m:r>
                                <a:rPr lang="en-US" sz="2400" b="0" i="0" smtClean="0">
                                  <a:solidFill>
                                    <a:srgbClr val="FF0000"/>
                                  </a:solidFill>
                                  <a:latin typeface="Cambria Math" panose="02040503050406030204" pitchFamily="18" charset="0"/>
                                </a:rPr>
                                <m:t>5</m:t>
                              </m:r>
                            </m:e>
                          </m:mr>
                        </m:m>
                      </m:e>
                    </m:d>
                    <m:r>
                      <a:rPr lang="en-US" sz="2400" b="0" i="1" smtClean="0">
                        <a:solidFill>
                          <a:srgbClr val="FF0000"/>
                        </a:solidFill>
                        <a:latin typeface="Cambria Math" panose="02040503050406030204" pitchFamily="18" charset="0"/>
                      </a:rPr>
                      <m:t> </m:t>
                    </m:r>
                  </m:oMath>
                </a14:m>
                <a:r>
                  <a:rPr lang="en-US" sz="2400" dirty="0">
                    <a:solidFill>
                      <a:srgbClr val="FF0000"/>
                    </a:solidFill>
                    <a:latin typeface="Times New Roman" panose="02020603050405020304" pitchFamily="18" charset="0"/>
                    <a:cs typeface="Times New Roman" panose="02020603050405020304" pitchFamily="18" charset="0"/>
                  </a:rPr>
                  <a:t>* 27</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(mod 26)</a:t>
                </a: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smtClean="0">
                            <a:solidFill>
                              <a:srgbClr val="FF0000"/>
                            </a:solidFill>
                            <a:latin typeface="Cambria Math" panose="02040503050406030204" pitchFamily="18" charset="0"/>
                          </a:rPr>
                        </m:ctrlPr>
                      </m:dPr>
                      <m:e>
                        <m:m>
                          <m:mPr>
                            <m:mcs>
                              <m:mc>
                                <m:mcPr>
                                  <m:count m:val="2"/>
                                  <m:mcJc m:val="center"/>
                                </m:mcPr>
                              </m:mc>
                            </m:mcs>
                            <m:ctrlPr>
                              <a:rPr lang="en-US" sz="2400" i="1" smtClean="0">
                                <a:solidFill>
                                  <a:srgbClr val="FF0000"/>
                                </a:solidFill>
                                <a:latin typeface="Cambria Math" panose="02040503050406030204" pitchFamily="18" charset="0"/>
                              </a:rPr>
                            </m:ctrlPr>
                          </m:mPr>
                          <m:mr>
                            <m:e>
                              <m:r>
                                <m:rPr>
                                  <m:brk m:alnAt="7"/>
                                </m:rPr>
                                <a:rPr lang="en-US" sz="2400" b="0" i="0" smtClean="0">
                                  <a:solidFill>
                                    <a:srgbClr val="FF0000"/>
                                  </a:solidFill>
                                  <a:latin typeface="Cambria Math" panose="02040503050406030204" pitchFamily="18" charset="0"/>
                                </a:rPr>
                                <m:t>9</m:t>
                              </m:r>
                            </m:e>
                            <m:e>
                              <m:r>
                                <a:rPr lang="en-US" sz="2400" b="0" i="0" smtClean="0">
                                  <a:solidFill>
                                    <a:srgbClr val="FF0000"/>
                                  </a:solidFill>
                                  <a:latin typeface="Cambria Math" panose="02040503050406030204" pitchFamily="18" charset="0"/>
                                </a:rPr>
                                <m:t>−6</m:t>
                              </m:r>
                            </m:e>
                          </m:mr>
                          <m:mr>
                            <m:e>
                              <m:r>
                                <a:rPr lang="en-US" sz="2400" b="0" i="0" smtClean="0">
                                  <a:solidFill>
                                    <a:srgbClr val="FF0000"/>
                                  </a:solidFill>
                                  <a:latin typeface="Cambria Math" panose="02040503050406030204" pitchFamily="18" charset="0"/>
                                </a:rPr>
                                <m:t>−3</m:t>
                              </m:r>
                            </m:e>
                            <m:e>
                              <m:r>
                                <a:rPr lang="en-US" sz="2400" b="0" i="0" smtClean="0">
                                  <a:solidFill>
                                    <a:srgbClr val="FF0000"/>
                                  </a:solidFill>
                                  <a:latin typeface="Cambria Math" panose="02040503050406030204" pitchFamily="18" charset="0"/>
                                </a:rPr>
                                <m:t>5</m:t>
                              </m:r>
                            </m:e>
                          </m:mr>
                        </m:m>
                      </m:e>
                    </m:d>
                    <m:r>
                      <a:rPr lang="en-US" sz="2400" b="0" i="1" smtClean="0">
                        <a:solidFill>
                          <a:srgbClr val="FF0000"/>
                        </a:solidFill>
                        <a:latin typeface="Cambria Math" panose="02040503050406030204" pitchFamily="18" charset="0"/>
                      </a:rPr>
                      <m:t> </m:t>
                    </m:r>
                  </m:oMath>
                </a14:m>
                <a:r>
                  <a:rPr lang="en-US" sz="2400" dirty="0">
                    <a:solidFill>
                      <a:srgbClr val="FF0000"/>
                    </a:solidFill>
                    <a:latin typeface="Times New Roman" panose="02020603050405020304" pitchFamily="18" charset="0"/>
                    <a:cs typeface="Times New Roman" panose="02020603050405020304" pitchFamily="18" charset="0"/>
                  </a:rPr>
                  <a:t>* 1 (mod 26)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a:solidFill>
                                    <a:srgbClr val="FF0000"/>
                                  </a:solidFill>
                                  <a:latin typeface="Cambria Math" panose="02040503050406030204" pitchFamily="18" charset="0"/>
                                </a:rPr>
                                <m:t>9</m:t>
                              </m:r>
                            </m:e>
                            <m:e>
                              <m:r>
                                <a:rPr lang="en-US" sz="2400" b="0" i="0" smtClean="0">
                                  <a:solidFill>
                                    <a:srgbClr val="FF0000"/>
                                  </a:solidFill>
                                  <a:latin typeface="Cambria Math" panose="02040503050406030204" pitchFamily="18" charset="0"/>
                                </a:rPr>
                                <m:t>20</m:t>
                              </m:r>
                            </m:e>
                          </m:mr>
                          <m:mr>
                            <m:e>
                              <m:r>
                                <a:rPr lang="en-US" sz="2400" b="0" i="0" smtClean="0">
                                  <a:solidFill>
                                    <a:srgbClr val="FF0000"/>
                                  </a:solidFill>
                                  <a:latin typeface="Cambria Math" panose="02040503050406030204" pitchFamily="18" charset="0"/>
                                </a:rPr>
                                <m:t>23</m:t>
                              </m:r>
                            </m:e>
                            <m:e>
                              <m:r>
                                <a:rPr lang="en-US" sz="2400" b="0" i="0" smtClean="0">
                                  <a:solidFill>
                                    <a:srgbClr val="FF0000"/>
                                  </a:solidFill>
                                  <a:latin typeface="Cambria Math" panose="02040503050406030204" pitchFamily="18" charset="0"/>
                                </a:rPr>
                                <m:t>5</m:t>
                              </m:r>
                            </m:e>
                          </m:mr>
                        </m:m>
                      </m:e>
                    </m:d>
                  </m:oMath>
                </a14:m>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812"/>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A9A45E1F-ACE9-AFBB-0C35-ED5150AA0083}"/>
              </a:ext>
            </a:extLst>
          </p:cNvPr>
          <p:cNvGraphicFramePr>
            <a:graphicFrameLocks noGrp="1"/>
          </p:cNvGraphicFramePr>
          <p:nvPr>
            <p:extLst>
              <p:ext uri="{D42A27DB-BD31-4B8C-83A1-F6EECF244321}">
                <p14:modId xmlns:p14="http://schemas.microsoft.com/office/powerpoint/2010/main" val="2991067219"/>
              </p:ext>
            </p:extLst>
          </p:nvPr>
        </p:nvGraphicFramePr>
        <p:xfrm>
          <a:off x="1607457" y="2788497"/>
          <a:ext cx="8128001" cy="182880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341722861"/>
                    </a:ext>
                  </a:extLst>
                </a:gridCol>
                <a:gridCol w="1161143">
                  <a:extLst>
                    <a:ext uri="{9D8B030D-6E8A-4147-A177-3AD203B41FA5}">
                      <a16:colId xmlns:a16="http://schemas.microsoft.com/office/drawing/2014/main" val="1703068565"/>
                    </a:ext>
                  </a:extLst>
                </a:gridCol>
                <a:gridCol w="1161143">
                  <a:extLst>
                    <a:ext uri="{9D8B030D-6E8A-4147-A177-3AD203B41FA5}">
                      <a16:colId xmlns:a16="http://schemas.microsoft.com/office/drawing/2014/main" val="3100046827"/>
                    </a:ext>
                  </a:extLst>
                </a:gridCol>
                <a:gridCol w="1161143">
                  <a:extLst>
                    <a:ext uri="{9D8B030D-6E8A-4147-A177-3AD203B41FA5}">
                      <a16:colId xmlns:a16="http://schemas.microsoft.com/office/drawing/2014/main" val="54955299"/>
                    </a:ext>
                  </a:extLst>
                </a:gridCol>
                <a:gridCol w="1161143">
                  <a:extLst>
                    <a:ext uri="{9D8B030D-6E8A-4147-A177-3AD203B41FA5}">
                      <a16:colId xmlns:a16="http://schemas.microsoft.com/office/drawing/2014/main" val="2815928855"/>
                    </a:ext>
                  </a:extLst>
                </a:gridCol>
                <a:gridCol w="1161143">
                  <a:extLst>
                    <a:ext uri="{9D8B030D-6E8A-4147-A177-3AD203B41FA5}">
                      <a16:colId xmlns:a16="http://schemas.microsoft.com/office/drawing/2014/main" val="1927098977"/>
                    </a:ext>
                  </a:extLst>
                </a:gridCol>
                <a:gridCol w="1161143">
                  <a:extLst>
                    <a:ext uri="{9D8B030D-6E8A-4147-A177-3AD203B41FA5}">
                      <a16:colId xmlns:a16="http://schemas.microsoft.com/office/drawing/2014/main" val="2050670791"/>
                    </a:ext>
                  </a:extLst>
                </a:gridCol>
              </a:tblGrid>
              <a:tr h="370840">
                <a:tc>
                  <a:txBody>
                    <a:bodyPr/>
                    <a:lstStyle/>
                    <a:p>
                      <a:pPr algn="ctr"/>
                      <a:r>
                        <a:rPr lang="en-US" sz="2400" dirty="0">
                          <a:latin typeface="Times New Roman" panose="02020603050405020304" pitchFamily="18" charset="0"/>
                          <a:cs typeface="Times New Roman" panose="02020603050405020304" pitchFamily="18" charset="0"/>
                        </a:rPr>
                        <a:t>q</a:t>
                      </a:r>
                    </a:p>
                  </a:txBody>
                  <a:tcPr/>
                </a:tc>
                <a:tc>
                  <a:txBody>
                    <a:bodyPr/>
                    <a:lstStyle/>
                    <a:p>
                      <a:pPr algn="ctr"/>
                      <a:r>
                        <a:rPr lang="en-US" sz="2400" dirty="0">
                          <a:latin typeface="Times New Roman" panose="02020603050405020304" pitchFamily="18" charset="0"/>
                          <a:cs typeface="Times New Roman" panose="02020603050405020304" pitchFamily="18" charset="0"/>
                        </a:rPr>
                        <a:t>a</a:t>
                      </a:r>
                    </a:p>
                  </a:txBody>
                  <a:tcPr/>
                </a:tc>
                <a:tc>
                  <a:txBody>
                    <a:bodyPr/>
                    <a:lstStyle/>
                    <a:p>
                      <a:pPr algn="ctr"/>
                      <a:r>
                        <a:rPr lang="en-US" sz="2400" dirty="0">
                          <a:latin typeface="Times New Roman" panose="02020603050405020304" pitchFamily="18" charset="0"/>
                          <a:cs typeface="Times New Roman" panose="02020603050405020304" pitchFamily="18" charset="0"/>
                        </a:rPr>
                        <a:t>b</a:t>
                      </a:r>
                    </a:p>
                  </a:txBody>
                  <a:tcPr/>
                </a:tc>
                <a:tc>
                  <a:txBody>
                    <a:bodyPr/>
                    <a:lstStyle/>
                    <a:p>
                      <a:pPr algn="ctr"/>
                      <a:r>
                        <a:rPr lang="en-US" sz="2400" dirty="0">
                          <a:latin typeface="Times New Roman" panose="02020603050405020304" pitchFamily="18" charset="0"/>
                          <a:cs typeface="Times New Roman" panose="02020603050405020304" pitchFamily="18" charset="0"/>
                        </a:rPr>
                        <a:t>r</a:t>
                      </a:r>
                    </a:p>
                  </a:txBody>
                  <a:tcPr/>
                </a:tc>
                <a:tc>
                  <a:txBody>
                    <a:bodyPr/>
                    <a:lstStyle/>
                    <a:p>
                      <a:pPr algn="ctr"/>
                      <a:r>
                        <a:rPr lang="en-US" sz="2400" dirty="0">
                          <a:latin typeface="Times New Roman" panose="02020603050405020304" pitchFamily="18" charset="0"/>
                          <a:cs typeface="Times New Roman" panose="02020603050405020304" pitchFamily="18" charset="0"/>
                        </a:rPr>
                        <a:t>u1</a:t>
                      </a:r>
                    </a:p>
                  </a:txBody>
                  <a:tcPr/>
                </a:tc>
                <a:tc>
                  <a:txBody>
                    <a:bodyPr/>
                    <a:lstStyle/>
                    <a:p>
                      <a:pPr algn="ctr"/>
                      <a:r>
                        <a:rPr lang="en-US" sz="2400" dirty="0">
                          <a:latin typeface="Times New Roman" panose="02020603050405020304" pitchFamily="18" charset="0"/>
                          <a:cs typeface="Times New Roman" panose="02020603050405020304" pitchFamily="18" charset="0"/>
                        </a:rPr>
                        <a:t>u2</a:t>
                      </a:r>
                    </a:p>
                  </a:txBody>
                  <a:tcPr/>
                </a:tc>
                <a:tc>
                  <a:txBody>
                    <a:bodyPr/>
                    <a:lstStyle/>
                    <a:p>
                      <a:pPr algn="ctr"/>
                      <a:r>
                        <a:rPr lang="en-US" sz="2400" dirty="0">
                          <a:latin typeface="Times New Roman" panose="02020603050405020304" pitchFamily="18" charset="0"/>
                          <a:cs typeface="Times New Roman" panose="02020603050405020304" pitchFamily="18" charset="0"/>
                        </a:rPr>
                        <a:t>u</a:t>
                      </a:r>
                    </a:p>
                  </a:txBody>
                  <a:tcPr/>
                </a:tc>
                <a:extLst>
                  <a:ext uri="{0D108BD9-81ED-4DB2-BD59-A6C34878D82A}">
                    <a16:rowId xmlns:a16="http://schemas.microsoft.com/office/drawing/2014/main" val="1803244394"/>
                  </a:ext>
                </a:extLst>
              </a:tr>
              <a:tr h="370840">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27</a:t>
                      </a:r>
                    </a:p>
                  </a:txBody>
                  <a:tcPr/>
                </a:tc>
                <a:tc>
                  <a:txBody>
                    <a:bodyPr/>
                    <a:lstStyle/>
                    <a:p>
                      <a:pPr algn="ctr"/>
                      <a:r>
                        <a:rPr lang="en-US" sz="2400" dirty="0">
                          <a:latin typeface="Times New Roman" panose="02020603050405020304" pitchFamily="18" charset="0"/>
                          <a:cs typeface="Times New Roman" panose="02020603050405020304" pitchFamily="18" charset="0"/>
                        </a:rPr>
                        <a:t>26</a:t>
                      </a: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0</a:t>
                      </a: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691290171"/>
                  </a:ext>
                </a:extLst>
              </a:tr>
              <a:tr h="370840">
                <a:tc>
                  <a:txBody>
                    <a:bodyPr/>
                    <a:lstStyle/>
                    <a:p>
                      <a:pPr algn="ctr"/>
                      <a:r>
                        <a:rPr lang="en-US" sz="2400" dirty="0">
                          <a:latin typeface="Times New Roman" panose="02020603050405020304" pitchFamily="18" charset="0"/>
                          <a:cs typeface="Times New Roman" panose="02020603050405020304" pitchFamily="18" charset="0"/>
                        </a:rPr>
                        <a:t>26</a:t>
                      </a:r>
                    </a:p>
                  </a:txBody>
                  <a:tcPr/>
                </a:tc>
                <a:tc>
                  <a:txBody>
                    <a:bodyPr/>
                    <a:lstStyle/>
                    <a:p>
                      <a:pPr algn="ctr"/>
                      <a:r>
                        <a:rPr lang="en-US" sz="2400" dirty="0">
                          <a:latin typeface="Times New Roman" panose="02020603050405020304" pitchFamily="18" charset="0"/>
                          <a:cs typeface="Times New Roman" panose="02020603050405020304" pitchFamily="18" charset="0"/>
                        </a:rPr>
                        <a:t>26</a:t>
                      </a: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0</a:t>
                      </a:r>
                    </a:p>
                  </a:txBody>
                  <a:tcPr/>
                </a:tc>
                <a:tc>
                  <a:txBody>
                    <a:bodyPr/>
                    <a:lstStyle/>
                    <a:p>
                      <a:pPr algn="ctr"/>
                      <a:r>
                        <a:rPr lang="en-US" sz="2400" dirty="0">
                          <a:latin typeface="Times New Roman" panose="02020603050405020304" pitchFamily="18" charset="0"/>
                          <a:cs typeface="Times New Roman" panose="02020603050405020304" pitchFamily="18" charset="0"/>
                        </a:rPr>
                        <a:t>0</a:t>
                      </a: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-26</a:t>
                      </a:r>
                    </a:p>
                  </a:txBody>
                  <a:tcPr/>
                </a:tc>
                <a:extLst>
                  <a:ext uri="{0D108BD9-81ED-4DB2-BD59-A6C34878D82A}">
                    <a16:rowId xmlns:a16="http://schemas.microsoft.com/office/drawing/2014/main" val="4242923546"/>
                  </a:ext>
                </a:extLst>
              </a:tr>
              <a:tr h="370840">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0</a:t>
                      </a: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p>
                  </a:txBody>
                  <a:tcPr/>
                </a:tc>
                <a:tc>
                  <a:txBody>
                    <a:bodyPr/>
                    <a:lstStyle/>
                    <a:p>
                      <a:pPr algn="ctr"/>
                      <a:r>
                        <a:rPr lang="en-US" sz="2400" dirty="0">
                          <a:latin typeface="Times New Roman" panose="02020603050405020304" pitchFamily="18" charset="0"/>
                          <a:cs typeface="Times New Roman" panose="02020603050405020304" pitchFamily="18" charset="0"/>
                        </a:rPr>
                        <a:t>-26</a:t>
                      </a:r>
                    </a:p>
                  </a:txBody>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7360832"/>
                  </a:ext>
                </a:extLst>
              </a:tr>
            </a:tbl>
          </a:graphicData>
        </a:graphic>
      </p:graphicFrame>
    </p:spTree>
    <p:extLst>
      <p:ext uri="{BB962C8B-B14F-4D97-AF65-F5344CB8AC3E}">
        <p14:creationId xmlns:p14="http://schemas.microsoft.com/office/powerpoint/2010/main" val="367582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2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251960"/>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D = C*K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(mod 26) = </a:t>
                </a:r>
                <a14:m>
                  <m:oMath xmlns:m="http://schemas.openxmlformats.org/officeDocument/2006/math">
                    <m:d>
                      <m:dPr>
                        <m:begChr m:val="["/>
                        <m:endChr m:val="]"/>
                        <m:ctrlPr>
                          <a:rPr lang="en-US" sz="2400" b="0" i="1">
                            <a:solidFill>
                              <a:srgbClr val="FF0000"/>
                            </a:solidFill>
                            <a:latin typeface="Cambria Math" panose="02040503050406030204" pitchFamily="18" charset="0"/>
                          </a:rPr>
                        </m:ctrlPr>
                      </m:dPr>
                      <m:e>
                        <m:eqArr>
                          <m:eqArrPr>
                            <m:ctrlPr>
                              <a:rPr lang="en-US" sz="2400" b="0" i="1">
                                <a:solidFill>
                                  <a:srgbClr val="FF0000"/>
                                </a:solidFill>
                                <a:latin typeface="Cambria Math" panose="02040503050406030204" pitchFamily="18" charset="0"/>
                              </a:rPr>
                            </m:ctrlPr>
                          </m:eqArrPr>
                          <m:e>
                            <m:r>
                              <a:rPr lang="en-US" sz="2400" b="0" i="1" smtClean="0">
                                <a:solidFill>
                                  <a:srgbClr val="FF0000"/>
                                </a:solidFill>
                                <a:latin typeface="Cambria Math" panose="02040503050406030204" pitchFamily="18" charset="0"/>
                              </a:rPr>
                              <m:t>7</m:t>
                            </m:r>
                            <m:r>
                              <a:rPr lang="en-US" sz="2400" b="0" i="1">
                                <a:solidFill>
                                  <a:srgbClr val="FF0000"/>
                                </a:solidFill>
                                <a:latin typeface="Cambria Math" panose="02040503050406030204" pitchFamily="18" charset="0"/>
                              </a:rPr>
                              <m:t>       1</m:t>
                            </m:r>
                            <m:r>
                              <a:rPr lang="en-US" sz="2400" b="0" i="1" smtClean="0">
                                <a:solidFill>
                                  <a:srgbClr val="FF0000"/>
                                </a:solidFill>
                                <a:latin typeface="Cambria Math" panose="02040503050406030204" pitchFamily="18" charset="0"/>
                              </a:rPr>
                              <m:t>1</m:t>
                            </m:r>
                          </m:e>
                          <m:e>
                            <m:r>
                              <a:rPr lang="en-US" sz="2400" b="0" i="1" smtClean="0">
                                <a:solidFill>
                                  <a:srgbClr val="FF0000"/>
                                </a:solidFill>
                                <a:latin typeface="Cambria Math" panose="02040503050406030204" pitchFamily="18" charset="0"/>
                              </a:rPr>
                              <m:t>2</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4</m:t>
                            </m:r>
                          </m:e>
                          <m:e>
                            <m:r>
                              <a:rPr lang="en-US" sz="2400" b="0" i="1" smtClean="0">
                                <a:solidFill>
                                  <a:srgbClr val="FF0000"/>
                                </a:solidFill>
                                <a:latin typeface="Cambria Math" panose="02040503050406030204" pitchFamily="18" charset="0"/>
                              </a:rPr>
                              <m:t>25</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10</m:t>
                            </m:r>
                          </m:e>
                          <m:e>
                            <m:r>
                              <a:rPr lang="en-US" sz="2400" b="0" i="1" smtClean="0">
                                <a:solidFill>
                                  <a:srgbClr val="FF0000"/>
                                </a:solidFill>
                                <a:latin typeface="Cambria Math" panose="02040503050406030204" pitchFamily="18" charset="0"/>
                              </a:rPr>
                              <m:t>19</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21</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m>
                          <m:mPr>
                            <m:mcs>
                              <m:mc>
                                <m:mcPr>
                                  <m:count m:val="2"/>
                                  <m:mcJc m:val="center"/>
                                </m:mcPr>
                              </m:mc>
                            </m:mcs>
                            <m:ctrlPr>
                              <a:rPr lang="en-US" sz="2400" i="1">
                                <a:solidFill>
                                  <a:srgbClr val="FF0000"/>
                                </a:solidFill>
                                <a:latin typeface="Cambria Math" panose="02040503050406030204" pitchFamily="18" charset="0"/>
                              </a:rPr>
                            </m:ctrlPr>
                          </m:mPr>
                          <m:mr>
                            <m:e>
                              <m:r>
                                <m:rPr>
                                  <m:brk m:alnAt="7"/>
                                </m:rPr>
                                <a:rPr lang="en-US" sz="2400" b="0" i="1" smtClean="0">
                                  <a:solidFill>
                                    <a:srgbClr val="FF0000"/>
                                  </a:solidFill>
                                  <a:latin typeface="Cambria Math" panose="02040503050406030204" pitchFamily="18" charset="0"/>
                                </a:rPr>
                                <m:t>9</m:t>
                              </m:r>
                            </m:e>
                            <m:e>
                              <m:r>
                                <a:rPr lang="en-US" sz="2400" b="0" i="1" smtClean="0">
                                  <a:solidFill>
                                    <a:srgbClr val="FF0000"/>
                                  </a:solidFill>
                                  <a:latin typeface="Cambria Math" panose="02040503050406030204" pitchFamily="18" charset="0"/>
                                </a:rPr>
                                <m:t>20</m:t>
                              </m:r>
                            </m:e>
                          </m:mr>
                          <m:mr>
                            <m:e>
                              <m:r>
                                <a:rPr lang="en-US" sz="2400" b="0" i="1" smtClean="0">
                                  <a:solidFill>
                                    <a:srgbClr val="FF0000"/>
                                  </a:solidFill>
                                  <a:latin typeface="Cambria Math" panose="02040503050406030204" pitchFamily="18" charset="0"/>
                                </a:rPr>
                                <m:t>23</m:t>
                              </m:r>
                            </m:e>
                            <m:e>
                              <m:r>
                                <a:rPr lang="en-US" sz="2400" b="0" i="1" smtClean="0">
                                  <a:solidFill>
                                    <a:srgbClr val="FF0000"/>
                                  </a:solidFill>
                                  <a:latin typeface="Cambria Math" panose="02040503050406030204" pitchFamily="18" charset="0"/>
                                </a:rPr>
                                <m:t>5</m:t>
                              </m:r>
                            </m:e>
                          </m:mr>
                        </m:m>
                      </m:e>
                    </m:d>
                  </m:oMath>
                </a14:m>
                <a:r>
                  <a:rPr lang="en-US" sz="2400" dirty="0">
                    <a:solidFill>
                      <a:srgbClr val="FF0000"/>
                    </a:solidFill>
                    <a:latin typeface="Times New Roman" panose="02020603050405020304" pitchFamily="18" charset="0"/>
                    <a:cs typeface="Times New Roman" panose="02020603050405020304" pitchFamily="18" charset="0"/>
                  </a:rPr>
                  <a:t>  (mod 26)</a:t>
                </a:r>
              </a:p>
              <a:p>
                <a:pPr marL="0" indent="0">
                  <a:buNone/>
                </a:pPr>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D = </a:t>
                </a:r>
                <a14:m>
                  <m:oMath xmlns:m="http://schemas.openxmlformats.org/officeDocument/2006/math">
                    <m:d>
                      <m:dPr>
                        <m:begChr m:val="["/>
                        <m:endChr m:val="]"/>
                        <m:ctrlPr>
                          <a:rPr lang="en-US" sz="2400" b="0" i="1">
                            <a:solidFill>
                              <a:srgbClr val="FF0000"/>
                            </a:solidFill>
                            <a:latin typeface="Cambria Math" panose="02040503050406030204" pitchFamily="18" charset="0"/>
                          </a:rPr>
                        </m:ctrlPr>
                      </m:dPr>
                      <m:e>
                        <m:eqArr>
                          <m:eqArrPr>
                            <m:ctrlPr>
                              <a:rPr lang="en-US" sz="2400" b="0" i="1">
                                <a:solidFill>
                                  <a:srgbClr val="FF0000"/>
                                </a:solidFill>
                                <a:latin typeface="Cambria Math" panose="02040503050406030204" pitchFamily="18" charset="0"/>
                              </a:rPr>
                            </m:ctrlPr>
                          </m:eqArrPr>
                          <m:e>
                            <m:r>
                              <a:rPr lang="en-US" sz="2400" b="0" i="0" smtClean="0">
                                <a:solidFill>
                                  <a:srgbClr val="FF0000"/>
                                </a:solidFill>
                                <a:latin typeface="Cambria Math" panose="02040503050406030204" pitchFamily="18" charset="0"/>
                              </a:rPr>
                              <m:t>316</m:t>
                            </m:r>
                            <m:r>
                              <a:rPr lang="en-US" sz="2400" b="0" i="0">
                                <a:solidFill>
                                  <a:srgbClr val="FF0000"/>
                                </a:solidFill>
                                <a:latin typeface="Cambria Math" panose="02040503050406030204" pitchFamily="18" charset="0"/>
                              </a:rPr>
                              <m:t>       1</m:t>
                            </m:r>
                            <m:r>
                              <a:rPr lang="en-US" sz="2400" b="0" i="0" smtClean="0">
                                <a:solidFill>
                                  <a:srgbClr val="FF0000"/>
                                </a:solidFill>
                                <a:latin typeface="Cambria Math" panose="02040503050406030204" pitchFamily="18" charset="0"/>
                              </a:rPr>
                              <m:t>95</m:t>
                            </m:r>
                          </m:e>
                          <m:e>
                            <m:r>
                              <a:rPr lang="en-US" sz="2400" b="0" i="0" smtClean="0">
                                <a:solidFill>
                                  <a:srgbClr val="FF0000"/>
                                </a:solidFill>
                                <a:latin typeface="Cambria Math" panose="02040503050406030204" pitchFamily="18" charset="0"/>
                              </a:rPr>
                              <m:t>110</m:t>
                            </m:r>
                            <m:r>
                              <a:rPr lang="en-US" sz="2400" b="0" i="0">
                                <a:solidFill>
                                  <a:srgbClr val="FF0000"/>
                                </a:solidFill>
                                <a:latin typeface="Cambria Math" panose="02040503050406030204" pitchFamily="18" charset="0"/>
                              </a:rPr>
                              <m:t>        </m:t>
                            </m:r>
                            <m:r>
                              <a:rPr lang="en-US" sz="2400" b="0" i="0" smtClean="0">
                                <a:solidFill>
                                  <a:srgbClr val="FF0000"/>
                                </a:solidFill>
                                <a:latin typeface="Cambria Math" panose="02040503050406030204" pitchFamily="18" charset="0"/>
                              </a:rPr>
                              <m:t>60</m:t>
                            </m:r>
                          </m:e>
                          <m:e>
                            <m:r>
                              <a:rPr lang="en-US" sz="2400" b="0" i="0" smtClean="0">
                                <a:solidFill>
                                  <a:srgbClr val="FF0000"/>
                                </a:solidFill>
                                <a:latin typeface="Cambria Math" panose="02040503050406030204" pitchFamily="18" charset="0"/>
                              </a:rPr>
                              <m:t>455</m:t>
                            </m:r>
                            <m:r>
                              <a:rPr lang="en-US" sz="2400" b="0" i="0">
                                <a:solidFill>
                                  <a:srgbClr val="FF0000"/>
                                </a:solidFill>
                                <a:latin typeface="Cambria Math" panose="02040503050406030204" pitchFamily="18" charset="0"/>
                              </a:rPr>
                              <m:t>       </m:t>
                            </m:r>
                            <m:r>
                              <a:rPr lang="en-US" sz="2400" b="0" i="0" smtClean="0">
                                <a:solidFill>
                                  <a:srgbClr val="FF0000"/>
                                </a:solidFill>
                                <a:latin typeface="Cambria Math" panose="02040503050406030204" pitchFamily="18" charset="0"/>
                              </a:rPr>
                              <m:t>550</m:t>
                            </m:r>
                          </m:e>
                          <m:e>
                            <m:r>
                              <a:rPr lang="en-US" sz="2400" b="0" i="0" smtClean="0">
                                <a:solidFill>
                                  <a:srgbClr val="FF0000"/>
                                </a:solidFill>
                                <a:latin typeface="Cambria Math" panose="02040503050406030204" pitchFamily="18" charset="0"/>
                              </a:rPr>
                              <m:t>654</m:t>
                            </m:r>
                            <m:r>
                              <a:rPr lang="en-US" sz="2400" b="0" i="0">
                                <a:solidFill>
                                  <a:srgbClr val="FF0000"/>
                                </a:solidFill>
                                <a:latin typeface="Cambria Math" panose="02040503050406030204" pitchFamily="18" charset="0"/>
                              </a:rPr>
                              <m:t>       </m:t>
                            </m:r>
                            <m:r>
                              <a:rPr lang="en-US" sz="2400" b="0" i="0" smtClean="0">
                                <a:solidFill>
                                  <a:srgbClr val="FF0000"/>
                                </a:solidFill>
                                <a:latin typeface="Cambria Math" panose="02040503050406030204" pitchFamily="18" charset="0"/>
                              </a:rPr>
                              <m:t>485</m:t>
                            </m:r>
                          </m:e>
                        </m:eqArr>
                      </m:e>
                    </m:d>
                  </m:oMath>
                </a14:m>
                <a:r>
                  <a:rPr lang="en-US" sz="2400" dirty="0">
                    <a:solidFill>
                      <a:srgbClr val="FF0000"/>
                    </a:solidFill>
                    <a:latin typeface="Times New Roman" panose="02020603050405020304" pitchFamily="18" charset="0"/>
                    <a:cs typeface="Times New Roman" panose="02020603050405020304" pitchFamily="18" charset="0"/>
                  </a:rPr>
                  <a:t> (mod 26)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a:rPr lang="en-US" sz="2400" i="0">
                                <a:solidFill>
                                  <a:srgbClr val="FF0000"/>
                                </a:solidFill>
                                <a:latin typeface="Cambria Math" panose="02040503050406030204" pitchFamily="18" charset="0"/>
                              </a:rPr>
                              <m:t>4       13</m:t>
                            </m:r>
                          </m:e>
                          <m:e>
                            <m:r>
                              <a:rPr lang="en-US" sz="2400" i="0">
                                <a:solidFill>
                                  <a:srgbClr val="FF0000"/>
                                </a:solidFill>
                                <a:latin typeface="Cambria Math" panose="02040503050406030204" pitchFamily="18" charset="0"/>
                              </a:rPr>
                              <m:t>6        8</m:t>
                            </m:r>
                          </m:e>
                          <m:e>
                            <m:r>
                              <a:rPr lang="en-US" sz="2400" i="0">
                                <a:solidFill>
                                  <a:srgbClr val="FF0000"/>
                                </a:solidFill>
                                <a:latin typeface="Cambria Math" panose="02040503050406030204" pitchFamily="18" charset="0"/>
                              </a:rPr>
                              <m:t>13       4</m:t>
                            </m:r>
                          </m:e>
                          <m:e>
                            <m:r>
                              <a:rPr lang="en-US" sz="2400" i="0">
                                <a:solidFill>
                                  <a:srgbClr val="FF0000"/>
                                </a:solidFill>
                                <a:latin typeface="Cambria Math" panose="02040503050406030204" pitchFamily="18" charset="0"/>
                              </a:rPr>
                              <m:t>4       17</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b="1" i="1">
                            <a:solidFill>
                              <a:srgbClr val="FF0000"/>
                            </a:solidFill>
                            <a:latin typeface="Cambria Math" panose="02040503050406030204" pitchFamily="18" charset="0"/>
                          </a:rPr>
                        </m:ctrlPr>
                      </m:dPr>
                      <m:e>
                        <m:eqArr>
                          <m:eqArrPr>
                            <m:ctrlPr>
                              <a:rPr lang="en-US" sz="2400" b="1" i="1">
                                <a:solidFill>
                                  <a:srgbClr val="FF0000"/>
                                </a:solidFill>
                                <a:latin typeface="Cambria Math" panose="02040503050406030204" pitchFamily="18" charset="0"/>
                              </a:rPr>
                            </m:ctrlPr>
                          </m:eqArrPr>
                          <m:e>
                            <m:r>
                              <a:rPr lang="en-US" sz="2400" b="1" i="0" smtClean="0">
                                <a:solidFill>
                                  <a:srgbClr val="FF0000"/>
                                </a:solidFill>
                                <a:latin typeface="Cambria Math" panose="02040503050406030204" pitchFamily="18" charset="0"/>
                              </a:rPr>
                              <m:t>𝐞</m:t>
                            </m:r>
                            <m:r>
                              <a:rPr lang="en-US" sz="2400" b="1" i="0">
                                <a:solidFill>
                                  <a:srgbClr val="FF0000"/>
                                </a:solidFill>
                                <a:latin typeface="Cambria Math" panose="02040503050406030204" pitchFamily="18" charset="0"/>
                              </a:rPr>
                              <m:t>       </m:t>
                            </m:r>
                            <m:r>
                              <a:rPr lang="en-US" sz="2400" b="1" i="0" smtClean="0">
                                <a:solidFill>
                                  <a:srgbClr val="FF0000"/>
                                </a:solidFill>
                                <a:latin typeface="Cambria Math" panose="02040503050406030204" pitchFamily="18" charset="0"/>
                              </a:rPr>
                              <m:t>𝐧</m:t>
                            </m:r>
                          </m:e>
                          <m:e>
                            <m:r>
                              <a:rPr lang="en-US" sz="2400" b="1" i="0" smtClean="0">
                                <a:solidFill>
                                  <a:srgbClr val="FF0000"/>
                                </a:solidFill>
                                <a:latin typeface="Cambria Math" panose="02040503050406030204" pitchFamily="18" charset="0"/>
                              </a:rPr>
                              <m:t>𝐠</m:t>
                            </m:r>
                            <m:r>
                              <a:rPr lang="en-US" sz="2400" b="1" i="0">
                                <a:solidFill>
                                  <a:srgbClr val="FF0000"/>
                                </a:solidFill>
                                <a:latin typeface="Cambria Math" panose="02040503050406030204" pitchFamily="18" charset="0"/>
                              </a:rPr>
                              <m:t>        </m:t>
                            </m:r>
                            <m:r>
                              <a:rPr lang="en-US" sz="2400" b="1" i="0" smtClean="0">
                                <a:solidFill>
                                  <a:srgbClr val="FF0000"/>
                                </a:solidFill>
                                <a:latin typeface="Cambria Math" panose="02040503050406030204" pitchFamily="18" charset="0"/>
                              </a:rPr>
                              <m:t>𝐢</m:t>
                            </m:r>
                          </m:e>
                          <m:e>
                            <m:r>
                              <a:rPr lang="en-US" sz="2400" b="1" i="0" smtClean="0">
                                <a:solidFill>
                                  <a:srgbClr val="FF0000"/>
                                </a:solidFill>
                                <a:latin typeface="Cambria Math" panose="02040503050406030204" pitchFamily="18" charset="0"/>
                              </a:rPr>
                              <m:t>𝐧</m:t>
                            </m:r>
                            <m:r>
                              <a:rPr lang="en-US" sz="2400" b="1" i="0">
                                <a:solidFill>
                                  <a:srgbClr val="FF0000"/>
                                </a:solidFill>
                                <a:latin typeface="Cambria Math" panose="02040503050406030204" pitchFamily="18" charset="0"/>
                              </a:rPr>
                              <m:t>       </m:t>
                            </m:r>
                            <m:r>
                              <a:rPr lang="en-US" sz="2400" b="1" i="0" smtClean="0">
                                <a:solidFill>
                                  <a:srgbClr val="FF0000"/>
                                </a:solidFill>
                                <a:latin typeface="Cambria Math" panose="02040503050406030204" pitchFamily="18" charset="0"/>
                              </a:rPr>
                              <m:t>𝐞</m:t>
                            </m:r>
                          </m:e>
                          <m:e>
                            <m:r>
                              <a:rPr lang="en-US" sz="2400" b="1" i="0" smtClean="0">
                                <a:solidFill>
                                  <a:srgbClr val="FF0000"/>
                                </a:solidFill>
                                <a:latin typeface="Cambria Math" panose="02040503050406030204" pitchFamily="18" charset="0"/>
                              </a:rPr>
                              <m:t>𝐞</m:t>
                            </m:r>
                            <m:r>
                              <a:rPr lang="en-US" sz="2400" b="1" i="0">
                                <a:solidFill>
                                  <a:srgbClr val="FF0000"/>
                                </a:solidFill>
                                <a:latin typeface="Cambria Math" panose="02040503050406030204" pitchFamily="18" charset="0"/>
                              </a:rPr>
                              <m:t>       </m:t>
                            </m:r>
                            <m:r>
                              <a:rPr lang="en-US" sz="2400" b="1" i="0" smtClean="0">
                                <a:solidFill>
                                  <a:srgbClr val="FF0000"/>
                                </a:solidFill>
                                <a:latin typeface="Cambria Math" panose="02040503050406030204" pitchFamily="18" charset="0"/>
                              </a:rPr>
                              <m:t>𝐫</m:t>
                            </m:r>
                          </m:e>
                        </m:eqArr>
                      </m:e>
                    </m:d>
                  </m:oMath>
                </a14:m>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Therefore, the decrypted text </a:t>
                </a:r>
                <a:r>
                  <a:rPr lang="en-US" sz="2400">
                    <a:solidFill>
                      <a:srgbClr val="FF0000"/>
                    </a:solidFill>
                    <a:latin typeface="Times New Roman" panose="02020603050405020304" pitchFamily="18" charset="0"/>
                    <a:cs typeface="Times New Roman" panose="02020603050405020304" pitchFamily="18" charset="0"/>
                  </a:rPr>
                  <a:t>is </a:t>
                </a:r>
                <a:r>
                  <a:rPr lang="en-US" sz="2400" b="1">
                    <a:solidFill>
                      <a:srgbClr val="FF0000"/>
                    </a:solidFill>
                    <a:latin typeface="Times New Roman" panose="02020603050405020304" pitchFamily="18" charset="0"/>
                    <a:cs typeface="Times New Roman" panose="02020603050405020304" pitchFamily="18" charset="0"/>
                  </a:rPr>
                  <a:t>engineer</a:t>
                </a:r>
                <a:r>
                  <a:rPr lang="en-US" sz="2400">
                    <a:solidFill>
                      <a:srgbClr val="FF0000"/>
                    </a:solidFill>
                    <a:latin typeface="Times New Roman" panose="02020603050405020304" pitchFamily="18" charset="0"/>
                    <a:cs typeface="Times New Roman" panose="02020603050405020304" pitchFamily="18" charset="0"/>
                  </a:rPr>
                  <a:t>.</a:t>
                </a:r>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812" t="-574"/>
                </a:stretch>
              </a:blipFill>
            </p:spPr>
            <p:txBody>
              <a:bodyPr/>
              <a:lstStyle/>
              <a:p>
                <a:r>
                  <a:rPr lang="en-IN">
                    <a:noFill/>
                  </a:rPr>
                  <a:t> </a:t>
                </a:r>
              </a:p>
            </p:txBody>
          </p:sp>
        </mc:Fallback>
      </mc:AlternateContent>
    </p:spTree>
    <p:extLst>
      <p:ext uri="{BB962C8B-B14F-4D97-AF65-F5344CB8AC3E}">
        <p14:creationId xmlns:p14="http://schemas.microsoft.com/office/powerpoint/2010/main" val="294545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736156"/>
              </a:xfrm>
            </p:spPr>
            <p:txBody>
              <a:bodyPr>
                <a:normAutofit/>
              </a:bodyPr>
              <a:lstStyle/>
              <a:p>
                <a:r>
                  <a:rPr lang="en-US" sz="2400" dirty="0">
                    <a:latin typeface="Times New Roman" panose="02020603050405020304" pitchFamily="18" charset="0"/>
                    <a:cs typeface="Times New Roman" panose="02020603050405020304" pitchFamily="18" charset="0"/>
                  </a:rPr>
                  <a:t>Decrypt the ciphertext </a:t>
                </a:r>
                <a:r>
                  <a:rPr lang="en-US" sz="2400" b="1" dirty="0" err="1">
                    <a:latin typeface="Times New Roman" panose="02020603050405020304" pitchFamily="18" charset="0"/>
                    <a:cs typeface="Times New Roman" panose="02020603050405020304" pitchFamily="18" charset="0"/>
                  </a:rPr>
                  <a:t>rrlmwbkaspdh</a:t>
                </a:r>
                <a:r>
                  <a:rPr lang="en-US" sz="2400" dirty="0">
                    <a:latin typeface="Times New Roman" panose="02020603050405020304" pitchFamily="18" charset="0"/>
                    <a:cs typeface="Times New Roman" panose="02020603050405020304" pitchFamily="18" charset="0"/>
                  </a:rPr>
                  <a:t> using Hill Cipher with the key matrix displayed below. Assume that only alphabets are used, by ignoring the case.</a:t>
                </a:r>
              </a:p>
              <a:p>
                <a:pPr marL="0" indent="0">
                  <a:buNone/>
                </a:pPr>
                <a:r>
                  <a:rPr lang="en-US" sz="2400" dirty="0">
                    <a:latin typeface="Times New Roman" panose="02020603050405020304" pitchFamily="18" charset="0"/>
                    <a:cs typeface="Times New Roman" panose="02020603050405020304" pitchFamily="18" charset="0"/>
                  </a:rPr>
                  <a:t>K = </a:t>
                </a:r>
                <a14:m>
                  <m:oMath xmlns:m="http://schemas.openxmlformats.org/officeDocument/2006/math">
                    <m:d>
                      <m:dPr>
                        <m:begChr m:val="["/>
                        <m:endChr m:val="]"/>
                        <m:ctrlPr>
                          <a:rPr lang="en-US" sz="2400" i="1" smtClean="0">
                            <a:latin typeface="Cambria Math" panose="02040503050406030204" pitchFamily="18" charset="0"/>
                            <a:cs typeface="Times New Roman" panose="02020603050405020304" pitchFamily="18" charset="0"/>
                          </a:rPr>
                        </m:ctrlPr>
                      </m:dPr>
                      <m:e>
                        <m:m>
                          <m:mPr>
                            <m:mcs>
                              <m:mc>
                                <m:mcPr>
                                  <m:count m:val="3"/>
                                  <m:mcJc m:val="center"/>
                                </m:mcPr>
                              </m:mc>
                            </m:mcs>
                            <m:ctrlPr>
                              <a:rPr lang="en-US" sz="2400" i="1" smtClean="0">
                                <a:latin typeface="Cambria Math" panose="02040503050406030204" pitchFamily="18" charset="0"/>
                                <a:cs typeface="Times New Roman" panose="02020603050405020304" pitchFamily="18" charset="0"/>
                              </a:rPr>
                            </m:ctrlPr>
                          </m:mPr>
                          <m:mr>
                            <m:e>
                              <m:r>
                                <m:rPr>
                                  <m:brk m:alnAt="7"/>
                                </m:rP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7</m:t>
                              </m:r>
                            </m:e>
                            <m:e>
                              <m:r>
                                <a:rPr lang="en-US" sz="2400" b="0" i="1" smtClean="0">
                                  <a:latin typeface="Cambria Math" panose="02040503050406030204" pitchFamily="18" charset="0"/>
                                  <a:cs typeface="Times New Roman" panose="02020603050405020304" pitchFamily="18" charset="0"/>
                                </a:rPr>
                                <m:t>17</m:t>
                              </m:r>
                            </m:e>
                            <m:e>
                              <m:r>
                                <a:rPr lang="en-US" sz="2400" b="0" i="1" smtClean="0">
                                  <a:latin typeface="Cambria Math" panose="02040503050406030204" pitchFamily="18" charset="0"/>
                                  <a:cs typeface="Times New Roman" panose="02020603050405020304" pitchFamily="18" charset="0"/>
                                </a:rPr>
                                <m:t>5</m:t>
                              </m:r>
                            </m:e>
                          </m:mr>
                          <m:mr>
                            <m:e>
                              <m:r>
                                <a:rPr lang="en-US" sz="2400" b="0" i="1" smtClean="0">
                                  <a:latin typeface="Cambria Math" panose="02040503050406030204" pitchFamily="18" charset="0"/>
                                  <a:cs typeface="Times New Roman" panose="02020603050405020304" pitchFamily="18" charset="0"/>
                                </a:rPr>
                                <m:t>21</m:t>
                              </m:r>
                            </m:e>
                            <m:e>
                              <m:r>
                                <a:rPr lang="en-US" sz="2400" b="0" i="1" smtClean="0">
                                  <a:latin typeface="Cambria Math" panose="02040503050406030204" pitchFamily="18" charset="0"/>
                                  <a:cs typeface="Times New Roman" panose="02020603050405020304" pitchFamily="18" charset="0"/>
                                </a:rPr>
                                <m:t>18</m:t>
                              </m:r>
                            </m:e>
                            <m:e>
                              <m:r>
                                <a:rPr lang="en-US" sz="2400" b="0" i="1" smtClean="0">
                                  <a:latin typeface="Cambria Math" panose="02040503050406030204" pitchFamily="18" charset="0"/>
                                  <a:cs typeface="Times New Roman" panose="02020603050405020304" pitchFamily="18" charset="0"/>
                                </a:rPr>
                                <m:t>21</m:t>
                              </m:r>
                            </m:e>
                          </m:mr>
                          <m:mr>
                            <m:e>
                              <m:r>
                                <a:rPr lang="en-US" sz="2400" b="0" i="1" smtClean="0">
                                  <a:latin typeface="Cambria Math" panose="02040503050406030204" pitchFamily="18" charset="0"/>
                                  <a:cs typeface="Times New Roman" panose="02020603050405020304" pitchFamily="18" charset="0"/>
                                </a:rPr>
                                <m:t>2</m:t>
                              </m:r>
                            </m:e>
                            <m:e>
                              <m:r>
                                <a:rPr lang="en-US" sz="2400" b="0" i="1" smtClean="0">
                                  <a:latin typeface="Cambria Math" panose="02040503050406030204" pitchFamily="18" charset="0"/>
                                  <a:cs typeface="Times New Roman" panose="02020603050405020304" pitchFamily="18" charset="0"/>
                                </a:rPr>
                                <m:t>2</m:t>
                              </m:r>
                            </m:e>
                            <m:e>
                              <m:r>
                                <a:rPr lang="en-US" sz="2400" b="0" i="1" smtClean="0">
                                  <a:latin typeface="Cambria Math" panose="02040503050406030204" pitchFamily="18" charset="0"/>
                                  <a:cs typeface="Times New Roman" panose="02020603050405020304" pitchFamily="18" charset="0"/>
                                </a:rPr>
                                <m:t>19</m:t>
                              </m:r>
                            </m:e>
                          </m:mr>
                        </m:m>
                      </m:e>
                    </m:d>
                  </m:oMath>
                </a14:m>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u="sng" dirty="0">
                    <a:solidFill>
                      <a:srgbClr val="FF0000"/>
                    </a:solidFill>
                    <a:latin typeface="Times New Roman" panose="02020603050405020304" pitchFamily="18" charset="0"/>
                    <a:cs typeface="Times New Roman" panose="02020603050405020304" pitchFamily="18" charset="0"/>
                  </a:rPr>
                  <a:t>Solution:-</a:t>
                </a:r>
              </a:p>
              <a:p>
                <a:pPr marL="0" indent="0">
                  <a:buNone/>
                </a:pPr>
                <a:r>
                  <a:rPr lang="en-US" sz="2400" dirty="0">
                    <a:solidFill>
                      <a:srgbClr val="FF0000"/>
                    </a:solidFill>
                    <a:latin typeface="Times New Roman" panose="02020603050405020304" pitchFamily="18" charset="0"/>
                    <a:cs typeface="Times New Roman" panose="02020603050405020304" pitchFamily="18" charset="0"/>
                  </a:rPr>
                  <a:t>C = </a:t>
                </a:r>
                <a14:m>
                  <m:oMath xmlns:m="http://schemas.openxmlformats.org/officeDocument/2006/math">
                    <m:d>
                      <m:dPr>
                        <m:begChr m:val="["/>
                        <m:endChr m:val="]"/>
                        <m:ctrlPr>
                          <a:rPr lang="en-US" sz="2400" b="0" i="1">
                            <a:solidFill>
                              <a:srgbClr val="FF0000"/>
                            </a:solidFill>
                            <a:latin typeface="Cambria Math" panose="02040503050406030204" pitchFamily="18" charset="0"/>
                          </a:rPr>
                        </m:ctrlPr>
                      </m:dPr>
                      <m:e>
                        <m:eqArr>
                          <m:eqArrPr>
                            <m:ctrlPr>
                              <a:rPr lang="en-US" sz="2400" b="0" i="1">
                                <a:solidFill>
                                  <a:srgbClr val="FF0000"/>
                                </a:solidFill>
                                <a:latin typeface="Cambria Math" panose="02040503050406030204" pitchFamily="18" charset="0"/>
                              </a:rPr>
                            </m:ctrlPr>
                          </m:eqArrPr>
                          <m:e>
                            <m:r>
                              <a:rPr lang="en-US" sz="2400" b="0" i="1" smtClean="0">
                                <a:solidFill>
                                  <a:srgbClr val="FF0000"/>
                                </a:solidFill>
                                <a:latin typeface="Cambria Math" panose="02040503050406030204" pitchFamily="18" charset="0"/>
                              </a:rPr>
                              <m:t>𝑟</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𝑟</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𝑙</m:t>
                            </m:r>
                          </m:e>
                          <m:e>
                            <m:r>
                              <a:rPr lang="en-US" sz="2400" b="0" i="1" smtClean="0">
                                <a:solidFill>
                                  <a:srgbClr val="FF0000"/>
                                </a:solidFill>
                                <a:latin typeface="Cambria Math" panose="02040503050406030204" pitchFamily="18" charset="0"/>
                              </a:rPr>
                              <m:t>𝑚</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𝑤</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𝑏</m:t>
                            </m:r>
                          </m:e>
                          <m:e>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𝑎</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𝑠</m:t>
                            </m:r>
                          </m:e>
                          <m:e>
                            <m:r>
                              <a:rPr lang="en-US" sz="2400" b="0" i="1" smtClean="0">
                                <a:solidFill>
                                  <a:srgbClr val="FF0000"/>
                                </a:solidFill>
                                <a:latin typeface="Cambria Math" panose="02040503050406030204" pitchFamily="18" charset="0"/>
                              </a:rPr>
                              <m:t>𝑝</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𝑑</m:t>
                            </m:r>
                            <m:r>
                              <a:rPr lang="en-US" sz="2400" b="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ℎ</m:t>
                            </m:r>
                          </m:e>
                        </m:eqArr>
                      </m:e>
                    </m:d>
                  </m:oMath>
                </a14:m>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a:solidFill>
                              <a:srgbClr val="FF0000"/>
                            </a:solidFill>
                            <a:latin typeface="Cambria Math" panose="02040503050406030204" pitchFamily="18" charset="0"/>
                          </a:rPr>
                        </m:ctrlPr>
                      </m:dPr>
                      <m:e>
                        <m:eqArr>
                          <m:eqArrPr>
                            <m:ctrlPr>
                              <a:rPr lang="en-US" sz="2400" i="1">
                                <a:solidFill>
                                  <a:srgbClr val="FF0000"/>
                                </a:solidFill>
                                <a:latin typeface="Cambria Math" panose="02040503050406030204" pitchFamily="18" charset="0"/>
                              </a:rPr>
                            </m:ctrlPr>
                          </m:eqArrPr>
                          <m:e>
                            <m:r>
                              <a:rPr lang="en-US" sz="2400" b="0" i="1" smtClean="0">
                                <a:solidFill>
                                  <a:srgbClr val="FF0000"/>
                                </a:solidFill>
                                <a:latin typeface="Cambria Math" panose="02040503050406030204" pitchFamily="18" charset="0"/>
                              </a:rPr>
                              <m:t>17</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17</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11</m:t>
                            </m:r>
                          </m:e>
                          <m:e>
                            <m:r>
                              <a:rPr lang="en-US" sz="2400" b="0" i="1" smtClean="0">
                                <a:solidFill>
                                  <a:srgbClr val="FF0000"/>
                                </a:solidFill>
                                <a:latin typeface="Cambria Math" panose="02040503050406030204" pitchFamily="18" charset="0"/>
                              </a:rPr>
                              <m:t>12</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22</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1</m:t>
                            </m:r>
                          </m:e>
                          <m:e>
                            <m:r>
                              <a:rPr lang="en-US" sz="2400" b="0" i="1" smtClean="0">
                                <a:solidFill>
                                  <a:srgbClr val="FF0000"/>
                                </a:solidFill>
                                <a:latin typeface="Cambria Math" panose="02040503050406030204" pitchFamily="18" charset="0"/>
                              </a:rPr>
                              <m:t>10</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0</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18</m:t>
                            </m:r>
                          </m:e>
                          <m:e>
                            <m:r>
                              <a:rPr lang="en-US" sz="2400" b="0" i="1" smtClean="0">
                                <a:solidFill>
                                  <a:srgbClr val="FF0000"/>
                                </a:solidFill>
                                <a:latin typeface="Cambria Math" panose="02040503050406030204" pitchFamily="18" charset="0"/>
                              </a:rPr>
                              <m:t>15</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3</m:t>
                            </m:r>
                            <m:r>
                              <a:rPr lang="en-US" sz="2400" i="1">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    7</m:t>
                            </m:r>
                          </m:e>
                        </m:eqArr>
                      </m:e>
                    </m:d>
                  </m:oMath>
                </a14:m>
                <a:r>
                  <a:rPr lang="en-US" sz="2400" dirty="0">
                    <a:solidFill>
                      <a:srgbClr val="FF0000"/>
                    </a:solidFill>
                    <a:latin typeface="Times New Roman" panose="02020603050405020304" pitchFamily="18" charset="0"/>
                    <a:cs typeface="Times New Roman" panose="02020603050405020304" pitchFamily="18" charset="0"/>
                  </a:rPr>
                  <a:t> </a:t>
                </a: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736156"/>
              </a:xfrm>
              <a:blipFill>
                <a:blip r:embed="rId2"/>
                <a:stretch>
                  <a:fillRect l="-928" t="-1804"/>
                </a:stretch>
              </a:blipFill>
            </p:spPr>
            <p:txBody>
              <a:bodyPr/>
              <a:lstStyle/>
              <a:p>
                <a:r>
                  <a:rPr lang="en-IN">
                    <a:noFill/>
                  </a:rPr>
                  <a:t> </a:t>
                </a:r>
              </a:p>
            </p:txBody>
          </p:sp>
        </mc:Fallback>
      </mc:AlternateContent>
    </p:spTree>
    <p:extLst>
      <p:ext uri="{BB962C8B-B14F-4D97-AF65-F5344CB8AC3E}">
        <p14:creationId xmlns:p14="http://schemas.microsoft.com/office/powerpoint/2010/main" val="5151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200" y="1929384"/>
                <a:ext cx="10515600" cy="4736156"/>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smtClean="0">
                            <a:solidFill>
                              <a:srgbClr val="FF0000"/>
                            </a:solidFill>
                            <a:latin typeface="Cambria Math" panose="02040503050406030204" pitchFamily="18" charset="0"/>
                            <a:cs typeface="Times New Roman" panose="02020603050405020304" pitchFamily="18" charset="0"/>
                          </a:rPr>
                        </m:ctrlPr>
                      </m:dPr>
                      <m:e>
                        <m:m>
                          <m:mPr>
                            <m:mcs>
                              <m:mc>
                                <m:mcPr>
                                  <m:count m:val="3"/>
                                  <m:mcJc m:val="center"/>
                                </m:mcPr>
                              </m:mc>
                            </m:mcs>
                            <m:ctrlPr>
                              <a:rPr lang="en-US" sz="2400" i="1" smtClean="0">
                                <a:solidFill>
                                  <a:srgbClr val="FF0000"/>
                                </a:solidFill>
                                <a:latin typeface="Cambria Math" panose="02040503050406030204" pitchFamily="18" charset="0"/>
                                <a:cs typeface="Times New Roman" panose="02020603050405020304" pitchFamily="18" charset="0"/>
                              </a:rPr>
                            </m:ctrlPr>
                          </m:mPr>
                          <m:mr>
                            <m:e>
                              <m:r>
                                <m:rPr>
                                  <m:brk m:alnAt="7"/>
                                </m:rPr>
                                <a:rPr lang="en-US" sz="2400" b="0" i="1" smtClean="0">
                                  <a:solidFill>
                                    <a:srgbClr val="FF0000"/>
                                  </a:solidFill>
                                  <a:latin typeface="Cambria Math" panose="02040503050406030204" pitchFamily="18" charset="0"/>
                                  <a:cs typeface="Times New Roman" panose="02020603050405020304" pitchFamily="18" charset="0"/>
                                </a:rPr>
                                <m:t>3</m:t>
                              </m:r>
                              <m:r>
                                <a:rPr lang="en-US" sz="2400" b="0" i="1" smtClean="0">
                                  <a:solidFill>
                                    <a:srgbClr val="FF0000"/>
                                  </a:solidFill>
                                  <a:latin typeface="Cambria Math" panose="02040503050406030204" pitchFamily="18" charset="0"/>
                                  <a:cs typeface="Times New Roman" panose="02020603050405020304" pitchFamily="18" charset="0"/>
                                </a:rPr>
                                <m:t>00</m:t>
                              </m:r>
                            </m:e>
                            <m:e>
                              <m:r>
                                <a:rPr lang="en-US" sz="2400" b="0" i="1" smtClean="0">
                                  <a:solidFill>
                                    <a:srgbClr val="FF0000"/>
                                  </a:solidFill>
                                  <a:latin typeface="Cambria Math" panose="02040503050406030204" pitchFamily="18" charset="0"/>
                                  <a:cs typeface="Times New Roman" panose="02020603050405020304" pitchFamily="18" charset="0"/>
                                </a:rPr>
                                <m:t>−313</m:t>
                              </m:r>
                            </m:e>
                            <m:e>
                              <m:r>
                                <a:rPr lang="en-US" sz="2400" b="0" i="1" smtClean="0">
                                  <a:solidFill>
                                    <a:srgbClr val="FF0000"/>
                                  </a:solidFill>
                                  <a:latin typeface="Cambria Math" panose="02040503050406030204" pitchFamily="18" charset="0"/>
                                  <a:cs typeface="Times New Roman" panose="02020603050405020304" pitchFamily="18" charset="0"/>
                                </a:rPr>
                                <m:t>267</m:t>
                              </m:r>
                            </m:e>
                          </m:mr>
                          <m:mr>
                            <m:e>
                              <m:r>
                                <a:rPr lang="en-US" sz="2400" b="0" i="1" smtClean="0">
                                  <a:solidFill>
                                    <a:srgbClr val="FF0000"/>
                                  </a:solidFill>
                                  <a:latin typeface="Cambria Math" panose="02040503050406030204" pitchFamily="18" charset="0"/>
                                  <a:cs typeface="Times New Roman" panose="02020603050405020304" pitchFamily="18" charset="0"/>
                                </a:rPr>
                                <m:t>−357</m:t>
                              </m:r>
                            </m:e>
                            <m:e>
                              <m:r>
                                <a:rPr lang="en-US" sz="2400" b="0" i="1" smtClean="0">
                                  <a:solidFill>
                                    <a:srgbClr val="FF0000"/>
                                  </a:solidFill>
                                  <a:latin typeface="Cambria Math" panose="02040503050406030204" pitchFamily="18" charset="0"/>
                                  <a:cs typeface="Times New Roman" panose="02020603050405020304" pitchFamily="18" charset="0"/>
                                </a:rPr>
                                <m:t>313</m:t>
                              </m:r>
                            </m:e>
                            <m:e>
                              <m:r>
                                <a:rPr lang="en-US" sz="2400" b="0" i="1" smtClean="0">
                                  <a:solidFill>
                                    <a:srgbClr val="FF0000"/>
                                  </a:solidFill>
                                  <a:latin typeface="Cambria Math" panose="02040503050406030204" pitchFamily="18" charset="0"/>
                                  <a:cs typeface="Times New Roman" panose="02020603050405020304" pitchFamily="18" charset="0"/>
                                </a:rPr>
                                <m:t>−252</m:t>
                              </m:r>
                            </m:e>
                          </m:mr>
                          <m:mr>
                            <m:e>
                              <m:r>
                                <a:rPr lang="en-US" sz="2400" b="0" i="1" smtClean="0">
                                  <a:solidFill>
                                    <a:srgbClr val="FF0000"/>
                                  </a:solidFill>
                                  <a:latin typeface="Cambria Math" panose="02040503050406030204" pitchFamily="18" charset="0"/>
                                  <a:cs typeface="Times New Roman" panose="02020603050405020304" pitchFamily="18" charset="0"/>
                                </a:rPr>
                                <m:t>6</m:t>
                              </m:r>
                            </m:e>
                            <m:e>
                              <m:r>
                                <a:rPr lang="en-US" sz="2400" b="0" i="1" smtClean="0">
                                  <a:solidFill>
                                    <a:srgbClr val="FF0000"/>
                                  </a:solidFill>
                                  <a:latin typeface="Cambria Math" panose="02040503050406030204" pitchFamily="18" charset="0"/>
                                  <a:cs typeface="Times New Roman" panose="02020603050405020304" pitchFamily="18" charset="0"/>
                                </a:rPr>
                                <m:t>0</m:t>
                              </m:r>
                            </m:e>
                            <m:e>
                              <m:r>
                                <a:rPr lang="en-US" sz="2400" b="0" i="1" smtClean="0">
                                  <a:solidFill>
                                    <a:srgbClr val="FF0000"/>
                                  </a:solidFill>
                                  <a:latin typeface="Cambria Math" panose="02040503050406030204" pitchFamily="18" charset="0"/>
                                  <a:cs typeface="Times New Roman" panose="02020603050405020304" pitchFamily="18" charset="0"/>
                                </a:rPr>
                                <m:t>−51</m:t>
                              </m:r>
                            </m:e>
                          </m:mr>
                        </m:m>
                      </m:e>
                    </m:d>
                  </m:oMath>
                </a14:m>
                <a:r>
                  <a:rPr lang="en-US" sz="2400" dirty="0">
                    <a:solidFill>
                      <a:srgbClr val="FF0000"/>
                    </a:solidFill>
                    <a:latin typeface="Times New Roman" panose="02020603050405020304" pitchFamily="18" charset="0"/>
                    <a:cs typeface="Times New Roman" panose="02020603050405020304" pitchFamily="18" charset="0"/>
                  </a:rPr>
                  <a:t> * (-939)</a:t>
                </a:r>
                <a:r>
                  <a:rPr lang="en-US" sz="2400" baseline="50000" dirty="0">
                    <a:solidFill>
                      <a:srgbClr val="FF0000"/>
                    </a:solidFill>
                    <a:latin typeface="Times New Roman" panose="02020603050405020304" pitchFamily="18" charset="0"/>
                    <a:cs typeface="Times New Roman" panose="02020603050405020304" pitchFamily="18" charset="0"/>
                  </a:rPr>
                  <a:t>-1 </a:t>
                </a:r>
                <a:r>
                  <a:rPr lang="en-US" sz="2400" dirty="0">
                    <a:solidFill>
                      <a:srgbClr val="FF0000"/>
                    </a:solidFill>
                    <a:latin typeface="Times New Roman" panose="02020603050405020304" pitchFamily="18" charset="0"/>
                    <a:cs typeface="Times New Roman" panose="02020603050405020304" pitchFamily="18" charset="0"/>
                  </a:rPr>
                  <a:t>(mod 26)</a:t>
                </a:r>
              </a:p>
              <a:p>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smtClean="0">
                            <a:solidFill>
                              <a:srgbClr val="FF0000"/>
                            </a:solidFill>
                            <a:latin typeface="Cambria Math" panose="02040503050406030204" pitchFamily="18" charset="0"/>
                            <a:cs typeface="Times New Roman" panose="02020603050405020304" pitchFamily="18" charset="0"/>
                          </a:rPr>
                        </m:ctrlPr>
                      </m:dPr>
                      <m:e>
                        <m:m>
                          <m:mPr>
                            <m:mcs>
                              <m:mc>
                                <m:mcPr>
                                  <m:count m:val="3"/>
                                  <m:mcJc m:val="center"/>
                                </m:mcPr>
                              </m:mc>
                            </m:mcs>
                            <m:ctrlPr>
                              <a:rPr lang="en-US" sz="2400" i="1" smtClean="0">
                                <a:solidFill>
                                  <a:srgbClr val="FF0000"/>
                                </a:solidFill>
                                <a:latin typeface="Cambria Math" panose="02040503050406030204" pitchFamily="18" charset="0"/>
                                <a:cs typeface="Times New Roman" panose="02020603050405020304" pitchFamily="18" charset="0"/>
                              </a:rPr>
                            </m:ctrlPr>
                          </m:mPr>
                          <m:mr>
                            <m:e>
                              <m:r>
                                <m:rPr>
                                  <m:brk m:alnAt="7"/>
                                </m:rPr>
                                <a:rPr lang="en-US" sz="2400" b="0" i="1" smtClean="0">
                                  <a:solidFill>
                                    <a:srgbClr val="FF0000"/>
                                  </a:solidFill>
                                  <a:latin typeface="Cambria Math" panose="02040503050406030204" pitchFamily="18" charset="0"/>
                                  <a:cs typeface="Times New Roman" panose="02020603050405020304" pitchFamily="18" charset="0"/>
                                </a:rPr>
                                <m:t>−</m:t>
                              </m:r>
                              <m:r>
                                <a:rPr lang="en-US" sz="2400" b="0" i="1" smtClean="0">
                                  <a:solidFill>
                                    <a:srgbClr val="FF0000"/>
                                  </a:solidFill>
                                  <a:latin typeface="Cambria Math" panose="02040503050406030204" pitchFamily="18" charset="0"/>
                                  <a:cs typeface="Times New Roman" panose="02020603050405020304" pitchFamily="18" charset="0"/>
                                </a:rPr>
                                <m:t>300</m:t>
                              </m:r>
                            </m:e>
                            <m:e>
                              <m:r>
                                <a:rPr lang="en-US" sz="2400" b="0" i="1" smtClean="0">
                                  <a:solidFill>
                                    <a:srgbClr val="FF0000"/>
                                  </a:solidFill>
                                  <a:latin typeface="Cambria Math" panose="02040503050406030204" pitchFamily="18" charset="0"/>
                                  <a:cs typeface="Times New Roman" panose="02020603050405020304" pitchFamily="18" charset="0"/>
                                </a:rPr>
                                <m:t>  313</m:t>
                              </m:r>
                            </m:e>
                            <m:e>
                              <m:r>
                                <a:rPr lang="en-US" sz="2400" b="0" i="1" smtClean="0">
                                  <a:solidFill>
                                    <a:srgbClr val="FF0000"/>
                                  </a:solidFill>
                                  <a:latin typeface="Cambria Math" panose="02040503050406030204" pitchFamily="18" charset="0"/>
                                  <a:cs typeface="Times New Roman" panose="02020603050405020304" pitchFamily="18" charset="0"/>
                                </a:rPr>
                                <m:t>−267</m:t>
                              </m:r>
                            </m:e>
                          </m:mr>
                          <m:mr>
                            <m:e>
                              <m:r>
                                <a:rPr lang="en-US" sz="2400" b="0" i="1" smtClean="0">
                                  <a:solidFill>
                                    <a:srgbClr val="FF0000"/>
                                  </a:solidFill>
                                  <a:latin typeface="Cambria Math" panose="02040503050406030204" pitchFamily="18" charset="0"/>
                                  <a:cs typeface="Times New Roman" panose="02020603050405020304" pitchFamily="18" charset="0"/>
                                </a:rPr>
                                <m:t>357</m:t>
                              </m:r>
                            </m:e>
                            <m:e>
                              <m:r>
                                <a:rPr lang="en-US" sz="2400" b="0" i="1" smtClean="0">
                                  <a:solidFill>
                                    <a:srgbClr val="FF0000"/>
                                  </a:solidFill>
                                  <a:latin typeface="Cambria Math" panose="02040503050406030204" pitchFamily="18" charset="0"/>
                                  <a:cs typeface="Times New Roman" panose="02020603050405020304" pitchFamily="18" charset="0"/>
                                </a:rPr>
                                <m:t>−313</m:t>
                              </m:r>
                            </m:e>
                            <m:e>
                              <m:r>
                                <a:rPr lang="en-US" sz="2400" b="0" i="1" smtClean="0">
                                  <a:solidFill>
                                    <a:srgbClr val="FF0000"/>
                                  </a:solidFill>
                                  <a:latin typeface="Cambria Math" panose="02040503050406030204" pitchFamily="18" charset="0"/>
                                  <a:cs typeface="Times New Roman" panose="02020603050405020304" pitchFamily="18" charset="0"/>
                                </a:rPr>
                                <m:t>252</m:t>
                              </m:r>
                            </m:e>
                          </m:mr>
                          <m:mr>
                            <m:e>
                              <m:r>
                                <a:rPr lang="en-US" sz="2400" b="0" i="1" smtClean="0">
                                  <a:solidFill>
                                    <a:srgbClr val="FF0000"/>
                                  </a:solidFill>
                                  <a:latin typeface="Cambria Math" panose="02040503050406030204" pitchFamily="18" charset="0"/>
                                  <a:cs typeface="Times New Roman" panose="02020603050405020304" pitchFamily="18" charset="0"/>
                                </a:rPr>
                                <m:t>−6</m:t>
                              </m:r>
                            </m:e>
                            <m:e>
                              <m:r>
                                <a:rPr lang="en-US" sz="2400" b="0" i="1" smtClean="0">
                                  <a:solidFill>
                                    <a:srgbClr val="FF0000"/>
                                  </a:solidFill>
                                  <a:latin typeface="Cambria Math" panose="02040503050406030204" pitchFamily="18" charset="0"/>
                                  <a:cs typeface="Times New Roman" panose="02020603050405020304" pitchFamily="18" charset="0"/>
                                </a:rPr>
                                <m:t>0</m:t>
                              </m:r>
                            </m:e>
                            <m:e>
                              <m:r>
                                <a:rPr lang="en-US" sz="2400" b="0" i="1" smtClean="0">
                                  <a:solidFill>
                                    <a:srgbClr val="FF0000"/>
                                  </a:solidFill>
                                  <a:latin typeface="Cambria Math" panose="02040503050406030204" pitchFamily="18" charset="0"/>
                                  <a:cs typeface="Times New Roman" panose="02020603050405020304" pitchFamily="18" charset="0"/>
                                </a:rPr>
                                <m:t>51</m:t>
                              </m:r>
                            </m:e>
                          </m:mr>
                        </m:m>
                      </m:e>
                    </m:d>
                  </m:oMath>
                </a14:m>
                <a:r>
                  <a:rPr lang="en-US" sz="2400" dirty="0">
                    <a:solidFill>
                      <a:srgbClr val="FF0000"/>
                    </a:solidFill>
                    <a:latin typeface="Times New Roman" panose="02020603050405020304" pitchFamily="18" charset="0"/>
                    <a:cs typeface="Times New Roman" panose="02020603050405020304" pitchFamily="18" charset="0"/>
                  </a:rPr>
                  <a:t> * (939)</a:t>
                </a:r>
                <a:r>
                  <a:rPr lang="en-US" sz="2400" baseline="50000" dirty="0">
                    <a:solidFill>
                      <a:srgbClr val="FF0000"/>
                    </a:solidFill>
                    <a:latin typeface="Times New Roman" panose="02020603050405020304" pitchFamily="18" charset="0"/>
                    <a:cs typeface="Times New Roman" panose="02020603050405020304" pitchFamily="18" charset="0"/>
                  </a:rPr>
                  <a:t>-1 </a:t>
                </a:r>
                <a:r>
                  <a:rPr lang="en-US" sz="2400" dirty="0">
                    <a:solidFill>
                      <a:srgbClr val="FF0000"/>
                    </a:solidFill>
                    <a:latin typeface="Times New Roman" panose="02020603050405020304" pitchFamily="18" charset="0"/>
                    <a:cs typeface="Times New Roman" panose="02020603050405020304" pitchFamily="18" charset="0"/>
                  </a:rPr>
                  <a:t>(mod 26)</a:t>
                </a:r>
              </a:p>
              <a:p>
                <a:endParaRPr lang="en-US" sz="2400"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K</a:t>
                </a:r>
                <a:r>
                  <a:rPr lang="en-US" sz="2400" baseline="50000" dirty="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400" i="1" smtClean="0">
                            <a:solidFill>
                              <a:srgbClr val="FF0000"/>
                            </a:solidFill>
                            <a:latin typeface="Cambria Math" panose="02040503050406030204" pitchFamily="18" charset="0"/>
                            <a:cs typeface="Times New Roman" panose="02020603050405020304" pitchFamily="18" charset="0"/>
                          </a:rPr>
                        </m:ctrlPr>
                      </m:dPr>
                      <m:e>
                        <m:m>
                          <m:mPr>
                            <m:mcs>
                              <m:mc>
                                <m:mcPr>
                                  <m:count m:val="3"/>
                                  <m:mcJc m:val="center"/>
                                </m:mcPr>
                              </m:mc>
                            </m:mcs>
                            <m:ctrlPr>
                              <a:rPr lang="en-US" sz="2400" i="1" smtClean="0">
                                <a:solidFill>
                                  <a:srgbClr val="FF0000"/>
                                </a:solidFill>
                                <a:latin typeface="Cambria Math" panose="02040503050406030204" pitchFamily="18" charset="0"/>
                                <a:cs typeface="Times New Roman" panose="02020603050405020304" pitchFamily="18" charset="0"/>
                              </a:rPr>
                            </m:ctrlPr>
                          </m:mPr>
                          <m:mr>
                            <m:e>
                              <m:r>
                                <m:rPr>
                                  <m:brk m:alnAt="7"/>
                                </m:rPr>
                                <a:rPr lang="en-US" sz="2400" b="0" i="1" smtClean="0">
                                  <a:solidFill>
                                    <a:srgbClr val="FF0000"/>
                                  </a:solidFill>
                                  <a:latin typeface="Cambria Math" panose="02040503050406030204" pitchFamily="18" charset="0"/>
                                  <a:cs typeface="Times New Roman" panose="02020603050405020304" pitchFamily="18" charset="0"/>
                                </a:rPr>
                                <m:t>−</m:t>
                              </m:r>
                              <m:r>
                                <a:rPr lang="en-US" sz="2400" b="0" i="1" smtClean="0">
                                  <a:solidFill>
                                    <a:srgbClr val="FF0000"/>
                                  </a:solidFill>
                                  <a:latin typeface="Cambria Math" panose="02040503050406030204" pitchFamily="18" charset="0"/>
                                  <a:cs typeface="Times New Roman" panose="02020603050405020304" pitchFamily="18" charset="0"/>
                                </a:rPr>
                                <m:t>300</m:t>
                              </m:r>
                            </m:e>
                            <m:e>
                              <m:r>
                                <a:rPr lang="en-US" sz="2400" b="0" i="1" smtClean="0">
                                  <a:solidFill>
                                    <a:srgbClr val="FF0000"/>
                                  </a:solidFill>
                                  <a:latin typeface="Cambria Math" panose="02040503050406030204" pitchFamily="18" charset="0"/>
                                  <a:cs typeface="Times New Roman" panose="02020603050405020304" pitchFamily="18" charset="0"/>
                                </a:rPr>
                                <m:t>  313</m:t>
                              </m:r>
                            </m:e>
                            <m:e>
                              <m:r>
                                <a:rPr lang="en-US" sz="2400" b="0" i="1" smtClean="0">
                                  <a:solidFill>
                                    <a:srgbClr val="FF0000"/>
                                  </a:solidFill>
                                  <a:latin typeface="Cambria Math" panose="02040503050406030204" pitchFamily="18" charset="0"/>
                                  <a:cs typeface="Times New Roman" panose="02020603050405020304" pitchFamily="18" charset="0"/>
                                </a:rPr>
                                <m:t>−267</m:t>
                              </m:r>
                            </m:e>
                          </m:mr>
                          <m:mr>
                            <m:e>
                              <m:r>
                                <a:rPr lang="en-US" sz="2400" b="0" i="1" smtClean="0">
                                  <a:solidFill>
                                    <a:srgbClr val="FF0000"/>
                                  </a:solidFill>
                                  <a:latin typeface="Cambria Math" panose="02040503050406030204" pitchFamily="18" charset="0"/>
                                  <a:cs typeface="Times New Roman" panose="02020603050405020304" pitchFamily="18" charset="0"/>
                                </a:rPr>
                                <m:t>357</m:t>
                              </m:r>
                            </m:e>
                            <m:e>
                              <m:r>
                                <a:rPr lang="en-US" sz="2400" b="0" i="1" smtClean="0">
                                  <a:solidFill>
                                    <a:srgbClr val="FF0000"/>
                                  </a:solidFill>
                                  <a:latin typeface="Cambria Math" panose="02040503050406030204" pitchFamily="18" charset="0"/>
                                  <a:cs typeface="Times New Roman" panose="02020603050405020304" pitchFamily="18" charset="0"/>
                                </a:rPr>
                                <m:t>−313</m:t>
                              </m:r>
                            </m:e>
                            <m:e>
                              <m:r>
                                <a:rPr lang="en-US" sz="2400" b="0" i="1" smtClean="0">
                                  <a:solidFill>
                                    <a:srgbClr val="FF0000"/>
                                  </a:solidFill>
                                  <a:latin typeface="Cambria Math" panose="02040503050406030204" pitchFamily="18" charset="0"/>
                                  <a:cs typeface="Times New Roman" panose="02020603050405020304" pitchFamily="18" charset="0"/>
                                </a:rPr>
                                <m:t>252</m:t>
                              </m:r>
                            </m:e>
                          </m:mr>
                          <m:mr>
                            <m:e>
                              <m:r>
                                <a:rPr lang="en-US" sz="2400" b="0" i="1" smtClean="0">
                                  <a:solidFill>
                                    <a:srgbClr val="FF0000"/>
                                  </a:solidFill>
                                  <a:latin typeface="Cambria Math" panose="02040503050406030204" pitchFamily="18" charset="0"/>
                                  <a:cs typeface="Times New Roman" panose="02020603050405020304" pitchFamily="18" charset="0"/>
                                </a:rPr>
                                <m:t>−6</m:t>
                              </m:r>
                            </m:e>
                            <m:e>
                              <m:r>
                                <a:rPr lang="en-US" sz="2400" b="0" i="1" smtClean="0">
                                  <a:solidFill>
                                    <a:srgbClr val="FF0000"/>
                                  </a:solidFill>
                                  <a:latin typeface="Cambria Math" panose="02040503050406030204" pitchFamily="18" charset="0"/>
                                  <a:cs typeface="Times New Roman" panose="02020603050405020304" pitchFamily="18" charset="0"/>
                                </a:rPr>
                                <m:t>0</m:t>
                              </m:r>
                            </m:e>
                            <m:e>
                              <m:r>
                                <a:rPr lang="en-US" sz="2400" b="0" i="1" smtClean="0">
                                  <a:solidFill>
                                    <a:srgbClr val="FF0000"/>
                                  </a:solidFill>
                                  <a:latin typeface="Cambria Math" panose="02040503050406030204" pitchFamily="18" charset="0"/>
                                  <a:cs typeface="Times New Roman" panose="02020603050405020304" pitchFamily="18" charset="0"/>
                                </a:rPr>
                                <m:t>51</m:t>
                              </m:r>
                            </m:e>
                          </m:mr>
                        </m:m>
                      </m:e>
                    </m:d>
                  </m:oMath>
                </a14:m>
                <a:r>
                  <a:rPr lang="en-US" sz="2400" dirty="0">
                    <a:solidFill>
                      <a:srgbClr val="FF0000"/>
                    </a:solidFill>
                    <a:latin typeface="Times New Roman" panose="02020603050405020304" pitchFamily="18" charset="0"/>
                    <a:cs typeface="Times New Roman" panose="02020603050405020304" pitchFamily="18" charset="0"/>
                  </a:rPr>
                  <a:t> * 9</a:t>
                </a:r>
                <a:r>
                  <a:rPr lang="en-US" sz="2400" baseline="50000" dirty="0">
                    <a:solidFill>
                      <a:srgbClr val="FF0000"/>
                    </a:solidFill>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(mod 26) = </a:t>
                </a:r>
                <a14:m>
                  <m:oMath xmlns:m="http://schemas.openxmlformats.org/officeDocument/2006/math">
                    <m:d>
                      <m:dPr>
                        <m:begChr m:val="["/>
                        <m:endChr m:val="]"/>
                        <m:ctrlPr>
                          <a:rPr lang="en-US" sz="2400" i="1">
                            <a:solidFill>
                              <a:srgbClr val="FF0000"/>
                            </a:solidFill>
                            <a:latin typeface="Cambria Math" panose="02040503050406030204" pitchFamily="18" charset="0"/>
                            <a:cs typeface="Times New Roman" panose="02020603050405020304" pitchFamily="18" charset="0"/>
                          </a:rPr>
                        </m:ctrlPr>
                      </m:dPr>
                      <m:e>
                        <m:m>
                          <m:mPr>
                            <m:mcs>
                              <m:mc>
                                <m:mcPr>
                                  <m:count m:val="3"/>
                                  <m:mcJc m:val="center"/>
                                </m:mcPr>
                              </m:mc>
                            </m:mcs>
                            <m:ctrlPr>
                              <a:rPr lang="en-US" sz="2400" i="1">
                                <a:solidFill>
                                  <a:srgbClr val="FF0000"/>
                                </a:solidFill>
                                <a:latin typeface="Cambria Math" panose="02040503050406030204" pitchFamily="18" charset="0"/>
                                <a:cs typeface="Times New Roman" panose="02020603050405020304" pitchFamily="18" charset="0"/>
                              </a:rPr>
                            </m:ctrlPr>
                          </m:mPr>
                          <m:mr>
                            <m:e>
                              <m:r>
                                <m:rPr>
                                  <m:brk m:alnAt="7"/>
                                </m:rPr>
                                <a:rPr lang="en-US" sz="2400" b="0" i="1" smtClean="0">
                                  <a:solidFill>
                                    <a:srgbClr val="FF0000"/>
                                  </a:solidFill>
                                  <a:latin typeface="Cambria Math" panose="02040503050406030204" pitchFamily="18" charset="0"/>
                                  <a:cs typeface="Times New Roman" panose="02020603050405020304" pitchFamily="18" charset="0"/>
                                </a:rPr>
                                <m:t>4</m:t>
                              </m:r>
                            </m:e>
                            <m:e>
                              <m:r>
                                <a:rPr lang="en-US" sz="2400" i="1">
                                  <a:solidFill>
                                    <a:srgbClr val="FF0000"/>
                                  </a:solidFill>
                                  <a:latin typeface="Cambria Math" panose="02040503050406030204" pitchFamily="18" charset="0"/>
                                  <a:cs typeface="Times New Roman" panose="02020603050405020304" pitchFamily="18" charset="0"/>
                                </a:rPr>
                                <m:t>  </m:t>
                              </m:r>
                              <m:r>
                                <a:rPr lang="en-US" sz="2400" b="0" i="1" smtClean="0">
                                  <a:solidFill>
                                    <a:srgbClr val="FF0000"/>
                                  </a:solidFill>
                                  <a:latin typeface="Cambria Math" panose="02040503050406030204" pitchFamily="18" charset="0"/>
                                  <a:cs typeface="Times New Roman" panose="02020603050405020304" pitchFamily="18" charset="0"/>
                                </a:rPr>
                                <m:t>9</m:t>
                              </m:r>
                            </m:e>
                            <m:e>
                              <m:r>
                                <a:rPr lang="en-US" sz="2400" b="0" i="1" smtClean="0">
                                  <a:solidFill>
                                    <a:srgbClr val="FF0000"/>
                                  </a:solidFill>
                                  <a:latin typeface="Cambria Math" panose="02040503050406030204" pitchFamily="18" charset="0"/>
                                  <a:cs typeface="Times New Roman" panose="02020603050405020304" pitchFamily="18" charset="0"/>
                                </a:rPr>
                                <m:t>15</m:t>
                              </m:r>
                            </m:e>
                          </m:mr>
                          <m:mr>
                            <m:e>
                              <m:r>
                                <a:rPr lang="en-US" sz="2400" b="0" i="1" smtClean="0">
                                  <a:solidFill>
                                    <a:srgbClr val="FF0000"/>
                                  </a:solidFill>
                                  <a:latin typeface="Cambria Math" panose="02040503050406030204" pitchFamily="18" charset="0"/>
                                  <a:cs typeface="Times New Roman" panose="02020603050405020304" pitchFamily="18" charset="0"/>
                                </a:rPr>
                                <m:t>15</m:t>
                              </m:r>
                            </m:e>
                            <m:e>
                              <m:r>
                                <a:rPr lang="en-US" sz="2400" b="0" i="1" smtClean="0">
                                  <a:solidFill>
                                    <a:srgbClr val="FF0000"/>
                                  </a:solidFill>
                                  <a:latin typeface="Cambria Math" panose="02040503050406030204" pitchFamily="18" charset="0"/>
                                  <a:cs typeface="Times New Roman" panose="02020603050405020304" pitchFamily="18" charset="0"/>
                                </a:rPr>
                                <m:t>17</m:t>
                              </m:r>
                            </m:e>
                            <m:e>
                              <m:r>
                                <a:rPr lang="en-US" sz="2400" b="0" i="1" smtClean="0">
                                  <a:solidFill>
                                    <a:srgbClr val="FF0000"/>
                                  </a:solidFill>
                                  <a:latin typeface="Cambria Math" panose="02040503050406030204" pitchFamily="18" charset="0"/>
                                  <a:cs typeface="Times New Roman" panose="02020603050405020304" pitchFamily="18" charset="0"/>
                                </a:rPr>
                                <m:t>6</m:t>
                              </m:r>
                            </m:e>
                          </m:mr>
                          <m:mr>
                            <m:e>
                              <m:r>
                                <a:rPr lang="en-US" sz="2400" b="0" i="1" smtClean="0">
                                  <a:solidFill>
                                    <a:srgbClr val="FF0000"/>
                                  </a:solidFill>
                                  <a:latin typeface="Cambria Math" panose="02040503050406030204" pitchFamily="18" charset="0"/>
                                  <a:cs typeface="Times New Roman" panose="02020603050405020304" pitchFamily="18" charset="0"/>
                                </a:rPr>
                                <m:t>24</m:t>
                              </m:r>
                            </m:e>
                            <m:e>
                              <m:r>
                                <a:rPr lang="en-US" sz="2400" i="1">
                                  <a:solidFill>
                                    <a:srgbClr val="FF0000"/>
                                  </a:solidFill>
                                  <a:latin typeface="Cambria Math" panose="02040503050406030204" pitchFamily="18" charset="0"/>
                                  <a:cs typeface="Times New Roman" panose="02020603050405020304" pitchFamily="18" charset="0"/>
                                </a:rPr>
                                <m:t>0</m:t>
                              </m:r>
                            </m:e>
                            <m:e>
                              <m:r>
                                <a:rPr lang="en-US" sz="2400" b="0" i="1" smtClean="0">
                                  <a:solidFill>
                                    <a:srgbClr val="FF0000"/>
                                  </a:solidFill>
                                  <a:latin typeface="Cambria Math" panose="02040503050406030204" pitchFamily="18" charset="0"/>
                                  <a:cs typeface="Times New Roman" panose="02020603050405020304" pitchFamily="18" charset="0"/>
                                </a:rPr>
                                <m:t>17</m:t>
                              </m:r>
                            </m:e>
                          </m:mr>
                        </m:m>
                      </m:e>
                    </m:d>
                  </m:oMath>
                </a14:m>
                <a:r>
                  <a:rPr lang="en-US" sz="2400" dirty="0">
                    <a:solidFill>
                      <a:srgbClr val="FF0000"/>
                    </a:solidFill>
                    <a:latin typeface="Times New Roman" panose="02020603050405020304" pitchFamily="18" charset="0"/>
                    <a:cs typeface="Times New Roman" panose="02020603050405020304" pitchFamily="18" charset="0"/>
                  </a:rPr>
                  <a:t> </a:t>
                </a: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200" y="1929384"/>
                <a:ext cx="10515600" cy="4736156"/>
              </a:xfrm>
              <a:blipFill>
                <a:blip r:embed="rId2"/>
                <a:stretch>
                  <a:fillRect l="-812"/>
                </a:stretch>
              </a:blipFill>
            </p:spPr>
            <p:txBody>
              <a:bodyPr/>
              <a:lstStyle/>
              <a:p>
                <a:r>
                  <a:rPr lang="en-US">
                    <a:noFill/>
                  </a:rPr>
                  <a:t> </a:t>
                </a:r>
              </a:p>
            </p:txBody>
          </p:sp>
        </mc:Fallback>
      </mc:AlternateContent>
    </p:spTree>
    <p:extLst>
      <p:ext uri="{BB962C8B-B14F-4D97-AF65-F5344CB8AC3E}">
        <p14:creationId xmlns:p14="http://schemas.microsoft.com/office/powerpoint/2010/main" val="407305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8DDE4-D0CA-D46F-3451-BAB077F58F26}"/>
              </a:ext>
            </a:extLst>
          </p:cNvPr>
          <p:cNvSpPr>
            <a:spLocks noGrp="1"/>
          </p:cNvSpPr>
          <p:nvPr>
            <p:ph type="title"/>
          </p:nvPr>
        </p:nvSpPr>
        <p:spPr>
          <a:xfrm>
            <a:off x="838200" y="365125"/>
            <a:ext cx="10515600" cy="1325563"/>
          </a:xfrm>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774FD-5135-5275-06DB-B30A97C69865}"/>
                  </a:ext>
                </a:extLst>
              </p:cNvPr>
              <p:cNvSpPr>
                <a:spLocks noGrp="1"/>
              </p:cNvSpPr>
              <p:nvPr>
                <p:ph idx="1"/>
              </p:nvPr>
            </p:nvSpPr>
            <p:spPr>
              <a:xfrm>
                <a:off x="838199" y="1901517"/>
                <a:ext cx="11157857" cy="4847625"/>
              </a:xfrm>
            </p:spPr>
            <p:txBody>
              <a:bodyPr>
                <a:normAutofit/>
              </a:bodyPr>
              <a:lstStyle/>
              <a:p>
                <a:r>
                  <a:rPr lang="en-US" sz="2200" dirty="0">
                    <a:solidFill>
                      <a:srgbClr val="FF0000"/>
                    </a:solidFill>
                    <a:latin typeface="Times New Roman" panose="02020603050405020304" pitchFamily="18" charset="0"/>
                    <a:cs typeface="Times New Roman" panose="02020603050405020304" pitchFamily="18" charset="0"/>
                  </a:rPr>
                  <a:t>D = C * K</a:t>
                </a:r>
                <a:r>
                  <a:rPr lang="en-US" sz="2200" baseline="50000" dirty="0">
                    <a:solidFill>
                      <a:srgbClr val="FF0000"/>
                    </a:solidFill>
                    <a:latin typeface="Times New Roman" panose="02020603050405020304" pitchFamily="18" charset="0"/>
                    <a:cs typeface="Times New Roman" panose="02020603050405020304" pitchFamily="18" charset="0"/>
                  </a:rPr>
                  <a:t>-1</a:t>
                </a:r>
                <a:r>
                  <a:rPr lang="en-US" sz="2200" dirty="0">
                    <a:solidFill>
                      <a:srgbClr val="FF0000"/>
                    </a:solidFill>
                    <a:latin typeface="Times New Roman" panose="02020603050405020304" pitchFamily="18" charset="0"/>
                    <a:cs typeface="Times New Roman" panose="02020603050405020304" pitchFamily="18" charset="0"/>
                  </a:rPr>
                  <a:t> (mod 26) = </a:t>
                </a:r>
                <a14:m>
                  <m:oMath xmlns:m="http://schemas.openxmlformats.org/officeDocument/2006/math">
                    <m:d>
                      <m:dPr>
                        <m:begChr m:val="["/>
                        <m:endChr m:val="]"/>
                        <m:ctrlPr>
                          <a:rPr lang="en-US" sz="2200" i="1">
                            <a:solidFill>
                              <a:srgbClr val="FF0000"/>
                            </a:solidFill>
                            <a:latin typeface="Cambria Math" panose="02040503050406030204" pitchFamily="18" charset="0"/>
                          </a:rPr>
                        </m:ctrlPr>
                      </m:dPr>
                      <m:e>
                        <m:eqArr>
                          <m:eqArrPr>
                            <m:ctrlPr>
                              <a:rPr lang="en-US" sz="2200" i="1">
                                <a:solidFill>
                                  <a:srgbClr val="FF0000"/>
                                </a:solidFill>
                                <a:latin typeface="Cambria Math" panose="02040503050406030204" pitchFamily="18" charset="0"/>
                              </a:rPr>
                            </m:ctrlPr>
                          </m:eqArrPr>
                          <m:e>
                            <m:r>
                              <a:rPr lang="en-US" sz="2200" b="0" i="1" smtClean="0">
                                <a:solidFill>
                                  <a:srgbClr val="FF0000"/>
                                </a:solidFill>
                                <a:latin typeface="Cambria Math" panose="02040503050406030204" pitchFamily="18" charset="0"/>
                              </a:rPr>
                              <m:t>17</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17</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11</m:t>
                            </m:r>
                          </m:e>
                          <m:e>
                            <m:r>
                              <a:rPr lang="en-US" sz="2200" b="0" i="1" smtClean="0">
                                <a:solidFill>
                                  <a:srgbClr val="FF0000"/>
                                </a:solidFill>
                                <a:latin typeface="Cambria Math" panose="02040503050406030204" pitchFamily="18" charset="0"/>
                              </a:rPr>
                              <m:t>12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22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1</m:t>
                            </m:r>
                          </m:e>
                          <m:e>
                            <m:r>
                              <a:rPr lang="en-US" sz="2200" b="0" i="1" smtClean="0">
                                <a:solidFill>
                                  <a:srgbClr val="FF0000"/>
                                </a:solidFill>
                                <a:latin typeface="Cambria Math" panose="02040503050406030204" pitchFamily="18" charset="0"/>
                              </a:rPr>
                              <m:t>10</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0</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18</m:t>
                            </m:r>
                          </m:e>
                          <m:e>
                            <m:r>
                              <a:rPr lang="en-US" sz="2200" b="0" i="1" smtClean="0">
                                <a:solidFill>
                                  <a:srgbClr val="FF0000"/>
                                </a:solidFill>
                                <a:latin typeface="Cambria Math" panose="02040503050406030204" pitchFamily="18" charset="0"/>
                              </a:rPr>
                              <m:t>15</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3</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7</m:t>
                            </m:r>
                          </m:e>
                        </m:eqArr>
                      </m:e>
                    </m:d>
                  </m:oMath>
                </a14:m>
                <a:r>
                  <a:rPr lang="en-US" sz="22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200" i="1">
                            <a:solidFill>
                              <a:srgbClr val="FF0000"/>
                            </a:solidFill>
                            <a:latin typeface="Cambria Math" panose="02040503050406030204" pitchFamily="18" charset="0"/>
                            <a:cs typeface="Times New Roman" panose="02020603050405020304" pitchFamily="18" charset="0"/>
                          </a:rPr>
                        </m:ctrlPr>
                      </m:dPr>
                      <m:e>
                        <m:m>
                          <m:mPr>
                            <m:mcs>
                              <m:mc>
                                <m:mcPr>
                                  <m:count m:val="3"/>
                                  <m:mcJc m:val="center"/>
                                </m:mcPr>
                              </m:mc>
                            </m:mcs>
                            <m:ctrlPr>
                              <a:rPr lang="en-US" sz="2200" i="1">
                                <a:solidFill>
                                  <a:srgbClr val="FF0000"/>
                                </a:solidFill>
                                <a:latin typeface="Cambria Math" panose="02040503050406030204" pitchFamily="18" charset="0"/>
                                <a:cs typeface="Times New Roman" panose="02020603050405020304" pitchFamily="18" charset="0"/>
                              </a:rPr>
                            </m:ctrlPr>
                          </m:mPr>
                          <m:mr>
                            <m:e>
                              <m:r>
                                <m:rPr>
                                  <m:brk m:alnAt="7"/>
                                </m:rPr>
                                <a:rPr lang="en-US" sz="2200" i="1">
                                  <a:solidFill>
                                    <a:srgbClr val="FF0000"/>
                                  </a:solidFill>
                                  <a:latin typeface="Cambria Math" panose="02040503050406030204" pitchFamily="18" charset="0"/>
                                  <a:cs typeface="Times New Roman" panose="02020603050405020304" pitchFamily="18" charset="0"/>
                                </a:rPr>
                                <m:t>4</m:t>
                              </m:r>
                            </m:e>
                            <m:e>
                              <m:r>
                                <a:rPr lang="en-US" sz="2200" i="1">
                                  <a:solidFill>
                                    <a:srgbClr val="FF0000"/>
                                  </a:solidFill>
                                  <a:latin typeface="Cambria Math" panose="02040503050406030204" pitchFamily="18" charset="0"/>
                                  <a:cs typeface="Times New Roman" panose="02020603050405020304" pitchFamily="18" charset="0"/>
                                </a:rPr>
                                <m:t>  9</m:t>
                              </m:r>
                            </m:e>
                            <m:e>
                              <m:r>
                                <a:rPr lang="en-US" sz="2200" i="1">
                                  <a:solidFill>
                                    <a:srgbClr val="FF0000"/>
                                  </a:solidFill>
                                  <a:latin typeface="Cambria Math" panose="02040503050406030204" pitchFamily="18" charset="0"/>
                                  <a:cs typeface="Times New Roman" panose="02020603050405020304" pitchFamily="18" charset="0"/>
                                </a:rPr>
                                <m:t>15</m:t>
                              </m:r>
                            </m:e>
                          </m:mr>
                          <m:mr>
                            <m:e>
                              <m:r>
                                <a:rPr lang="en-US" sz="2200" i="1">
                                  <a:solidFill>
                                    <a:srgbClr val="FF0000"/>
                                  </a:solidFill>
                                  <a:latin typeface="Cambria Math" panose="02040503050406030204" pitchFamily="18" charset="0"/>
                                  <a:cs typeface="Times New Roman" panose="02020603050405020304" pitchFamily="18" charset="0"/>
                                </a:rPr>
                                <m:t>15</m:t>
                              </m:r>
                            </m:e>
                            <m:e>
                              <m:r>
                                <a:rPr lang="en-US" sz="2200" i="1">
                                  <a:solidFill>
                                    <a:srgbClr val="FF0000"/>
                                  </a:solidFill>
                                  <a:latin typeface="Cambria Math" panose="02040503050406030204" pitchFamily="18" charset="0"/>
                                  <a:cs typeface="Times New Roman" panose="02020603050405020304" pitchFamily="18" charset="0"/>
                                </a:rPr>
                                <m:t>17</m:t>
                              </m:r>
                            </m:e>
                            <m:e>
                              <m:r>
                                <a:rPr lang="en-US" sz="2200" i="1">
                                  <a:solidFill>
                                    <a:srgbClr val="FF0000"/>
                                  </a:solidFill>
                                  <a:latin typeface="Cambria Math" panose="02040503050406030204" pitchFamily="18" charset="0"/>
                                  <a:cs typeface="Times New Roman" panose="02020603050405020304" pitchFamily="18" charset="0"/>
                                </a:rPr>
                                <m:t>6</m:t>
                              </m:r>
                            </m:e>
                          </m:mr>
                          <m:mr>
                            <m:e>
                              <m:r>
                                <a:rPr lang="en-US" sz="2200" i="1">
                                  <a:solidFill>
                                    <a:srgbClr val="FF0000"/>
                                  </a:solidFill>
                                  <a:latin typeface="Cambria Math" panose="02040503050406030204" pitchFamily="18" charset="0"/>
                                  <a:cs typeface="Times New Roman" panose="02020603050405020304" pitchFamily="18" charset="0"/>
                                </a:rPr>
                                <m:t>24</m:t>
                              </m:r>
                            </m:e>
                            <m:e>
                              <m:r>
                                <a:rPr lang="en-US" sz="2200" i="1">
                                  <a:solidFill>
                                    <a:srgbClr val="FF0000"/>
                                  </a:solidFill>
                                  <a:latin typeface="Cambria Math" panose="02040503050406030204" pitchFamily="18" charset="0"/>
                                  <a:cs typeface="Times New Roman" panose="02020603050405020304" pitchFamily="18" charset="0"/>
                                </a:rPr>
                                <m:t>0</m:t>
                              </m:r>
                            </m:e>
                            <m:e>
                              <m:r>
                                <a:rPr lang="en-US" sz="2200" i="1">
                                  <a:solidFill>
                                    <a:srgbClr val="FF0000"/>
                                  </a:solidFill>
                                  <a:latin typeface="Cambria Math" panose="02040503050406030204" pitchFamily="18" charset="0"/>
                                  <a:cs typeface="Times New Roman" panose="02020603050405020304" pitchFamily="18" charset="0"/>
                                </a:rPr>
                                <m:t>17</m:t>
                              </m:r>
                            </m:e>
                          </m:mr>
                        </m:m>
                      </m:e>
                    </m:d>
                  </m:oMath>
                </a14:m>
                <a:r>
                  <a:rPr lang="en-US" sz="2200" dirty="0">
                    <a:solidFill>
                      <a:srgbClr val="FF0000"/>
                    </a:solidFill>
                    <a:latin typeface="Times New Roman" panose="02020603050405020304" pitchFamily="18" charset="0"/>
                    <a:cs typeface="Times New Roman" panose="02020603050405020304" pitchFamily="18" charset="0"/>
                  </a:rPr>
                  <a:t> (mod 26)</a:t>
                </a:r>
              </a:p>
              <a:p>
                <a:pPr marL="0" indent="0">
                  <a:buNone/>
                </a:pPr>
                <a:endParaRPr lang="en-US" sz="2200" dirty="0">
                  <a:solidFill>
                    <a:srgbClr val="FF0000"/>
                  </a:solidFill>
                  <a:latin typeface="Times New Roman" panose="02020603050405020304" pitchFamily="18" charset="0"/>
                  <a:cs typeface="Times New Roman" panose="02020603050405020304" pitchFamily="18" charset="0"/>
                </a:endParaRPr>
              </a:p>
              <a:p>
                <a:r>
                  <a:rPr lang="en-US" sz="2200" dirty="0">
                    <a:solidFill>
                      <a:srgbClr val="FF0000"/>
                    </a:solidFill>
                    <a:latin typeface="Times New Roman" panose="02020603050405020304" pitchFamily="18" charset="0"/>
                    <a:cs typeface="Times New Roman" panose="02020603050405020304" pitchFamily="18" charset="0"/>
                  </a:rPr>
                  <a:t>D = </a:t>
                </a:r>
                <a14:m>
                  <m:oMath xmlns:m="http://schemas.openxmlformats.org/officeDocument/2006/math">
                    <m:d>
                      <m:dPr>
                        <m:begChr m:val="["/>
                        <m:endChr m:val="]"/>
                        <m:ctrlPr>
                          <a:rPr lang="en-US" sz="2200" i="1">
                            <a:solidFill>
                              <a:srgbClr val="FF0000"/>
                            </a:solidFill>
                            <a:latin typeface="Cambria Math" panose="02040503050406030204" pitchFamily="18" charset="0"/>
                          </a:rPr>
                        </m:ctrlPr>
                      </m:dPr>
                      <m:e>
                        <m:eqArr>
                          <m:eqArrPr>
                            <m:ctrlPr>
                              <a:rPr lang="en-US" sz="2200" i="1">
                                <a:solidFill>
                                  <a:srgbClr val="FF0000"/>
                                </a:solidFill>
                                <a:latin typeface="Cambria Math" panose="02040503050406030204" pitchFamily="18" charset="0"/>
                              </a:rPr>
                            </m:ctrlPr>
                          </m:eqArrPr>
                          <m:e>
                            <m:r>
                              <a:rPr lang="en-US" sz="2200" b="0" i="1" smtClean="0">
                                <a:solidFill>
                                  <a:srgbClr val="FF0000"/>
                                </a:solidFill>
                                <a:latin typeface="Cambria Math" panose="02040503050406030204" pitchFamily="18" charset="0"/>
                              </a:rPr>
                              <m:t>587</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442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544</m:t>
                            </m:r>
                          </m:e>
                          <m:e>
                            <m:r>
                              <a:rPr lang="en-US" sz="2200" b="0" i="1" smtClean="0">
                                <a:solidFill>
                                  <a:srgbClr val="FF0000"/>
                                </a:solidFill>
                                <a:latin typeface="Cambria Math" panose="02040503050406030204" pitchFamily="18" charset="0"/>
                              </a:rPr>
                              <m:t>402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482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329</m:t>
                            </m:r>
                          </m:e>
                          <m:e>
                            <m:r>
                              <a:rPr lang="en-US" sz="2200" b="0" i="1" smtClean="0">
                                <a:solidFill>
                                  <a:srgbClr val="FF0000"/>
                                </a:solidFill>
                                <a:latin typeface="Cambria Math" panose="02040503050406030204" pitchFamily="18" charset="0"/>
                              </a:rPr>
                              <m:t>472</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90</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456</m:t>
                            </m:r>
                          </m:e>
                          <m:e>
                            <m:r>
                              <a:rPr lang="en-US" sz="2200" b="0" i="1" smtClean="0">
                                <a:solidFill>
                                  <a:srgbClr val="FF0000"/>
                                </a:solidFill>
                                <a:latin typeface="Cambria Math" panose="02040503050406030204" pitchFamily="18" charset="0"/>
                              </a:rPr>
                              <m:t>273</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186</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362</m:t>
                            </m:r>
                          </m:e>
                        </m:eqArr>
                      </m:e>
                    </m:d>
                  </m:oMath>
                </a14:m>
                <a:r>
                  <a:rPr lang="en-US" sz="2200" dirty="0">
                    <a:solidFill>
                      <a:srgbClr val="FF0000"/>
                    </a:solidFill>
                    <a:latin typeface="Times New Roman" panose="02020603050405020304" pitchFamily="18" charset="0"/>
                    <a:cs typeface="Times New Roman" panose="02020603050405020304" pitchFamily="18" charset="0"/>
                  </a:rPr>
                  <a:t> (mod 26) = </a:t>
                </a:r>
                <a14:m>
                  <m:oMath xmlns:m="http://schemas.openxmlformats.org/officeDocument/2006/math">
                    <m:d>
                      <m:dPr>
                        <m:begChr m:val="["/>
                        <m:endChr m:val="]"/>
                        <m:ctrlPr>
                          <a:rPr lang="en-US" sz="2200" i="1">
                            <a:solidFill>
                              <a:srgbClr val="FF0000"/>
                            </a:solidFill>
                            <a:latin typeface="Cambria Math" panose="02040503050406030204" pitchFamily="18" charset="0"/>
                          </a:rPr>
                        </m:ctrlPr>
                      </m:dPr>
                      <m:e>
                        <m:eqArr>
                          <m:eqArrPr>
                            <m:ctrlPr>
                              <a:rPr lang="en-US" sz="2200" i="1">
                                <a:solidFill>
                                  <a:srgbClr val="FF0000"/>
                                </a:solidFill>
                                <a:latin typeface="Cambria Math" panose="02040503050406030204" pitchFamily="18" charset="0"/>
                              </a:rPr>
                            </m:ctrlPr>
                          </m:eqArrPr>
                          <m:e>
                            <m:r>
                              <a:rPr lang="en-US" sz="2200" i="1">
                                <a:solidFill>
                                  <a:srgbClr val="FF0000"/>
                                </a:solidFill>
                                <a:latin typeface="Cambria Math" panose="02040503050406030204" pitchFamily="18" charset="0"/>
                              </a:rPr>
                              <m:t>1</m:t>
                            </m:r>
                            <m:r>
                              <a:rPr lang="en-US" sz="2200" b="0" i="1" smtClean="0">
                                <a:solidFill>
                                  <a:srgbClr val="FF0000"/>
                                </a:solidFill>
                                <a:latin typeface="Cambria Math" panose="02040503050406030204" pitchFamily="18" charset="0"/>
                              </a:rPr>
                              <m:t>5</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0</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24</m:t>
                            </m:r>
                          </m:e>
                          <m:e>
                            <m:r>
                              <a:rPr lang="en-US" sz="2200" i="1">
                                <a:solidFill>
                                  <a:srgbClr val="FF0000"/>
                                </a:solidFill>
                                <a:latin typeface="Cambria Math" panose="02040503050406030204" pitchFamily="18" charset="0"/>
                              </a:rPr>
                              <m:t>12             </m:t>
                            </m:r>
                            <m:r>
                              <a:rPr lang="en-US" sz="2200" b="0" i="1" smtClean="0">
                                <a:solidFill>
                                  <a:srgbClr val="FF0000"/>
                                </a:solidFill>
                                <a:latin typeface="Cambria Math" panose="02040503050406030204" pitchFamily="18" charset="0"/>
                              </a:rPr>
                              <m:t>14</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17</m:t>
                            </m:r>
                          </m:e>
                          <m:e>
                            <m:r>
                              <a:rPr lang="en-US" sz="2200" b="0" i="1" smtClean="0">
                                <a:solidFill>
                                  <a:srgbClr val="FF0000"/>
                                </a:solidFill>
                                <a:latin typeface="Cambria Math" panose="02040503050406030204" pitchFamily="18" charset="0"/>
                              </a:rPr>
                              <m:t>4</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12</m:t>
                            </m:r>
                            <m:r>
                              <a:rPr lang="en-US" sz="2200" i="1">
                                <a:solidFill>
                                  <a:srgbClr val="FF0000"/>
                                </a:solidFill>
                                <a:latin typeface="Cambria Math" panose="02040503050406030204" pitchFamily="18" charset="0"/>
                              </a:rPr>
                              <m:t>           1</m:t>
                            </m:r>
                            <m:r>
                              <a:rPr lang="en-US" sz="2200" b="0" i="1" smtClean="0">
                                <a:solidFill>
                                  <a:srgbClr val="FF0000"/>
                                </a:solidFill>
                                <a:latin typeface="Cambria Math" panose="02040503050406030204" pitchFamily="18" charset="0"/>
                              </a:rPr>
                              <m:t>4</m:t>
                            </m:r>
                          </m:e>
                          <m:e>
                            <m:r>
                              <a:rPr lang="en-US" sz="2200" i="1">
                                <a:solidFill>
                                  <a:srgbClr val="FF0000"/>
                                </a:solidFill>
                                <a:latin typeface="Cambria Math" panose="02040503050406030204" pitchFamily="18" charset="0"/>
                              </a:rPr>
                              <m:t>1</m:t>
                            </m:r>
                            <m:r>
                              <a:rPr lang="en-US" sz="2200" b="0" i="1" smtClean="0">
                                <a:solidFill>
                                  <a:srgbClr val="FF0000"/>
                                </a:solidFill>
                                <a:latin typeface="Cambria Math" panose="02040503050406030204" pitchFamily="18" charset="0"/>
                              </a:rPr>
                              <m:t>3</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4</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24</m:t>
                            </m:r>
                          </m:e>
                        </m:eqArr>
                      </m:e>
                    </m:d>
                  </m:oMath>
                </a14:m>
                <a:r>
                  <a:rPr lang="en-US" sz="2200" dirty="0">
                    <a:solidFill>
                      <a:srgbClr val="FF0000"/>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US" sz="2200" i="1">
                            <a:solidFill>
                              <a:srgbClr val="FF0000"/>
                            </a:solidFill>
                            <a:latin typeface="Cambria Math" panose="02040503050406030204" pitchFamily="18" charset="0"/>
                          </a:rPr>
                        </m:ctrlPr>
                      </m:dPr>
                      <m:e>
                        <m:eqArr>
                          <m:eqArrPr>
                            <m:ctrlPr>
                              <a:rPr lang="en-US" sz="2200" i="1">
                                <a:solidFill>
                                  <a:srgbClr val="FF0000"/>
                                </a:solidFill>
                                <a:latin typeface="Cambria Math" panose="02040503050406030204" pitchFamily="18" charset="0"/>
                              </a:rPr>
                            </m:ctrlPr>
                          </m:eqArrPr>
                          <m:e>
                            <m:r>
                              <a:rPr lang="en-US" sz="2200" b="0" i="1" smtClean="0">
                                <a:solidFill>
                                  <a:srgbClr val="FF0000"/>
                                </a:solidFill>
                                <a:latin typeface="Cambria Math" panose="02040503050406030204" pitchFamily="18" charset="0"/>
                              </a:rPr>
                              <m:t>𝑝</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𝑎</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𝑦</m:t>
                            </m:r>
                          </m:e>
                          <m:e>
                            <m:r>
                              <a:rPr lang="en-US" sz="2200" b="0" i="1" smtClean="0">
                                <a:solidFill>
                                  <a:srgbClr val="FF0000"/>
                                </a:solidFill>
                                <a:latin typeface="Cambria Math" panose="02040503050406030204" pitchFamily="18" charset="0"/>
                              </a:rPr>
                              <m:t>𝑚</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𝑜</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𝑟</m:t>
                            </m:r>
                          </m:e>
                          <m:e>
                            <m:r>
                              <a:rPr lang="en-US" sz="2200" b="0" i="1" smtClean="0">
                                <a:solidFill>
                                  <a:srgbClr val="FF0000"/>
                                </a:solidFill>
                                <a:latin typeface="Cambria Math" panose="02040503050406030204" pitchFamily="18" charset="0"/>
                              </a:rPr>
                              <m:t>𝑒</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𝑚</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𝑜</m:t>
                            </m:r>
                          </m:e>
                          <m:e>
                            <m:r>
                              <a:rPr lang="en-US" sz="2200" b="0" i="1" smtClean="0">
                                <a:solidFill>
                                  <a:srgbClr val="FF0000"/>
                                </a:solidFill>
                                <a:latin typeface="Cambria Math" panose="02040503050406030204" pitchFamily="18" charset="0"/>
                              </a:rPr>
                              <m:t>𝑛</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𝑒</m:t>
                            </m:r>
                            <m:r>
                              <a:rPr lang="en-US" sz="2200" i="1">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𝑦</m:t>
                            </m:r>
                          </m:e>
                        </m:eqArr>
                      </m:e>
                    </m:d>
                  </m:oMath>
                </a14:m>
                <a:endParaRPr lang="en-US" sz="2200" dirty="0">
                  <a:solidFill>
                    <a:srgbClr val="FF0000"/>
                  </a:solidFill>
                  <a:latin typeface="Times New Roman" panose="02020603050405020304" pitchFamily="18" charset="0"/>
                  <a:cs typeface="Times New Roman" panose="02020603050405020304" pitchFamily="18" charset="0"/>
                </a:endParaRPr>
              </a:p>
              <a:p>
                <a:endParaRPr lang="en-US" sz="2200" dirty="0">
                  <a:solidFill>
                    <a:srgbClr val="FF0000"/>
                  </a:solidFill>
                  <a:latin typeface="Times New Roman" panose="02020603050405020304" pitchFamily="18" charset="0"/>
                  <a:cs typeface="Times New Roman" panose="02020603050405020304" pitchFamily="18" charset="0"/>
                </a:endParaRPr>
              </a:p>
              <a:p>
                <a:r>
                  <a:rPr lang="en-US" sz="2200" dirty="0">
                    <a:solidFill>
                      <a:srgbClr val="FF0000"/>
                    </a:solidFill>
                    <a:latin typeface="Times New Roman" panose="02020603050405020304" pitchFamily="18" charset="0"/>
                    <a:cs typeface="Times New Roman" panose="02020603050405020304" pitchFamily="18" charset="0"/>
                  </a:rPr>
                  <a:t>Therefore, the decrypted text is </a:t>
                </a:r>
                <a:r>
                  <a:rPr lang="en-US" sz="2200" b="1" dirty="0" err="1">
                    <a:solidFill>
                      <a:srgbClr val="FF0000"/>
                    </a:solidFill>
                    <a:latin typeface="Times New Roman" panose="02020603050405020304" pitchFamily="18" charset="0"/>
                    <a:cs typeface="Times New Roman" panose="02020603050405020304" pitchFamily="18" charset="0"/>
                  </a:rPr>
                  <a:t>paymoremoney</a:t>
                </a:r>
                <a:r>
                  <a:rPr lang="en-US" sz="2200" dirty="0">
                    <a:solidFill>
                      <a:srgbClr val="FF0000"/>
                    </a:solidFill>
                    <a:latin typeface="Times New Roman" panose="02020603050405020304" pitchFamily="18" charset="0"/>
                    <a:cs typeface="Times New Roman" panose="02020603050405020304" pitchFamily="18" charset="0"/>
                  </a:rPr>
                  <a:t>.</a:t>
                </a:r>
              </a:p>
              <a:p>
                <a:endParaRPr lang="en-US" sz="2400" dirty="0">
                  <a:solidFill>
                    <a:srgbClr val="FF0000"/>
                  </a:solidFill>
                  <a:latin typeface="Times New Roman" panose="02020603050405020304" pitchFamily="18" charset="0"/>
                  <a:cs typeface="Times New Roman" panose="02020603050405020304" pitchFamily="18" charset="0"/>
                </a:endParaRPr>
              </a:p>
              <a:p>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933774FD-5135-5275-06DB-B30A97C69865}"/>
                  </a:ext>
                </a:extLst>
              </p:cNvPr>
              <p:cNvSpPr>
                <a:spLocks noGrp="1" noRot="1" noChangeAspect="1" noMove="1" noResize="1" noEditPoints="1" noAdjustHandles="1" noChangeArrowheads="1" noChangeShapeType="1" noTextEdit="1"/>
              </p:cNvSpPr>
              <p:nvPr>
                <p:ph idx="1"/>
              </p:nvPr>
            </p:nvSpPr>
            <p:spPr>
              <a:xfrm>
                <a:off x="838199" y="1901517"/>
                <a:ext cx="11157857" cy="4847625"/>
              </a:xfrm>
              <a:blipFill>
                <a:blip r:embed="rId2"/>
                <a:stretch>
                  <a:fillRect l="-601" t="-377"/>
                </a:stretch>
              </a:blipFill>
            </p:spPr>
            <p:txBody>
              <a:bodyPr/>
              <a:lstStyle/>
              <a:p>
                <a:r>
                  <a:rPr lang="en-IN">
                    <a:noFill/>
                  </a:rPr>
                  <a:t> </a:t>
                </a:r>
              </a:p>
            </p:txBody>
          </p:sp>
        </mc:Fallback>
      </mc:AlternateContent>
    </p:spTree>
    <p:extLst>
      <p:ext uri="{BB962C8B-B14F-4D97-AF65-F5344CB8AC3E}">
        <p14:creationId xmlns:p14="http://schemas.microsoft.com/office/powerpoint/2010/main" val="348052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Hill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and Easy to understand and implement with prior knowledge of linear algebra.</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More resistant to statistical attack than that for any other monoalphabetic ciphers.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of matrices adds an additional level of security.</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Limited key size and key space if 2*2 matrix is used as the key.</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Poor efficiency for encrypting and decrypting data using large key matrices.</a:t>
            </a:r>
          </a:p>
        </p:txBody>
      </p:sp>
    </p:spTree>
    <p:extLst>
      <p:ext uri="{BB962C8B-B14F-4D97-AF65-F5344CB8AC3E}">
        <p14:creationId xmlns:p14="http://schemas.microsoft.com/office/powerpoint/2010/main" val="101044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C038-738A-C17A-F0D8-D80616356B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71F364-C45F-C8D8-8436-DF8DF7165856}"/>
              </a:ext>
            </a:extLst>
          </p:cNvPr>
          <p:cNvSpPr>
            <a:spLocks noGrp="1"/>
          </p:cNvSpPr>
          <p:nvPr>
            <p:ph idx="1"/>
          </p:nvPr>
        </p:nvSpPr>
        <p:spPr>
          <a:xfrm>
            <a:off x="838200" y="555171"/>
            <a:ext cx="10515600" cy="5621792"/>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285750" indent="0">
              <a:lnSpc>
                <a:spcPct val="200000"/>
              </a:lnSpc>
              <a:buNone/>
            </a:pPr>
            <a:r>
              <a:rPr lang="en-US" sz="6000" dirty="0">
                <a:latin typeface="Times New Roman" panose="02020603050405020304" pitchFamily="18" charset="0"/>
                <a:cs typeface="Times New Roman" panose="02020603050405020304" pitchFamily="18" charset="0"/>
              </a:rPr>
              <a:t>TRANSPOSITION CIPHERS</a:t>
            </a:r>
          </a:p>
        </p:txBody>
      </p:sp>
    </p:spTree>
    <p:extLst>
      <p:ext uri="{BB962C8B-B14F-4D97-AF65-F5344CB8AC3E}">
        <p14:creationId xmlns:p14="http://schemas.microsoft.com/office/powerpoint/2010/main" val="13707639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Rail Fence Cipher</a:t>
            </a:r>
          </a:p>
        </p:txBody>
      </p:sp>
    </p:spTree>
    <p:extLst>
      <p:ext uri="{BB962C8B-B14F-4D97-AF65-F5344CB8AC3E}">
        <p14:creationId xmlns:p14="http://schemas.microsoft.com/office/powerpoint/2010/main" val="35429024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D7419C-7F66-13B9-4145-A048A7835E53}"/>
              </a:ext>
            </a:extLst>
          </p:cNvPr>
          <p:cNvSpPr>
            <a:spLocks noGrp="1"/>
          </p:cNvSpPr>
          <p:nvPr>
            <p:ph type="title"/>
          </p:nvPr>
        </p:nvSpPr>
        <p:spPr>
          <a:xfrm>
            <a:off x="761802" y="240241"/>
            <a:ext cx="10760054" cy="1228299"/>
          </a:xfrm>
        </p:spPr>
        <p:txBody>
          <a:bodyPr>
            <a:normAutofit/>
          </a:bodyPr>
          <a:lstStyle/>
          <a:p>
            <a:pPr algn="ctr"/>
            <a:r>
              <a:rPr lang="en-US" sz="4000" dirty="0">
                <a:latin typeface="Times New Roman" panose="02020603050405020304" pitchFamily="18" charset="0"/>
                <a:cs typeface="Times New Roman" panose="02020603050405020304" pitchFamily="18" charset="0"/>
              </a:rPr>
              <a:t>Rail Fence Cipher</a:t>
            </a:r>
          </a:p>
        </p:txBody>
      </p:sp>
      <p:sp>
        <p:nvSpPr>
          <p:cNvPr id="3" name="Content Placeholder 2">
            <a:extLst>
              <a:ext uri="{FF2B5EF4-FFF2-40B4-BE49-F238E27FC236}">
                <a16:creationId xmlns:a16="http://schemas.microsoft.com/office/drawing/2014/main" id="{67A8923A-6CA9-F901-2F9E-B87F8210B504}"/>
              </a:ext>
            </a:extLst>
          </p:cNvPr>
          <p:cNvSpPr>
            <a:spLocks noGrp="1"/>
          </p:cNvSpPr>
          <p:nvPr>
            <p:ph idx="1"/>
          </p:nvPr>
        </p:nvSpPr>
        <p:spPr>
          <a:xfrm>
            <a:off x="761801" y="2321476"/>
            <a:ext cx="7130339" cy="3850724"/>
          </a:xfrm>
        </p:spPr>
        <p:txBody>
          <a:bodyPr anchor="ctr">
            <a:noAutofit/>
          </a:bodyPr>
          <a:lstStyle/>
          <a:p>
            <a:r>
              <a:rPr lang="en-US" sz="2000" u="sng" dirty="0">
                <a:solidFill>
                  <a:srgbClr val="FF0000"/>
                </a:solidFill>
                <a:latin typeface="Times New Roman" panose="02020603050405020304" pitchFamily="18" charset="0"/>
                <a:cs typeface="Times New Roman" panose="02020603050405020304" pitchFamily="18" charset="0"/>
              </a:rPr>
              <a:t>Encryption:-</a:t>
            </a:r>
            <a:r>
              <a:rPr lang="en-US" sz="2000" dirty="0">
                <a:latin typeface="Times New Roman" panose="02020603050405020304" pitchFamily="18" charset="0"/>
                <a:cs typeface="Times New Roman" panose="02020603050405020304" pitchFamily="18" charset="0"/>
              </a:rPr>
              <a:t> Write the PT in a zig-zag manner based on </a:t>
            </a:r>
            <a:r>
              <a:rPr lang="en-US" sz="2000">
                <a:latin typeface="Times New Roman" panose="02020603050405020304" pitchFamily="18" charset="0"/>
                <a:cs typeface="Times New Roman" panose="02020603050405020304" pitchFamily="18" charset="0"/>
              </a:rPr>
              <a:t>the depth in a table. </a:t>
            </a:r>
            <a:r>
              <a:rPr lang="en-US" sz="2000" dirty="0">
                <a:latin typeface="Times New Roman" panose="02020603050405020304" pitchFamily="18" charset="0"/>
                <a:cs typeface="Times New Roman" panose="02020603050405020304" pitchFamily="18" charset="0"/>
              </a:rPr>
              <a:t>Number of Rows = depth and Number of Columns = </a:t>
            </a:r>
            <a:r>
              <a:rPr lang="en-US" sz="2000" dirty="0" err="1">
                <a:latin typeface="Times New Roman" panose="02020603050405020304" pitchFamily="18" charset="0"/>
                <a:cs typeface="Times New Roman" panose="02020603050405020304" pitchFamily="18" charset="0"/>
              </a:rPr>
              <a:t>len</a:t>
            </a:r>
            <a:r>
              <a:rPr lang="en-US" sz="2000" dirty="0">
                <a:latin typeface="Times New Roman" panose="02020603050405020304" pitchFamily="18" charset="0"/>
                <a:cs typeface="Times New Roman" panose="02020603050405020304" pitchFamily="18" charset="0"/>
              </a:rPr>
              <a:t>(PT). CT is obtained by reading the characters row-wise.</a:t>
            </a:r>
          </a:p>
          <a:p>
            <a:endParaRPr lang="en-US" sz="2000" dirty="0">
              <a:latin typeface="Times New Roman" panose="02020603050405020304" pitchFamily="18" charset="0"/>
              <a:cs typeface="Times New Roman" panose="02020603050405020304" pitchFamily="18" charset="0"/>
            </a:endParaRPr>
          </a:p>
          <a:p>
            <a:r>
              <a:rPr lang="en-US" sz="2000" u="sng" dirty="0">
                <a:solidFill>
                  <a:srgbClr val="FF0000"/>
                </a:solidFill>
                <a:latin typeface="Times New Roman" panose="02020603050405020304" pitchFamily="18" charset="0"/>
                <a:cs typeface="Times New Roman" panose="02020603050405020304" pitchFamily="18" charset="0"/>
              </a:rPr>
              <a:t>Decryption:-</a:t>
            </a:r>
            <a:r>
              <a:rPr lang="en-US" sz="2000" dirty="0">
                <a:latin typeface="Times New Roman" panose="02020603050405020304" pitchFamily="18" charset="0"/>
                <a:cs typeface="Times New Roman" panose="02020603050405020304" pitchFamily="18" charset="0"/>
              </a:rPr>
              <a:t> Initialize a blank table with Number of Rows = depth and Number of Columns = </a:t>
            </a:r>
            <a:r>
              <a:rPr lang="en-US" sz="2000" dirty="0" err="1">
                <a:latin typeface="Times New Roman" panose="02020603050405020304" pitchFamily="18" charset="0"/>
                <a:cs typeface="Times New Roman" panose="02020603050405020304" pitchFamily="18" charset="0"/>
              </a:rPr>
              <a:t>len</a:t>
            </a:r>
            <a:r>
              <a:rPr lang="en-US" sz="2000" dirty="0">
                <a:latin typeface="Times New Roman" panose="02020603050405020304" pitchFamily="18" charset="0"/>
                <a:cs typeface="Times New Roman" panose="02020603050405020304" pitchFamily="18" charset="0"/>
              </a:rPr>
              <a:t>(CT). Mark the zig-zag path by placing characters only in the first row till you reach the last column, by leaving rest of cells blank. Fill in the blanks by rest of the CT characters. PT is obtained by reading the characters in zig-zag manner.</a:t>
            </a:r>
          </a:p>
        </p:txBody>
      </p:sp>
      <p:pic>
        <p:nvPicPr>
          <p:cNvPr id="5" name="Picture 4" descr="Chicken wire close-up">
            <a:extLst>
              <a:ext uri="{FF2B5EF4-FFF2-40B4-BE49-F238E27FC236}">
                <a16:creationId xmlns:a16="http://schemas.microsoft.com/office/drawing/2014/main" id="{F3F308AD-D476-B338-34EC-D77264AAB475}"/>
              </a:ext>
            </a:extLst>
          </p:cNvPr>
          <p:cNvPicPr>
            <a:picLocks noChangeAspect="1"/>
          </p:cNvPicPr>
          <p:nvPr/>
        </p:nvPicPr>
        <p:blipFill>
          <a:blip r:embed="rId2"/>
          <a:srcRect l="18465" r="22135" b="-2"/>
          <a:stretch/>
        </p:blipFill>
        <p:spPr>
          <a:xfrm>
            <a:off x="8196942" y="2321476"/>
            <a:ext cx="3690257" cy="3807411"/>
          </a:xfrm>
          <a:prstGeom prst="rect">
            <a:avLst/>
          </a:prstGeom>
        </p:spPr>
      </p:pic>
    </p:spTree>
    <p:extLst>
      <p:ext uri="{BB962C8B-B14F-4D97-AF65-F5344CB8AC3E}">
        <p14:creationId xmlns:p14="http://schemas.microsoft.com/office/powerpoint/2010/main" val="14220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6AF-BE18-0081-DFAA-D798E1BF10BE}"/>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E4F5D68C-8584-1007-BFA5-86129140412D}"/>
              </a:ext>
            </a:extLst>
          </p:cNvPr>
          <p:cNvSpPr>
            <a:spLocks noGrp="1"/>
          </p:cNvSpPr>
          <p:nvPr>
            <p:ph idx="1"/>
          </p:nvPr>
        </p:nvSpPr>
        <p:spPr>
          <a:xfrm>
            <a:off x="838200" y="1338943"/>
            <a:ext cx="11049000" cy="4859792"/>
          </a:xfrm>
        </p:spPr>
        <p:txBody>
          <a:bodyPr/>
          <a:lstStyle/>
          <a:p>
            <a:r>
              <a:rPr lang="en-US" dirty="0">
                <a:latin typeface="Times New Roman" panose="02020603050405020304" pitchFamily="18" charset="0"/>
                <a:cs typeface="Times New Roman" panose="02020603050405020304" pitchFamily="18" charset="0"/>
              </a:rPr>
              <a:t>Encrypt the plaintext </a:t>
            </a:r>
            <a:r>
              <a:rPr lang="en-US" b="1" dirty="0">
                <a:latin typeface="Times New Roman" panose="02020603050405020304" pitchFamily="18" charset="0"/>
                <a:cs typeface="Times New Roman" panose="02020603050405020304" pitchFamily="18" charset="0"/>
              </a:rPr>
              <a:t>KANYAKUMARI</a:t>
            </a:r>
            <a:r>
              <a:rPr lang="en-US" dirty="0">
                <a:latin typeface="Times New Roman" panose="02020603050405020304" pitchFamily="18" charset="0"/>
                <a:cs typeface="Times New Roman" panose="02020603050405020304" pitchFamily="18" charset="0"/>
              </a:rPr>
              <a:t> using Rail fence cipher with a depth of 2.</a:t>
            </a:r>
          </a:p>
          <a:p>
            <a:pPr marL="0" indent="0">
              <a:buNone/>
            </a:pPr>
            <a:endParaRPr lang="en-US" dirty="0"/>
          </a:p>
          <a:p>
            <a:pPr marL="0" indent="0">
              <a:buNone/>
            </a:pPr>
            <a:r>
              <a:rPr lang="en-US" u="sng" dirty="0">
                <a:solidFill>
                  <a:srgbClr val="FF0000"/>
                </a:solidFill>
                <a:latin typeface="Times New Roman" panose="02020603050405020304" pitchFamily="18" charset="0"/>
                <a:cs typeface="Times New Roman" panose="02020603050405020304" pitchFamily="18" charset="0"/>
              </a:rPr>
              <a:t>Solution:-</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The ciphertext is </a:t>
            </a:r>
            <a:r>
              <a:rPr lang="en-US" b="1" dirty="0">
                <a:solidFill>
                  <a:srgbClr val="FF0000"/>
                </a:solidFill>
                <a:latin typeface="Times New Roman" panose="02020603050405020304" pitchFamily="18" charset="0"/>
                <a:cs typeface="Times New Roman" panose="02020603050405020304" pitchFamily="18" charset="0"/>
              </a:rPr>
              <a:t>KNAUAIAYKMR</a:t>
            </a:r>
          </a:p>
          <a:p>
            <a:pPr marL="0" indent="0">
              <a:buNone/>
            </a:pPr>
            <a:endParaRPr lang="en-US" dirty="0"/>
          </a:p>
        </p:txBody>
      </p:sp>
      <p:graphicFrame>
        <p:nvGraphicFramePr>
          <p:cNvPr id="4" name="Table 3">
            <a:extLst>
              <a:ext uri="{FF2B5EF4-FFF2-40B4-BE49-F238E27FC236}">
                <a16:creationId xmlns:a16="http://schemas.microsoft.com/office/drawing/2014/main" id="{3BBCA23D-5039-A389-E55E-B74217870436}"/>
              </a:ext>
            </a:extLst>
          </p:cNvPr>
          <p:cNvGraphicFramePr>
            <a:graphicFrameLocks noGrp="1"/>
          </p:cNvGraphicFramePr>
          <p:nvPr>
            <p:extLst>
              <p:ext uri="{D42A27DB-BD31-4B8C-83A1-F6EECF244321}">
                <p14:modId xmlns:p14="http://schemas.microsoft.com/office/powerpoint/2010/main" val="987618255"/>
              </p:ext>
            </p:extLst>
          </p:nvPr>
        </p:nvGraphicFramePr>
        <p:xfrm>
          <a:off x="1335314" y="3549952"/>
          <a:ext cx="8670618" cy="1036320"/>
        </p:xfrm>
        <a:graphic>
          <a:graphicData uri="http://schemas.openxmlformats.org/drawingml/2006/table">
            <a:tbl>
              <a:tblPr firstRow="1" bandRow="1">
                <a:tableStyleId>{5C22544A-7EE6-4342-B048-85BDC9FD1C3A}</a:tableStyleId>
              </a:tblPr>
              <a:tblGrid>
                <a:gridCol w="788238">
                  <a:extLst>
                    <a:ext uri="{9D8B030D-6E8A-4147-A177-3AD203B41FA5}">
                      <a16:colId xmlns:a16="http://schemas.microsoft.com/office/drawing/2014/main" val="3652591198"/>
                    </a:ext>
                  </a:extLst>
                </a:gridCol>
                <a:gridCol w="788238">
                  <a:extLst>
                    <a:ext uri="{9D8B030D-6E8A-4147-A177-3AD203B41FA5}">
                      <a16:colId xmlns:a16="http://schemas.microsoft.com/office/drawing/2014/main" val="304326695"/>
                    </a:ext>
                  </a:extLst>
                </a:gridCol>
                <a:gridCol w="788238">
                  <a:extLst>
                    <a:ext uri="{9D8B030D-6E8A-4147-A177-3AD203B41FA5}">
                      <a16:colId xmlns:a16="http://schemas.microsoft.com/office/drawing/2014/main" val="2710000393"/>
                    </a:ext>
                  </a:extLst>
                </a:gridCol>
                <a:gridCol w="788238">
                  <a:extLst>
                    <a:ext uri="{9D8B030D-6E8A-4147-A177-3AD203B41FA5}">
                      <a16:colId xmlns:a16="http://schemas.microsoft.com/office/drawing/2014/main" val="2591872384"/>
                    </a:ext>
                  </a:extLst>
                </a:gridCol>
                <a:gridCol w="788238">
                  <a:extLst>
                    <a:ext uri="{9D8B030D-6E8A-4147-A177-3AD203B41FA5}">
                      <a16:colId xmlns:a16="http://schemas.microsoft.com/office/drawing/2014/main" val="868136823"/>
                    </a:ext>
                  </a:extLst>
                </a:gridCol>
                <a:gridCol w="788238">
                  <a:extLst>
                    <a:ext uri="{9D8B030D-6E8A-4147-A177-3AD203B41FA5}">
                      <a16:colId xmlns:a16="http://schemas.microsoft.com/office/drawing/2014/main" val="2060767118"/>
                    </a:ext>
                  </a:extLst>
                </a:gridCol>
                <a:gridCol w="788238">
                  <a:extLst>
                    <a:ext uri="{9D8B030D-6E8A-4147-A177-3AD203B41FA5}">
                      <a16:colId xmlns:a16="http://schemas.microsoft.com/office/drawing/2014/main" val="272496990"/>
                    </a:ext>
                  </a:extLst>
                </a:gridCol>
                <a:gridCol w="788238">
                  <a:extLst>
                    <a:ext uri="{9D8B030D-6E8A-4147-A177-3AD203B41FA5}">
                      <a16:colId xmlns:a16="http://schemas.microsoft.com/office/drawing/2014/main" val="3439810506"/>
                    </a:ext>
                  </a:extLst>
                </a:gridCol>
                <a:gridCol w="788238">
                  <a:extLst>
                    <a:ext uri="{9D8B030D-6E8A-4147-A177-3AD203B41FA5}">
                      <a16:colId xmlns:a16="http://schemas.microsoft.com/office/drawing/2014/main" val="2317875664"/>
                    </a:ext>
                  </a:extLst>
                </a:gridCol>
                <a:gridCol w="788238">
                  <a:extLst>
                    <a:ext uri="{9D8B030D-6E8A-4147-A177-3AD203B41FA5}">
                      <a16:colId xmlns:a16="http://schemas.microsoft.com/office/drawing/2014/main" val="4100560809"/>
                    </a:ext>
                  </a:extLst>
                </a:gridCol>
                <a:gridCol w="788238">
                  <a:extLst>
                    <a:ext uri="{9D8B030D-6E8A-4147-A177-3AD203B41FA5}">
                      <a16:colId xmlns:a16="http://schemas.microsoft.com/office/drawing/2014/main" val="2672591658"/>
                    </a:ext>
                  </a:extLst>
                </a:gridCol>
              </a:tblGrid>
              <a:tr h="37084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55463605"/>
                  </a:ext>
                </a:extLst>
              </a:tr>
              <a:tr h="3708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4638687"/>
                  </a:ext>
                </a:extLst>
              </a:tr>
            </a:tbl>
          </a:graphicData>
        </a:graphic>
      </p:graphicFrame>
    </p:spTree>
    <p:extLst>
      <p:ext uri="{BB962C8B-B14F-4D97-AF65-F5344CB8AC3E}">
        <p14:creationId xmlns:p14="http://schemas.microsoft.com/office/powerpoint/2010/main" val="251040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6AF-BE18-0081-DFAA-D798E1BF10BE}"/>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E4F5D68C-8584-1007-BFA5-86129140412D}"/>
              </a:ext>
            </a:extLst>
          </p:cNvPr>
          <p:cNvSpPr>
            <a:spLocks noGrp="1"/>
          </p:cNvSpPr>
          <p:nvPr>
            <p:ph idx="1"/>
          </p:nvPr>
        </p:nvSpPr>
        <p:spPr>
          <a:xfrm>
            <a:off x="838200" y="1338943"/>
            <a:ext cx="11049000" cy="4859792"/>
          </a:xfrm>
        </p:spPr>
        <p:txBody>
          <a:bodyPr/>
          <a:lstStyle/>
          <a:p>
            <a:r>
              <a:rPr lang="en-US" dirty="0">
                <a:latin typeface="Times New Roman" panose="02020603050405020304" pitchFamily="18" charset="0"/>
                <a:cs typeface="Times New Roman" panose="02020603050405020304" pitchFamily="18" charset="0"/>
              </a:rPr>
              <a:t>Decrypt the ciphertext </a:t>
            </a:r>
            <a:r>
              <a:rPr lang="en-US" b="1" dirty="0">
                <a:latin typeface="Times New Roman" panose="02020603050405020304" pitchFamily="18" charset="0"/>
                <a:cs typeface="Times New Roman" panose="02020603050405020304" pitchFamily="18" charset="0"/>
              </a:rPr>
              <a:t>KNAUAIAYKMR</a:t>
            </a:r>
            <a:r>
              <a:rPr lang="en-US" dirty="0">
                <a:latin typeface="Times New Roman" panose="02020603050405020304" pitchFamily="18" charset="0"/>
                <a:cs typeface="Times New Roman" panose="02020603050405020304" pitchFamily="18" charset="0"/>
              </a:rPr>
              <a:t> using Rail fence cipher with a depth of 2.</a:t>
            </a:r>
          </a:p>
          <a:p>
            <a:pPr marL="0" indent="0">
              <a:buNone/>
            </a:pPr>
            <a:endParaRPr lang="en-US" dirty="0"/>
          </a:p>
          <a:p>
            <a:pPr marL="0" indent="0">
              <a:buNone/>
            </a:pPr>
            <a:r>
              <a:rPr lang="en-US" u="sng" dirty="0">
                <a:solidFill>
                  <a:srgbClr val="FF0000"/>
                </a:solidFill>
                <a:latin typeface="Times New Roman" panose="02020603050405020304" pitchFamily="18" charset="0"/>
                <a:cs typeface="Times New Roman" panose="02020603050405020304" pitchFamily="18" charset="0"/>
              </a:rPr>
              <a:t>Solution:-</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Iteration 1:-</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p>
        </p:txBody>
      </p:sp>
      <p:graphicFrame>
        <p:nvGraphicFramePr>
          <p:cNvPr id="4" name="Table 3">
            <a:extLst>
              <a:ext uri="{FF2B5EF4-FFF2-40B4-BE49-F238E27FC236}">
                <a16:creationId xmlns:a16="http://schemas.microsoft.com/office/drawing/2014/main" id="{3BBCA23D-5039-A389-E55E-B74217870436}"/>
              </a:ext>
            </a:extLst>
          </p:cNvPr>
          <p:cNvGraphicFramePr>
            <a:graphicFrameLocks noGrp="1"/>
          </p:cNvGraphicFramePr>
          <p:nvPr>
            <p:extLst>
              <p:ext uri="{D42A27DB-BD31-4B8C-83A1-F6EECF244321}">
                <p14:modId xmlns:p14="http://schemas.microsoft.com/office/powerpoint/2010/main" val="1747145478"/>
              </p:ext>
            </p:extLst>
          </p:nvPr>
        </p:nvGraphicFramePr>
        <p:xfrm>
          <a:off x="1335314" y="4268409"/>
          <a:ext cx="8670618" cy="1036320"/>
        </p:xfrm>
        <a:graphic>
          <a:graphicData uri="http://schemas.openxmlformats.org/drawingml/2006/table">
            <a:tbl>
              <a:tblPr firstRow="1" bandRow="1">
                <a:tableStyleId>{5C22544A-7EE6-4342-B048-85BDC9FD1C3A}</a:tableStyleId>
              </a:tblPr>
              <a:tblGrid>
                <a:gridCol w="788238">
                  <a:extLst>
                    <a:ext uri="{9D8B030D-6E8A-4147-A177-3AD203B41FA5}">
                      <a16:colId xmlns:a16="http://schemas.microsoft.com/office/drawing/2014/main" val="3652591198"/>
                    </a:ext>
                  </a:extLst>
                </a:gridCol>
                <a:gridCol w="788238">
                  <a:extLst>
                    <a:ext uri="{9D8B030D-6E8A-4147-A177-3AD203B41FA5}">
                      <a16:colId xmlns:a16="http://schemas.microsoft.com/office/drawing/2014/main" val="304326695"/>
                    </a:ext>
                  </a:extLst>
                </a:gridCol>
                <a:gridCol w="788238">
                  <a:extLst>
                    <a:ext uri="{9D8B030D-6E8A-4147-A177-3AD203B41FA5}">
                      <a16:colId xmlns:a16="http://schemas.microsoft.com/office/drawing/2014/main" val="2710000393"/>
                    </a:ext>
                  </a:extLst>
                </a:gridCol>
                <a:gridCol w="788238">
                  <a:extLst>
                    <a:ext uri="{9D8B030D-6E8A-4147-A177-3AD203B41FA5}">
                      <a16:colId xmlns:a16="http://schemas.microsoft.com/office/drawing/2014/main" val="2591872384"/>
                    </a:ext>
                  </a:extLst>
                </a:gridCol>
                <a:gridCol w="788238">
                  <a:extLst>
                    <a:ext uri="{9D8B030D-6E8A-4147-A177-3AD203B41FA5}">
                      <a16:colId xmlns:a16="http://schemas.microsoft.com/office/drawing/2014/main" val="868136823"/>
                    </a:ext>
                  </a:extLst>
                </a:gridCol>
                <a:gridCol w="788238">
                  <a:extLst>
                    <a:ext uri="{9D8B030D-6E8A-4147-A177-3AD203B41FA5}">
                      <a16:colId xmlns:a16="http://schemas.microsoft.com/office/drawing/2014/main" val="2060767118"/>
                    </a:ext>
                  </a:extLst>
                </a:gridCol>
                <a:gridCol w="788238">
                  <a:extLst>
                    <a:ext uri="{9D8B030D-6E8A-4147-A177-3AD203B41FA5}">
                      <a16:colId xmlns:a16="http://schemas.microsoft.com/office/drawing/2014/main" val="272496990"/>
                    </a:ext>
                  </a:extLst>
                </a:gridCol>
                <a:gridCol w="788238">
                  <a:extLst>
                    <a:ext uri="{9D8B030D-6E8A-4147-A177-3AD203B41FA5}">
                      <a16:colId xmlns:a16="http://schemas.microsoft.com/office/drawing/2014/main" val="3439810506"/>
                    </a:ext>
                  </a:extLst>
                </a:gridCol>
                <a:gridCol w="788238">
                  <a:extLst>
                    <a:ext uri="{9D8B030D-6E8A-4147-A177-3AD203B41FA5}">
                      <a16:colId xmlns:a16="http://schemas.microsoft.com/office/drawing/2014/main" val="2317875664"/>
                    </a:ext>
                  </a:extLst>
                </a:gridCol>
                <a:gridCol w="788238">
                  <a:extLst>
                    <a:ext uri="{9D8B030D-6E8A-4147-A177-3AD203B41FA5}">
                      <a16:colId xmlns:a16="http://schemas.microsoft.com/office/drawing/2014/main" val="4100560809"/>
                    </a:ext>
                  </a:extLst>
                </a:gridCol>
                <a:gridCol w="788238">
                  <a:extLst>
                    <a:ext uri="{9D8B030D-6E8A-4147-A177-3AD203B41FA5}">
                      <a16:colId xmlns:a16="http://schemas.microsoft.com/office/drawing/2014/main" val="2672591658"/>
                    </a:ext>
                  </a:extLst>
                </a:gridCol>
              </a:tblGrid>
              <a:tr h="37084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55463605"/>
                  </a:ext>
                </a:extLst>
              </a:tr>
              <a:tr h="3708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4638687"/>
                  </a:ext>
                </a:extLst>
              </a:tr>
            </a:tbl>
          </a:graphicData>
        </a:graphic>
      </p:graphicFrame>
    </p:spTree>
    <p:extLst>
      <p:ext uri="{BB962C8B-B14F-4D97-AF65-F5344CB8AC3E}">
        <p14:creationId xmlns:p14="http://schemas.microsoft.com/office/powerpoint/2010/main" val="241248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6AF-BE18-0081-DFAA-D798E1BF10BE}"/>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2 (Contd..)</a:t>
            </a:r>
          </a:p>
        </p:txBody>
      </p:sp>
      <p:sp>
        <p:nvSpPr>
          <p:cNvPr id="3" name="Content Placeholder 2">
            <a:extLst>
              <a:ext uri="{FF2B5EF4-FFF2-40B4-BE49-F238E27FC236}">
                <a16:creationId xmlns:a16="http://schemas.microsoft.com/office/drawing/2014/main" id="{E4F5D68C-8584-1007-BFA5-86129140412D}"/>
              </a:ext>
            </a:extLst>
          </p:cNvPr>
          <p:cNvSpPr>
            <a:spLocks noGrp="1"/>
          </p:cNvSpPr>
          <p:nvPr>
            <p:ph idx="1"/>
          </p:nvPr>
        </p:nvSpPr>
        <p:spPr>
          <a:xfrm>
            <a:off x="838200" y="1338943"/>
            <a:ext cx="11049000" cy="4859792"/>
          </a:xfrm>
        </p:spPr>
        <p:txBody>
          <a:bodyPr/>
          <a:lstStyle/>
          <a:p>
            <a:r>
              <a:rPr lang="en-US" dirty="0">
                <a:solidFill>
                  <a:srgbClr val="FF0000"/>
                </a:solidFill>
                <a:latin typeface="Times New Roman" panose="02020603050405020304" pitchFamily="18" charset="0"/>
                <a:cs typeface="Times New Roman" panose="02020603050405020304" pitchFamily="18" charset="0"/>
              </a:rPr>
              <a:t>Iteration 2:-</a:t>
            </a: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Therefore, the decrypted text is </a:t>
            </a:r>
            <a:r>
              <a:rPr lang="en-US" b="1" dirty="0">
                <a:solidFill>
                  <a:srgbClr val="FF0000"/>
                </a:solidFill>
                <a:latin typeface="Times New Roman" panose="02020603050405020304" pitchFamily="18" charset="0"/>
                <a:cs typeface="Times New Roman" panose="02020603050405020304" pitchFamily="18" charset="0"/>
              </a:rPr>
              <a:t>KANYAKUMARI</a:t>
            </a:r>
            <a:r>
              <a:rPr lang="en-US" dirty="0">
                <a:solidFill>
                  <a:srgbClr val="FF0000"/>
                </a:solidFill>
                <a:latin typeface="Times New Roman" panose="02020603050405020304" pitchFamily="18" charset="0"/>
                <a:cs typeface="Times New Roman" panose="02020603050405020304" pitchFamily="18" charset="0"/>
              </a:rPr>
              <a:t>.</a:t>
            </a:r>
          </a:p>
        </p:txBody>
      </p:sp>
      <p:graphicFrame>
        <p:nvGraphicFramePr>
          <p:cNvPr id="4" name="Table 3">
            <a:extLst>
              <a:ext uri="{FF2B5EF4-FFF2-40B4-BE49-F238E27FC236}">
                <a16:creationId xmlns:a16="http://schemas.microsoft.com/office/drawing/2014/main" id="{3BBCA23D-5039-A389-E55E-B74217870436}"/>
              </a:ext>
            </a:extLst>
          </p:cNvPr>
          <p:cNvGraphicFramePr>
            <a:graphicFrameLocks noGrp="1"/>
          </p:cNvGraphicFramePr>
          <p:nvPr>
            <p:extLst>
              <p:ext uri="{D42A27DB-BD31-4B8C-83A1-F6EECF244321}">
                <p14:modId xmlns:p14="http://schemas.microsoft.com/office/powerpoint/2010/main" val="1052774607"/>
              </p:ext>
            </p:extLst>
          </p:nvPr>
        </p:nvGraphicFramePr>
        <p:xfrm>
          <a:off x="1239153" y="1895323"/>
          <a:ext cx="8670618" cy="1036320"/>
        </p:xfrm>
        <a:graphic>
          <a:graphicData uri="http://schemas.openxmlformats.org/drawingml/2006/table">
            <a:tbl>
              <a:tblPr firstRow="1" bandRow="1">
                <a:tableStyleId>{5C22544A-7EE6-4342-B048-85BDC9FD1C3A}</a:tableStyleId>
              </a:tblPr>
              <a:tblGrid>
                <a:gridCol w="788238">
                  <a:extLst>
                    <a:ext uri="{9D8B030D-6E8A-4147-A177-3AD203B41FA5}">
                      <a16:colId xmlns:a16="http://schemas.microsoft.com/office/drawing/2014/main" val="3652591198"/>
                    </a:ext>
                  </a:extLst>
                </a:gridCol>
                <a:gridCol w="788238">
                  <a:extLst>
                    <a:ext uri="{9D8B030D-6E8A-4147-A177-3AD203B41FA5}">
                      <a16:colId xmlns:a16="http://schemas.microsoft.com/office/drawing/2014/main" val="304326695"/>
                    </a:ext>
                  </a:extLst>
                </a:gridCol>
                <a:gridCol w="788238">
                  <a:extLst>
                    <a:ext uri="{9D8B030D-6E8A-4147-A177-3AD203B41FA5}">
                      <a16:colId xmlns:a16="http://schemas.microsoft.com/office/drawing/2014/main" val="2710000393"/>
                    </a:ext>
                  </a:extLst>
                </a:gridCol>
                <a:gridCol w="788238">
                  <a:extLst>
                    <a:ext uri="{9D8B030D-6E8A-4147-A177-3AD203B41FA5}">
                      <a16:colId xmlns:a16="http://schemas.microsoft.com/office/drawing/2014/main" val="2591872384"/>
                    </a:ext>
                  </a:extLst>
                </a:gridCol>
                <a:gridCol w="788238">
                  <a:extLst>
                    <a:ext uri="{9D8B030D-6E8A-4147-A177-3AD203B41FA5}">
                      <a16:colId xmlns:a16="http://schemas.microsoft.com/office/drawing/2014/main" val="868136823"/>
                    </a:ext>
                  </a:extLst>
                </a:gridCol>
                <a:gridCol w="788238">
                  <a:extLst>
                    <a:ext uri="{9D8B030D-6E8A-4147-A177-3AD203B41FA5}">
                      <a16:colId xmlns:a16="http://schemas.microsoft.com/office/drawing/2014/main" val="2060767118"/>
                    </a:ext>
                  </a:extLst>
                </a:gridCol>
                <a:gridCol w="788238">
                  <a:extLst>
                    <a:ext uri="{9D8B030D-6E8A-4147-A177-3AD203B41FA5}">
                      <a16:colId xmlns:a16="http://schemas.microsoft.com/office/drawing/2014/main" val="272496990"/>
                    </a:ext>
                  </a:extLst>
                </a:gridCol>
                <a:gridCol w="788238">
                  <a:extLst>
                    <a:ext uri="{9D8B030D-6E8A-4147-A177-3AD203B41FA5}">
                      <a16:colId xmlns:a16="http://schemas.microsoft.com/office/drawing/2014/main" val="3439810506"/>
                    </a:ext>
                  </a:extLst>
                </a:gridCol>
                <a:gridCol w="788238">
                  <a:extLst>
                    <a:ext uri="{9D8B030D-6E8A-4147-A177-3AD203B41FA5}">
                      <a16:colId xmlns:a16="http://schemas.microsoft.com/office/drawing/2014/main" val="2317875664"/>
                    </a:ext>
                  </a:extLst>
                </a:gridCol>
                <a:gridCol w="788238">
                  <a:extLst>
                    <a:ext uri="{9D8B030D-6E8A-4147-A177-3AD203B41FA5}">
                      <a16:colId xmlns:a16="http://schemas.microsoft.com/office/drawing/2014/main" val="4100560809"/>
                    </a:ext>
                  </a:extLst>
                </a:gridCol>
                <a:gridCol w="788238">
                  <a:extLst>
                    <a:ext uri="{9D8B030D-6E8A-4147-A177-3AD203B41FA5}">
                      <a16:colId xmlns:a16="http://schemas.microsoft.com/office/drawing/2014/main" val="2672591658"/>
                    </a:ext>
                  </a:extLst>
                </a:gridCol>
              </a:tblGrid>
              <a:tr h="37084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55463605"/>
                  </a:ext>
                </a:extLst>
              </a:tr>
              <a:tr h="3708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4638687"/>
                  </a:ext>
                </a:extLst>
              </a:tr>
            </a:tbl>
          </a:graphicData>
        </a:graphic>
      </p:graphicFrame>
    </p:spTree>
    <p:extLst>
      <p:ext uri="{BB962C8B-B14F-4D97-AF65-F5344CB8AC3E}">
        <p14:creationId xmlns:p14="http://schemas.microsoft.com/office/powerpoint/2010/main" val="380465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E2BDC-D25C-8DE6-C4A3-3118BD43A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7DC87-5E31-6989-B47A-A0A50B067B58}"/>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102F08CD-60CD-FE9E-689C-AF0DE6AAA024}"/>
              </a:ext>
            </a:extLst>
          </p:cNvPr>
          <p:cNvSpPr>
            <a:spLocks noGrp="1"/>
          </p:cNvSpPr>
          <p:nvPr>
            <p:ph idx="1"/>
          </p:nvPr>
        </p:nvSpPr>
        <p:spPr>
          <a:xfrm>
            <a:off x="838200" y="1338943"/>
            <a:ext cx="11049000" cy="4859792"/>
          </a:xfrm>
        </p:spPr>
        <p:txBody>
          <a:bodyPr/>
          <a:lstStyle/>
          <a:p>
            <a:r>
              <a:rPr lang="en-US" dirty="0">
                <a:latin typeface="Times New Roman" panose="02020603050405020304" pitchFamily="18" charset="0"/>
                <a:cs typeface="Times New Roman" panose="02020603050405020304" pitchFamily="18" charset="0"/>
              </a:rPr>
              <a:t>Encrypt the plaintext </a:t>
            </a:r>
            <a:r>
              <a:rPr lang="en-US" b="1" dirty="0">
                <a:latin typeface="Times New Roman" panose="02020603050405020304" pitchFamily="18" charset="0"/>
                <a:cs typeface="Times New Roman" panose="02020603050405020304" pitchFamily="18" charset="0"/>
              </a:rPr>
              <a:t>VISHAKHAPATNAM</a:t>
            </a:r>
            <a:r>
              <a:rPr lang="en-US" dirty="0">
                <a:latin typeface="Times New Roman" panose="02020603050405020304" pitchFamily="18" charset="0"/>
                <a:cs typeface="Times New Roman" panose="02020603050405020304" pitchFamily="18" charset="0"/>
              </a:rPr>
              <a:t> using Rail fence cipher with a depth of 3.</a:t>
            </a:r>
          </a:p>
          <a:p>
            <a:pPr marL="0" indent="0">
              <a:buNone/>
            </a:pPr>
            <a:endParaRPr lang="en-US" dirty="0"/>
          </a:p>
          <a:p>
            <a:pPr marL="0" indent="0">
              <a:buNone/>
            </a:pPr>
            <a:r>
              <a:rPr lang="en-US" u="sng" dirty="0">
                <a:solidFill>
                  <a:srgbClr val="FF0000"/>
                </a:solidFill>
                <a:latin typeface="Times New Roman" panose="02020603050405020304" pitchFamily="18" charset="0"/>
                <a:cs typeface="Times New Roman" panose="02020603050405020304" pitchFamily="18" charset="0"/>
              </a:rPr>
              <a:t>Solution:-</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The ciphertext is </a:t>
            </a:r>
            <a:r>
              <a:rPr lang="en-US" b="1" dirty="0">
                <a:solidFill>
                  <a:srgbClr val="FF0000"/>
                </a:solidFill>
                <a:latin typeface="Times New Roman" panose="02020603050405020304" pitchFamily="18" charset="0"/>
                <a:cs typeface="Times New Roman" panose="02020603050405020304" pitchFamily="18" charset="0"/>
              </a:rPr>
              <a:t>VAPAIHKAANMSHT</a:t>
            </a:r>
          </a:p>
          <a:p>
            <a:pPr marL="0" indent="0">
              <a:buNone/>
            </a:pPr>
            <a:endParaRPr lang="en-US" dirty="0"/>
          </a:p>
        </p:txBody>
      </p:sp>
      <p:graphicFrame>
        <p:nvGraphicFramePr>
          <p:cNvPr id="4" name="Table 3">
            <a:extLst>
              <a:ext uri="{FF2B5EF4-FFF2-40B4-BE49-F238E27FC236}">
                <a16:creationId xmlns:a16="http://schemas.microsoft.com/office/drawing/2014/main" id="{6628AFA0-454C-396D-BDD6-999845243296}"/>
              </a:ext>
            </a:extLst>
          </p:cNvPr>
          <p:cNvGraphicFramePr>
            <a:graphicFrameLocks noGrp="1"/>
          </p:cNvGraphicFramePr>
          <p:nvPr>
            <p:extLst>
              <p:ext uri="{D42A27DB-BD31-4B8C-83A1-F6EECF244321}">
                <p14:modId xmlns:p14="http://schemas.microsoft.com/office/powerpoint/2010/main" val="2388959808"/>
              </p:ext>
            </p:extLst>
          </p:nvPr>
        </p:nvGraphicFramePr>
        <p:xfrm>
          <a:off x="1335314" y="3549952"/>
          <a:ext cx="8670620" cy="1554480"/>
        </p:xfrm>
        <a:graphic>
          <a:graphicData uri="http://schemas.openxmlformats.org/drawingml/2006/table">
            <a:tbl>
              <a:tblPr firstRow="1" bandRow="1">
                <a:tableStyleId>{5C22544A-7EE6-4342-B048-85BDC9FD1C3A}</a:tableStyleId>
              </a:tblPr>
              <a:tblGrid>
                <a:gridCol w="619330">
                  <a:extLst>
                    <a:ext uri="{9D8B030D-6E8A-4147-A177-3AD203B41FA5}">
                      <a16:colId xmlns:a16="http://schemas.microsoft.com/office/drawing/2014/main" val="3652591198"/>
                    </a:ext>
                  </a:extLst>
                </a:gridCol>
                <a:gridCol w="619330">
                  <a:extLst>
                    <a:ext uri="{9D8B030D-6E8A-4147-A177-3AD203B41FA5}">
                      <a16:colId xmlns:a16="http://schemas.microsoft.com/office/drawing/2014/main" val="304326695"/>
                    </a:ext>
                  </a:extLst>
                </a:gridCol>
                <a:gridCol w="619330">
                  <a:extLst>
                    <a:ext uri="{9D8B030D-6E8A-4147-A177-3AD203B41FA5}">
                      <a16:colId xmlns:a16="http://schemas.microsoft.com/office/drawing/2014/main" val="2710000393"/>
                    </a:ext>
                  </a:extLst>
                </a:gridCol>
                <a:gridCol w="619330">
                  <a:extLst>
                    <a:ext uri="{9D8B030D-6E8A-4147-A177-3AD203B41FA5}">
                      <a16:colId xmlns:a16="http://schemas.microsoft.com/office/drawing/2014/main" val="2591872384"/>
                    </a:ext>
                  </a:extLst>
                </a:gridCol>
                <a:gridCol w="619330">
                  <a:extLst>
                    <a:ext uri="{9D8B030D-6E8A-4147-A177-3AD203B41FA5}">
                      <a16:colId xmlns:a16="http://schemas.microsoft.com/office/drawing/2014/main" val="868136823"/>
                    </a:ext>
                  </a:extLst>
                </a:gridCol>
                <a:gridCol w="619330">
                  <a:extLst>
                    <a:ext uri="{9D8B030D-6E8A-4147-A177-3AD203B41FA5}">
                      <a16:colId xmlns:a16="http://schemas.microsoft.com/office/drawing/2014/main" val="2060767118"/>
                    </a:ext>
                  </a:extLst>
                </a:gridCol>
                <a:gridCol w="619330">
                  <a:extLst>
                    <a:ext uri="{9D8B030D-6E8A-4147-A177-3AD203B41FA5}">
                      <a16:colId xmlns:a16="http://schemas.microsoft.com/office/drawing/2014/main" val="272496990"/>
                    </a:ext>
                  </a:extLst>
                </a:gridCol>
                <a:gridCol w="619330">
                  <a:extLst>
                    <a:ext uri="{9D8B030D-6E8A-4147-A177-3AD203B41FA5}">
                      <a16:colId xmlns:a16="http://schemas.microsoft.com/office/drawing/2014/main" val="3439810506"/>
                    </a:ext>
                  </a:extLst>
                </a:gridCol>
                <a:gridCol w="619330">
                  <a:extLst>
                    <a:ext uri="{9D8B030D-6E8A-4147-A177-3AD203B41FA5}">
                      <a16:colId xmlns:a16="http://schemas.microsoft.com/office/drawing/2014/main" val="2317875664"/>
                    </a:ext>
                  </a:extLst>
                </a:gridCol>
                <a:gridCol w="619330">
                  <a:extLst>
                    <a:ext uri="{9D8B030D-6E8A-4147-A177-3AD203B41FA5}">
                      <a16:colId xmlns:a16="http://schemas.microsoft.com/office/drawing/2014/main" val="4100560809"/>
                    </a:ext>
                  </a:extLst>
                </a:gridCol>
                <a:gridCol w="619330">
                  <a:extLst>
                    <a:ext uri="{9D8B030D-6E8A-4147-A177-3AD203B41FA5}">
                      <a16:colId xmlns:a16="http://schemas.microsoft.com/office/drawing/2014/main" val="2672591658"/>
                    </a:ext>
                  </a:extLst>
                </a:gridCol>
                <a:gridCol w="619330">
                  <a:extLst>
                    <a:ext uri="{9D8B030D-6E8A-4147-A177-3AD203B41FA5}">
                      <a16:colId xmlns:a16="http://schemas.microsoft.com/office/drawing/2014/main" val="158204471"/>
                    </a:ext>
                  </a:extLst>
                </a:gridCol>
                <a:gridCol w="619330">
                  <a:extLst>
                    <a:ext uri="{9D8B030D-6E8A-4147-A177-3AD203B41FA5}">
                      <a16:colId xmlns:a16="http://schemas.microsoft.com/office/drawing/2014/main" val="3238769826"/>
                    </a:ext>
                  </a:extLst>
                </a:gridCol>
                <a:gridCol w="619330">
                  <a:extLst>
                    <a:ext uri="{9D8B030D-6E8A-4147-A177-3AD203B41FA5}">
                      <a16:colId xmlns:a16="http://schemas.microsoft.com/office/drawing/2014/main" val="921320721"/>
                    </a:ext>
                  </a:extLst>
                </a:gridCol>
              </a:tblGrid>
              <a:tr h="37084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55463605"/>
                  </a:ext>
                </a:extLst>
              </a:tr>
              <a:tr h="370840">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54638687"/>
                  </a:ext>
                </a:extLst>
              </a:tr>
              <a:tr h="3708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31444880"/>
                  </a:ext>
                </a:extLst>
              </a:tr>
            </a:tbl>
          </a:graphicData>
        </a:graphic>
      </p:graphicFrame>
    </p:spTree>
    <p:extLst>
      <p:ext uri="{BB962C8B-B14F-4D97-AF65-F5344CB8AC3E}">
        <p14:creationId xmlns:p14="http://schemas.microsoft.com/office/powerpoint/2010/main" val="29983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6AF-BE18-0081-DFAA-D798E1BF10BE}"/>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4</a:t>
            </a:r>
          </a:p>
        </p:txBody>
      </p:sp>
      <p:sp>
        <p:nvSpPr>
          <p:cNvPr id="3" name="Content Placeholder 2">
            <a:extLst>
              <a:ext uri="{FF2B5EF4-FFF2-40B4-BE49-F238E27FC236}">
                <a16:creationId xmlns:a16="http://schemas.microsoft.com/office/drawing/2014/main" id="{E4F5D68C-8584-1007-BFA5-86129140412D}"/>
              </a:ext>
            </a:extLst>
          </p:cNvPr>
          <p:cNvSpPr>
            <a:spLocks noGrp="1"/>
          </p:cNvSpPr>
          <p:nvPr>
            <p:ph idx="1"/>
          </p:nvPr>
        </p:nvSpPr>
        <p:spPr>
          <a:xfrm>
            <a:off x="838200" y="1338943"/>
            <a:ext cx="11049000" cy="4859792"/>
          </a:xfrm>
        </p:spPr>
        <p:txBody>
          <a:bodyPr/>
          <a:lstStyle/>
          <a:p>
            <a:r>
              <a:rPr lang="en-US" dirty="0">
                <a:latin typeface="Times New Roman" panose="02020603050405020304" pitchFamily="18" charset="0"/>
                <a:cs typeface="Times New Roman" panose="02020603050405020304" pitchFamily="18" charset="0"/>
              </a:rPr>
              <a:t>Decrypt the ciphertext </a:t>
            </a:r>
            <a:r>
              <a:rPr lang="en-US" b="1" dirty="0">
                <a:latin typeface="Times New Roman" panose="02020603050405020304" pitchFamily="18" charset="0"/>
                <a:cs typeface="Times New Roman" panose="02020603050405020304" pitchFamily="18" charset="0"/>
              </a:rPr>
              <a:t>CUNOOPTREWRSMETK</a:t>
            </a:r>
            <a:r>
              <a:rPr lang="en-US" dirty="0">
                <a:latin typeface="Times New Roman" panose="02020603050405020304" pitchFamily="18" charset="0"/>
                <a:cs typeface="Times New Roman" panose="02020603050405020304" pitchFamily="18" charset="0"/>
              </a:rPr>
              <a:t> using Rail fence cipher with a depth of 3.</a:t>
            </a:r>
          </a:p>
          <a:p>
            <a:pPr marL="0" indent="0">
              <a:buNone/>
            </a:pPr>
            <a:endParaRPr lang="en-US" dirty="0"/>
          </a:p>
          <a:p>
            <a:pPr marL="0" indent="0">
              <a:buNone/>
            </a:pPr>
            <a:r>
              <a:rPr lang="en-US" u="sng" dirty="0">
                <a:solidFill>
                  <a:srgbClr val="FF0000"/>
                </a:solidFill>
                <a:latin typeface="Times New Roman" panose="02020603050405020304" pitchFamily="18" charset="0"/>
                <a:cs typeface="Times New Roman" panose="02020603050405020304" pitchFamily="18" charset="0"/>
              </a:rPr>
              <a:t>Solution:-</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Iteration 1:-</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en-US" dirty="0"/>
          </a:p>
        </p:txBody>
      </p:sp>
      <p:graphicFrame>
        <p:nvGraphicFramePr>
          <p:cNvPr id="5" name="Table 4">
            <a:extLst>
              <a:ext uri="{FF2B5EF4-FFF2-40B4-BE49-F238E27FC236}">
                <a16:creationId xmlns:a16="http://schemas.microsoft.com/office/drawing/2014/main" id="{8E7292BF-D10E-9F8F-C5B7-614976AEA40F}"/>
              </a:ext>
            </a:extLst>
          </p:cNvPr>
          <p:cNvGraphicFramePr>
            <a:graphicFrameLocks noGrp="1"/>
          </p:cNvGraphicFramePr>
          <p:nvPr>
            <p:extLst>
              <p:ext uri="{D42A27DB-BD31-4B8C-83A1-F6EECF244321}">
                <p14:modId xmlns:p14="http://schemas.microsoft.com/office/powerpoint/2010/main" val="1563564608"/>
              </p:ext>
            </p:extLst>
          </p:nvPr>
        </p:nvGraphicFramePr>
        <p:xfrm>
          <a:off x="435429" y="4406537"/>
          <a:ext cx="11255824" cy="1554480"/>
        </p:xfrm>
        <a:graphic>
          <a:graphicData uri="http://schemas.openxmlformats.org/drawingml/2006/table">
            <a:tbl>
              <a:tblPr firstRow="1" bandRow="1">
                <a:tableStyleId>{5C22544A-7EE6-4342-B048-85BDC9FD1C3A}</a:tableStyleId>
              </a:tblPr>
              <a:tblGrid>
                <a:gridCol w="703489">
                  <a:extLst>
                    <a:ext uri="{9D8B030D-6E8A-4147-A177-3AD203B41FA5}">
                      <a16:colId xmlns:a16="http://schemas.microsoft.com/office/drawing/2014/main" val="1809615264"/>
                    </a:ext>
                  </a:extLst>
                </a:gridCol>
                <a:gridCol w="703489">
                  <a:extLst>
                    <a:ext uri="{9D8B030D-6E8A-4147-A177-3AD203B41FA5}">
                      <a16:colId xmlns:a16="http://schemas.microsoft.com/office/drawing/2014/main" val="2534278392"/>
                    </a:ext>
                  </a:extLst>
                </a:gridCol>
                <a:gridCol w="703489">
                  <a:extLst>
                    <a:ext uri="{9D8B030D-6E8A-4147-A177-3AD203B41FA5}">
                      <a16:colId xmlns:a16="http://schemas.microsoft.com/office/drawing/2014/main" val="1551769875"/>
                    </a:ext>
                  </a:extLst>
                </a:gridCol>
                <a:gridCol w="703489">
                  <a:extLst>
                    <a:ext uri="{9D8B030D-6E8A-4147-A177-3AD203B41FA5}">
                      <a16:colId xmlns:a16="http://schemas.microsoft.com/office/drawing/2014/main" val="2869032900"/>
                    </a:ext>
                  </a:extLst>
                </a:gridCol>
                <a:gridCol w="703489">
                  <a:extLst>
                    <a:ext uri="{9D8B030D-6E8A-4147-A177-3AD203B41FA5}">
                      <a16:colId xmlns:a16="http://schemas.microsoft.com/office/drawing/2014/main" val="3536983787"/>
                    </a:ext>
                  </a:extLst>
                </a:gridCol>
                <a:gridCol w="703489">
                  <a:extLst>
                    <a:ext uri="{9D8B030D-6E8A-4147-A177-3AD203B41FA5}">
                      <a16:colId xmlns:a16="http://schemas.microsoft.com/office/drawing/2014/main" val="3029179888"/>
                    </a:ext>
                  </a:extLst>
                </a:gridCol>
                <a:gridCol w="703489">
                  <a:extLst>
                    <a:ext uri="{9D8B030D-6E8A-4147-A177-3AD203B41FA5}">
                      <a16:colId xmlns:a16="http://schemas.microsoft.com/office/drawing/2014/main" val="2367173185"/>
                    </a:ext>
                  </a:extLst>
                </a:gridCol>
                <a:gridCol w="703489">
                  <a:extLst>
                    <a:ext uri="{9D8B030D-6E8A-4147-A177-3AD203B41FA5}">
                      <a16:colId xmlns:a16="http://schemas.microsoft.com/office/drawing/2014/main" val="321841984"/>
                    </a:ext>
                  </a:extLst>
                </a:gridCol>
                <a:gridCol w="703489">
                  <a:extLst>
                    <a:ext uri="{9D8B030D-6E8A-4147-A177-3AD203B41FA5}">
                      <a16:colId xmlns:a16="http://schemas.microsoft.com/office/drawing/2014/main" val="3175819984"/>
                    </a:ext>
                  </a:extLst>
                </a:gridCol>
                <a:gridCol w="703489">
                  <a:extLst>
                    <a:ext uri="{9D8B030D-6E8A-4147-A177-3AD203B41FA5}">
                      <a16:colId xmlns:a16="http://schemas.microsoft.com/office/drawing/2014/main" val="1290892156"/>
                    </a:ext>
                  </a:extLst>
                </a:gridCol>
                <a:gridCol w="703489">
                  <a:extLst>
                    <a:ext uri="{9D8B030D-6E8A-4147-A177-3AD203B41FA5}">
                      <a16:colId xmlns:a16="http://schemas.microsoft.com/office/drawing/2014/main" val="1287496197"/>
                    </a:ext>
                  </a:extLst>
                </a:gridCol>
                <a:gridCol w="703489">
                  <a:extLst>
                    <a:ext uri="{9D8B030D-6E8A-4147-A177-3AD203B41FA5}">
                      <a16:colId xmlns:a16="http://schemas.microsoft.com/office/drawing/2014/main" val="2618453028"/>
                    </a:ext>
                  </a:extLst>
                </a:gridCol>
                <a:gridCol w="703489">
                  <a:extLst>
                    <a:ext uri="{9D8B030D-6E8A-4147-A177-3AD203B41FA5}">
                      <a16:colId xmlns:a16="http://schemas.microsoft.com/office/drawing/2014/main" val="2083118620"/>
                    </a:ext>
                  </a:extLst>
                </a:gridCol>
                <a:gridCol w="703489">
                  <a:extLst>
                    <a:ext uri="{9D8B030D-6E8A-4147-A177-3AD203B41FA5}">
                      <a16:colId xmlns:a16="http://schemas.microsoft.com/office/drawing/2014/main" val="2098102330"/>
                    </a:ext>
                  </a:extLst>
                </a:gridCol>
                <a:gridCol w="703489">
                  <a:extLst>
                    <a:ext uri="{9D8B030D-6E8A-4147-A177-3AD203B41FA5}">
                      <a16:colId xmlns:a16="http://schemas.microsoft.com/office/drawing/2014/main" val="4237285696"/>
                    </a:ext>
                  </a:extLst>
                </a:gridCol>
                <a:gridCol w="703489">
                  <a:extLst>
                    <a:ext uri="{9D8B030D-6E8A-4147-A177-3AD203B41FA5}">
                      <a16:colId xmlns:a16="http://schemas.microsoft.com/office/drawing/2014/main" val="3988901011"/>
                    </a:ext>
                  </a:extLst>
                </a:gridCol>
              </a:tblGrid>
              <a:tr h="494211">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982229752"/>
                  </a:ext>
                </a:extLst>
              </a:tr>
              <a:tr h="494211">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32156598"/>
                  </a:ext>
                </a:extLst>
              </a:tr>
              <a:tr h="494211">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72159441"/>
                  </a:ext>
                </a:extLst>
              </a:tr>
            </a:tbl>
          </a:graphicData>
        </a:graphic>
      </p:graphicFrame>
    </p:spTree>
    <p:extLst>
      <p:ext uri="{BB962C8B-B14F-4D97-AF65-F5344CB8AC3E}">
        <p14:creationId xmlns:p14="http://schemas.microsoft.com/office/powerpoint/2010/main" val="85922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36AF-BE18-0081-DFAA-D798E1BF10BE}"/>
              </a:ext>
            </a:extLst>
          </p:cNvPr>
          <p:cNvSpPr>
            <a:spLocks noGrp="1"/>
          </p:cNvSpPr>
          <p:nvPr>
            <p:ph type="title"/>
          </p:nvPr>
        </p:nvSpPr>
        <p:spPr>
          <a:xfrm>
            <a:off x="838200" y="365126"/>
            <a:ext cx="10515600" cy="821418"/>
          </a:xfrm>
          <a:ln>
            <a:solidFill>
              <a:srgbClr val="C00000"/>
            </a:solidFill>
          </a:ln>
        </p:spPr>
        <p:txBody>
          <a:bodyPr>
            <a:normAutofit/>
          </a:bodyPr>
          <a:lstStyle/>
          <a:p>
            <a:pPr algn="ctr"/>
            <a:r>
              <a:rPr lang="en-US" sz="4800" dirty="0">
                <a:latin typeface="Times New Roman" panose="02020603050405020304" pitchFamily="18" charset="0"/>
                <a:cs typeface="Times New Roman" panose="02020603050405020304" pitchFamily="18" charset="0"/>
              </a:rPr>
              <a:t>Numerical 4 (Contd..)</a:t>
            </a:r>
          </a:p>
        </p:txBody>
      </p:sp>
      <p:sp>
        <p:nvSpPr>
          <p:cNvPr id="3" name="Content Placeholder 2">
            <a:extLst>
              <a:ext uri="{FF2B5EF4-FFF2-40B4-BE49-F238E27FC236}">
                <a16:creationId xmlns:a16="http://schemas.microsoft.com/office/drawing/2014/main" id="{E4F5D68C-8584-1007-BFA5-86129140412D}"/>
              </a:ext>
            </a:extLst>
          </p:cNvPr>
          <p:cNvSpPr>
            <a:spLocks noGrp="1"/>
          </p:cNvSpPr>
          <p:nvPr>
            <p:ph idx="1"/>
          </p:nvPr>
        </p:nvSpPr>
        <p:spPr>
          <a:xfrm>
            <a:off x="838200" y="1338943"/>
            <a:ext cx="11049000" cy="4859792"/>
          </a:xfrm>
        </p:spPr>
        <p:txBody>
          <a:bodyPr/>
          <a:lstStyle/>
          <a:p>
            <a:r>
              <a:rPr lang="en-US" dirty="0">
                <a:solidFill>
                  <a:srgbClr val="FF0000"/>
                </a:solidFill>
                <a:latin typeface="Times New Roman" panose="02020603050405020304" pitchFamily="18" charset="0"/>
                <a:cs typeface="Times New Roman" panose="02020603050405020304" pitchFamily="18" charset="0"/>
              </a:rPr>
              <a:t>Iteration 2:-</a:t>
            </a: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Therefore, the decrypted text is </a:t>
            </a:r>
            <a:r>
              <a:rPr lang="en-US" b="1" dirty="0">
                <a:solidFill>
                  <a:srgbClr val="FF0000"/>
                </a:solidFill>
                <a:latin typeface="Times New Roman" panose="02020603050405020304" pitchFamily="18" charset="0"/>
                <a:cs typeface="Times New Roman" panose="02020603050405020304" pitchFamily="18" charset="0"/>
              </a:rPr>
              <a:t>COMPUTERNETWORKS</a:t>
            </a:r>
            <a:r>
              <a:rPr lang="en-US" dirty="0">
                <a:solidFill>
                  <a:srgbClr val="FF0000"/>
                </a:solidFill>
                <a:latin typeface="Times New Roman" panose="02020603050405020304" pitchFamily="18" charset="0"/>
                <a:cs typeface="Times New Roman" panose="02020603050405020304" pitchFamily="18" charset="0"/>
              </a:rPr>
              <a:t>.</a:t>
            </a:r>
          </a:p>
        </p:txBody>
      </p:sp>
      <p:graphicFrame>
        <p:nvGraphicFramePr>
          <p:cNvPr id="5" name="Table 4">
            <a:extLst>
              <a:ext uri="{FF2B5EF4-FFF2-40B4-BE49-F238E27FC236}">
                <a16:creationId xmlns:a16="http://schemas.microsoft.com/office/drawing/2014/main" id="{D1F2AD55-1AC7-FF97-2D7C-210A2A7F1471}"/>
              </a:ext>
            </a:extLst>
          </p:cNvPr>
          <p:cNvGraphicFramePr>
            <a:graphicFrameLocks noGrp="1"/>
          </p:cNvGraphicFramePr>
          <p:nvPr>
            <p:extLst>
              <p:ext uri="{D42A27DB-BD31-4B8C-83A1-F6EECF244321}">
                <p14:modId xmlns:p14="http://schemas.microsoft.com/office/powerpoint/2010/main" val="3325482415"/>
              </p:ext>
            </p:extLst>
          </p:nvPr>
        </p:nvGraphicFramePr>
        <p:xfrm>
          <a:off x="707571" y="1971523"/>
          <a:ext cx="9938656" cy="1729620"/>
        </p:xfrm>
        <a:graphic>
          <a:graphicData uri="http://schemas.openxmlformats.org/drawingml/2006/table">
            <a:tbl>
              <a:tblPr firstRow="1" bandRow="1">
                <a:tableStyleId>{5C22544A-7EE6-4342-B048-85BDC9FD1C3A}</a:tableStyleId>
              </a:tblPr>
              <a:tblGrid>
                <a:gridCol w="621166">
                  <a:extLst>
                    <a:ext uri="{9D8B030D-6E8A-4147-A177-3AD203B41FA5}">
                      <a16:colId xmlns:a16="http://schemas.microsoft.com/office/drawing/2014/main" val="2624245403"/>
                    </a:ext>
                  </a:extLst>
                </a:gridCol>
                <a:gridCol w="621166">
                  <a:extLst>
                    <a:ext uri="{9D8B030D-6E8A-4147-A177-3AD203B41FA5}">
                      <a16:colId xmlns:a16="http://schemas.microsoft.com/office/drawing/2014/main" val="990765830"/>
                    </a:ext>
                  </a:extLst>
                </a:gridCol>
                <a:gridCol w="621166">
                  <a:extLst>
                    <a:ext uri="{9D8B030D-6E8A-4147-A177-3AD203B41FA5}">
                      <a16:colId xmlns:a16="http://schemas.microsoft.com/office/drawing/2014/main" val="2203031656"/>
                    </a:ext>
                  </a:extLst>
                </a:gridCol>
                <a:gridCol w="621166">
                  <a:extLst>
                    <a:ext uri="{9D8B030D-6E8A-4147-A177-3AD203B41FA5}">
                      <a16:colId xmlns:a16="http://schemas.microsoft.com/office/drawing/2014/main" val="1909155845"/>
                    </a:ext>
                  </a:extLst>
                </a:gridCol>
                <a:gridCol w="621166">
                  <a:extLst>
                    <a:ext uri="{9D8B030D-6E8A-4147-A177-3AD203B41FA5}">
                      <a16:colId xmlns:a16="http://schemas.microsoft.com/office/drawing/2014/main" val="4020779331"/>
                    </a:ext>
                  </a:extLst>
                </a:gridCol>
                <a:gridCol w="621166">
                  <a:extLst>
                    <a:ext uri="{9D8B030D-6E8A-4147-A177-3AD203B41FA5}">
                      <a16:colId xmlns:a16="http://schemas.microsoft.com/office/drawing/2014/main" val="1074437072"/>
                    </a:ext>
                  </a:extLst>
                </a:gridCol>
                <a:gridCol w="621166">
                  <a:extLst>
                    <a:ext uri="{9D8B030D-6E8A-4147-A177-3AD203B41FA5}">
                      <a16:colId xmlns:a16="http://schemas.microsoft.com/office/drawing/2014/main" val="82412118"/>
                    </a:ext>
                  </a:extLst>
                </a:gridCol>
                <a:gridCol w="621166">
                  <a:extLst>
                    <a:ext uri="{9D8B030D-6E8A-4147-A177-3AD203B41FA5}">
                      <a16:colId xmlns:a16="http://schemas.microsoft.com/office/drawing/2014/main" val="2971277712"/>
                    </a:ext>
                  </a:extLst>
                </a:gridCol>
                <a:gridCol w="621166">
                  <a:extLst>
                    <a:ext uri="{9D8B030D-6E8A-4147-A177-3AD203B41FA5}">
                      <a16:colId xmlns:a16="http://schemas.microsoft.com/office/drawing/2014/main" val="3073872972"/>
                    </a:ext>
                  </a:extLst>
                </a:gridCol>
                <a:gridCol w="621166">
                  <a:extLst>
                    <a:ext uri="{9D8B030D-6E8A-4147-A177-3AD203B41FA5}">
                      <a16:colId xmlns:a16="http://schemas.microsoft.com/office/drawing/2014/main" val="3023093940"/>
                    </a:ext>
                  </a:extLst>
                </a:gridCol>
                <a:gridCol w="621166">
                  <a:extLst>
                    <a:ext uri="{9D8B030D-6E8A-4147-A177-3AD203B41FA5}">
                      <a16:colId xmlns:a16="http://schemas.microsoft.com/office/drawing/2014/main" val="1090934130"/>
                    </a:ext>
                  </a:extLst>
                </a:gridCol>
                <a:gridCol w="621166">
                  <a:extLst>
                    <a:ext uri="{9D8B030D-6E8A-4147-A177-3AD203B41FA5}">
                      <a16:colId xmlns:a16="http://schemas.microsoft.com/office/drawing/2014/main" val="681860151"/>
                    </a:ext>
                  </a:extLst>
                </a:gridCol>
                <a:gridCol w="621166">
                  <a:extLst>
                    <a:ext uri="{9D8B030D-6E8A-4147-A177-3AD203B41FA5}">
                      <a16:colId xmlns:a16="http://schemas.microsoft.com/office/drawing/2014/main" val="3569840899"/>
                    </a:ext>
                  </a:extLst>
                </a:gridCol>
                <a:gridCol w="621166">
                  <a:extLst>
                    <a:ext uri="{9D8B030D-6E8A-4147-A177-3AD203B41FA5}">
                      <a16:colId xmlns:a16="http://schemas.microsoft.com/office/drawing/2014/main" val="1573334778"/>
                    </a:ext>
                  </a:extLst>
                </a:gridCol>
                <a:gridCol w="621166">
                  <a:extLst>
                    <a:ext uri="{9D8B030D-6E8A-4147-A177-3AD203B41FA5}">
                      <a16:colId xmlns:a16="http://schemas.microsoft.com/office/drawing/2014/main" val="3264651897"/>
                    </a:ext>
                  </a:extLst>
                </a:gridCol>
                <a:gridCol w="621166">
                  <a:extLst>
                    <a:ext uri="{9D8B030D-6E8A-4147-A177-3AD203B41FA5}">
                      <a16:colId xmlns:a16="http://schemas.microsoft.com/office/drawing/2014/main" val="1486597408"/>
                    </a:ext>
                  </a:extLst>
                </a:gridCol>
              </a:tblGrid>
              <a:tr h="57654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96917727"/>
                  </a:ext>
                </a:extLst>
              </a:tr>
              <a:tr h="5765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49251123"/>
                  </a:ext>
                </a:extLst>
              </a:tr>
              <a:tr h="576540">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2013991"/>
                  </a:ext>
                </a:extLst>
              </a:tr>
            </a:tbl>
          </a:graphicData>
        </a:graphic>
      </p:graphicFrame>
    </p:spTree>
    <p:extLst>
      <p:ext uri="{BB962C8B-B14F-4D97-AF65-F5344CB8AC3E}">
        <p14:creationId xmlns:p14="http://schemas.microsoft.com/office/powerpoint/2010/main" val="304981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Rail Fence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Simple to understand and easy to implement.</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Has got low computation cost.</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Statistical attack.</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Pattern attack.</a:t>
            </a:r>
          </a:p>
          <a:p>
            <a:pPr marL="285750" indent="-285750">
              <a:buFont typeface="Arial" panose="020B0604020202020204" pitchFamily="34" charset="0"/>
              <a:buChar char="•"/>
            </a:pPr>
            <a:r>
              <a:rPr lang="en-US" sz="2800" dirty="0">
                <a:solidFill>
                  <a:srgbClr val="FF0000"/>
                </a:solidFill>
                <a:latin typeface="Times New Roman" panose="02020603050405020304" pitchFamily="18" charset="0"/>
                <a:cs typeface="Times New Roman" panose="02020603050405020304" pitchFamily="18" charset="0"/>
              </a:rPr>
              <a:t>Vulnerable to BFA.</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301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EE519-C49E-0546-1BA1-BE777F0CA47A}"/>
              </a:ext>
            </a:extLst>
          </p:cNvPr>
          <p:cNvSpPr>
            <a:spLocks noGrp="1"/>
          </p:cNvSpPr>
          <p:nvPr>
            <p:ph idx="1"/>
          </p:nvPr>
        </p:nvSpPr>
        <p:spPr>
          <a:xfrm>
            <a:off x="838200" y="195943"/>
            <a:ext cx="10515600" cy="59810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latin typeface="Times New Roman" panose="02020603050405020304" pitchFamily="18" charset="0"/>
                <a:cs typeface="Times New Roman" panose="02020603050405020304" pitchFamily="18" charset="0"/>
              </a:rPr>
              <a:t>COLUMNAR CIPHER</a:t>
            </a:r>
          </a:p>
        </p:txBody>
      </p:sp>
    </p:spTree>
    <p:extLst>
      <p:ext uri="{BB962C8B-B14F-4D97-AF65-F5344CB8AC3E}">
        <p14:creationId xmlns:p14="http://schemas.microsoft.com/office/powerpoint/2010/main" val="11523383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B3ED0-0ACF-C50B-D8F6-A0BBECCF7CC8}"/>
              </a:ext>
            </a:extLst>
          </p:cNvPr>
          <p:cNvSpPr>
            <a:spLocks noGrp="1"/>
          </p:cNvSpPr>
          <p:nvPr>
            <p:ph type="title"/>
          </p:nvPr>
        </p:nvSpPr>
        <p:spPr>
          <a:xfrm>
            <a:off x="761803" y="350196"/>
            <a:ext cx="4646904" cy="1624520"/>
          </a:xfrm>
        </p:spPr>
        <p:txBody>
          <a:bodyPr anchor="ctr">
            <a:normAutofit/>
          </a:bodyPr>
          <a:lstStyle/>
          <a:p>
            <a:pPr algn="ctr"/>
            <a:r>
              <a:rPr lang="en-US" sz="4000" dirty="0">
                <a:latin typeface="Times New Roman" panose="02020603050405020304" pitchFamily="18" charset="0"/>
                <a:cs typeface="Times New Roman" panose="02020603050405020304" pitchFamily="18" charset="0"/>
              </a:rPr>
              <a:t>Columnar Cipher</a:t>
            </a:r>
          </a:p>
        </p:txBody>
      </p:sp>
      <p:sp>
        <p:nvSpPr>
          <p:cNvPr id="3" name="Content Placeholder 2">
            <a:extLst>
              <a:ext uri="{FF2B5EF4-FFF2-40B4-BE49-F238E27FC236}">
                <a16:creationId xmlns:a16="http://schemas.microsoft.com/office/drawing/2014/main" id="{6CDA2812-A85D-D641-2EC9-18D6746A51C3}"/>
              </a:ext>
            </a:extLst>
          </p:cNvPr>
          <p:cNvSpPr>
            <a:spLocks noGrp="1"/>
          </p:cNvSpPr>
          <p:nvPr>
            <p:ph idx="1"/>
          </p:nvPr>
        </p:nvSpPr>
        <p:spPr>
          <a:xfrm>
            <a:off x="761802" y="2743200"/>
            <a:ext cx="7271855" cy="3764604"/>
          </a:xfrm>
        </p:spPr>
        <p:txBody>
          <a:bodyPr anchor="ctr">
            <a:noAutofit/>
          </a:bodyPr>
          <a:lstStyle/>
          <a:p>
            <a:r>
              <a:rPr lang="en-US" sz="2600" dirty="0">
                <a:latin typeface="Times New Roman" panose="02020603050405020304" pitchFamily="18" charset="0"/>
                <a:cs typeface="Times New Roman" panose="02020603050405020304" pitchFamily="18" charset="0"/>
              </a:rPr>
              <a:t>Provides grid-based encryption and decryption.</a:t>
            </a:r>
          </a:p>
          <a:p>
            <a:r>
              <a:rPr lang="en-US" sz="2600" dirty="0">
                <a:latin typeface="Times New Roman" panose="02020603050405020304" pitchFamily="18" charset="0"/>
                <a:cs typeface="Times New Roman" panose="02020603050405020304" pitchFamily="18" charset="0"/>
              </a:rPr>
              <a:t>The plaintext is written row-wise, and the ciphertext is generated by reading the plaintext characters column-wise.</a:t>
            </a:r>
          </a:p>
          <a:p>
            <a:r>
              <a:rPr lang="en-US" sz="2600" dirty="0">
                <a:latin typeface="Times New Roman" panose="02020603050405020304" pitchFamily="18" charset="0"/>
                <a:cs typeface="Times New Roman" panose="02020603050405020304" pitchFamily="18" charset="0"/>
              </a:rPr>
              <a:t>The ciphertext is written column-wise in a certain order, and the decrypted text is generated by reading the ciphertext characters row-wise.</a:t>
            </a:r>
          </a:p>
          <a:p>
            <a:r>
              <a:rPr lang="en-US" sz="2600" dirty="0">
                <a:latin typeface="Times New Roman" panose="02020603050405020304" pitchFamily="18" charset="0"/>
                <a:cs typeface="Times New Roman" panose="02020603050405020304" pitchFamily="18" charset="0"/>
              </a:rPr>
              <a:t>The key contains a sequence of numbers representing the order of columns.</a:t>
            </a:r>
          </a:p>
          <a:p>
            <a:r>
              <a:rPr lang="en-US" sz="2600" dirty="0">
                <a:latin typeface="Times New Roman" panose="02020603050405020304" pitchFamily="18" charset="0"/>
                <a:cs typeface="Times New Roman" panose="02020603050405020304" pitchFamily="18" charset="0"/>
              </a:rPr>
              <a:t>Multiple stages can be used to enhance </a:t>
            </a:r>
            <a:r>
              <a:rPr lang="en-US" sz="2600">
                <a:latin typeface="Times New Roman" panose="02020603050405020304" pitchFamily="18" charset="0"/>
                <a:cs typeface="Times New Roman" panose="02020603050405020304" pitchFamily="18" charset="0"/>
              </a:rPr>
              <a:t>the security.</a:t>
            </a:r>
            <a:endParaRPr lang="en-US" sz="2600" dirty="0">
              <a:latin typeface="Times New Roman" panose="02020603050405020304" pitchFamily="18" charset="0"/>
              <a:cs typeface="Times New Roman" panose="02020603050405020304" pitchFamily="18" charset="0"/>
            </a:endParaRPr>
          </a:p>
        </p:txBody>
      </p:sp>
      <p:pic>
        <p:nvPicPr>
          <p:cNvPr id="14" name="Picture 13" descr="101010 data lines to infinity">
            <a:extLst>
              <a:ext uri="{FF2B5EF4-FFF2-40B4-BE49-F238E27FC236}">
                <a16:creationId xmlns:a16="http://schemas.microsoft.com/office/drawing/2014/main" id="{EEED3D56-3C43-9F8B-258F-10A50688BDE6}"/>
              </a:ext>
            </a:extLst>
          </p:cNvPr>
          <p:cNvPicPr>
            <a:picLocks noChangeAspect="1"/>
          </p:cNvPicPr>
          <p:nvPr/>
        </p:nvPicPr>
        <p:blipFill>
          <a:blip r:embed="rId2"/>
          <a:srcRect l="22942" r="19439" b="1"/>
          <a:stretch/>
        </p:blipFill>
        <p:spPr>
          <a:xfrm>
            <a:off x="8284029" y="1"/>
            <a:ext cx="3914796" cy="6858000"/>
          </a:xfrm>
          <a:prstGeom prst="rect">
            <a:avLst/>
          </a:prstGeom>
        </p:spPr>
      </p:pic>
    </p:spTree>
    <p:extLst>
      <p:ext uri="{BB962C8B-B14F-4D97-AF65-F5344CB8AC3E}">
        <p14:creationId xmlns:p14="http://schemas.microsoft.com/office/powerpoint/2010/main" val="73462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B3ED0-0ACF-C50B-D8F6-A0BBECCF7CC8}"/>
              </a:ext>
            </a:extLst>
          </p:cNvPr>
          <p:cNvSpPr>
            <a:spLocks noGrp="1"/>
          </p:cNvSpPr>
          <p:nvPr>
            <p:ph type="title"/>
          </p:nvPr>
        </p:nvSpPr>
        <p:spPr>
          <a:xfrm>
            <a:off x="761803" y="350196"/>
            <a:ext cx="4646904" cy="1624520"/>
          </a:xfrm>
        </p:spPr>
        <p:txBody>
          <a:bodyPr anchor="ctr">
            <a:normAutofit/>
          </a:bodyPr>
          <a:lstStyle/>
          <a:p>
            <a:pPr algn="ctr"/>
            <a:r>
              <a:rPr lang="en-US" sz="4000" dirty="0">
                <a:latin typeface="Times New Roman" panose="02020603050405020304" pitchFamily="18" charset="0"/>
                <a:cs typeface="Times New Roman" panose="02020603050405020304" pitchFamily="18" charset="0"/>
              </a:rPr>
              <a:t>Processing the key</a:t>
            </a:r>
          </a:p>
        </p:txBody>
      </p:sp>
      <p:sp>
        <p:nvSpPr>
          <p:cNvPr id="3" name="Content Placeholder 2">
            <a:extLst>
              <a:ext uri="{FF2B5EF4-FFF2-40B4-BE49-F238E27FC236}">
                <a16:creationId xmlns:a16="http://schemas.microsoft.com/office/drawing/2014/main" id="{6CDA2812-A85D-D641-2EC9-18D6746A51C3}"/>
              </a:ext>
            </a:extLst>
          </p:cNvPr>
          <p:cNvSpPr>
            <a:spLocks noGrp="1"/>
          </p:cNvSpPr>
          <p:nvPr>
            <p:ph idx="1"/>
          </p:nvPr>
        </p:nvSpPr>
        <p:spPr>
          <a:xfrm>
            <a:off x="761802" y="2416630"/>
            <a:ext cx="7760645" cy="4191000"/>
          </a:xfrm>
        </p:spPr>
        <p:txBody>
          <a:bodyPr anchor="ctr">
            <a:noAutofit/>
          </a:bodyPr>
          <a:lstStyle/>
          <a:p>
            <a:r>
              <a:rPr lang="en-US" sz="2600" dirty="0">
                <a:latin typeface="Times New Roman" panose="02020603050405020304" pitchFamily="18" charset="0"/>
                <a:cs typeface="Times New Roman" panose="02020603050405020304" pitchFamily="18" charset="0"/>
              </a:rPr>
              <a:t>The key could either be represented as a sequence of numbers or as a text.</a:t>
            </a:r>
          </a:p>
          <a:p>
            <a:r>
              <a:rPr lang="en-US" sz="2600" dirty="0">
                <a:latin typeface="Times New Roman" panose="02020603050405020304" pitchFamily="18" charset="0"/>
                <a:cs typeface="Times New Roman" panose="02020603050405020304" pitchFamily="18" charset="0"/>
              </a:rPr>
              <a:t>If the key is a text, then the text is converted into a sequence of numbers according their alphabetical order in the text.</a:t>
            </a:r>
          </a:p>
          <a:p>
            <a:r>
              <a:rPr lang="en-US" sz="2600" dirty="0">
                <a:latin typeface="Times New Roman" panose="02020603050405020304" pitchFamily="18" charset="0"/>
                <a:cs typeface="Times New Roman" panose="02020603050405020304" pitchFamily="18" charset="0"/>
              </a:rPr>
              <a:t>The length of the key = number of columns.</a:t>
            </a:r>
          </a:p>
          <a:p>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Assume that the key is </a:t>
            </a:r>
            <a:r>
              <a:rPr lang="en-US" sz="2600" b="1" dirty="0">
                <a:solidFill>
                  <a:schemeClr val="tx2">
                    <a:lumMod val="75000"/>
                    <a:lumOff val="25000"/>
                  </a:schemeClr>
                </a:solidFill>
                <a:latin typeface="Times New Roman" panose="02020603050405020304" pitchFamily="18" charset="0"/>
                <a:cs typeface="Times New Roman" panose="02020603050405020304" pitchFamily="18" charset="0"/>
              </a:rPr>
              <a:t>4 2 1 3 5</a:t>
            </a:r>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 This indicates that the grid consists of 5 columns.</a:t>
            </a:r>
          </a:p>
          <a:p>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If the key is </a:t>
            </a:r>
            <a:r>
              <a:rPr lang="en-US" sz="2600" b="1" dirty="0">
                <a:solidFill>
                  <a:schemeClr val="tx2">
                    <a:lumMod val="75000"/>
                    <a:lumOff val="25000"/>
                  </a:schemeClr>
                </a:solidFill>
                <a:latin typeface="Times New Roman" panose="02020603050405020304" pitchFamily="18" charset="0"/>
                <a:cs typeface="Times New Roman" panose="02020603050405020304" pitchFamily="18" charset="0"/>
              </a:rPr>
              <a:t>hello</a:t>
            </a:r>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 then the corresponding numerical sequence (permutation) will be </a:t>
            </a:r>
            <a:r>
              <a:rPr lang="en-US" sz="2600" b="1" dirty="0">
                <a:solidFill>
                  <a:schemeClr val="tx2">
                    <a:lumMod val="75000"/>
                    <a:lumOff val="25000"/>
                  </a:schemeClr>
                </a:solidFill>
                <a:latin typeface="Times New Roman" panose="02020603050405020304" pitchFamily="18" charset="0"/>
                <a:cs typeface="Times New Roman" panose="02020603050405020304" pitchFamily="18" charset="0"/>
              </a:rPr>
              <a:t>2 1 3 4 5</a:t>
            </a:r>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a:t>
            </a:r>
          </a:p>
        </p:txBody>
      </p:sp>
      <p:pic>
        <p:nvPicPr>
          <p:cNvPr id="14" name="Picture 13" descr="101010 data lines to infinity">
            <a:extLst>
              <a:ext uri="{FF2B5EF4-FFF2-40B4-BE49-F238E27FC236}">
                <a16:creationId xmlns:a16="http://schemas.microsoft.com/office/drawing/2014/main" id="{EEED3D56-3C43-9F8B-258F-10A50688BDE6}"/>
              </a:ext>
            </a:extLst>
          </p:cNvPr>
          <p:cNvPicPr>
            <a:picLocks noChangeAspect="1"/>
          </p:cNvPicPr>
          <p:nvPr/>
        </p:nvPicPr>
        <p:blipFill>
          <a:blip r:embed="rId2"/>
          <a:srcRect l="22942" r="19439" b="1"/>
          <a:stretch/>
        </p:blipFill>
        <p:spPr>
          <a:xfrm>
            <a:off x="8871857" y="1"/>
            <a:ext cx="3326968" cy="6858000"/>
          </a:xfrm>
          <a:prstGeom prst="rect">
            <a:avLst/>
          </a:prstGeom>
        </p:spPr>
      </p:pic>
    </p:spTree>
    <p:extLst>
      <p:ext uri="{BB962C8B-B14F-4D97-AF65-F5344CB8AC3E}">
        <p14:creationId xmlns:p14="http://schemas.microsoft.com/office/powerpoint/2010/main" val="149920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B3ED0-0ACF-C50B-D8F6-A0BBECCF7CC8}"/>
              </a:ext>
            </a:extLst>
          </p:cNvPr>
          <p:cNvSpPr>
            <a:spLocks noGrp="1"/>
          </p:cNvSpPr>
          <p:nvPr>
            <p:ph type="title"/>
          </p:nvPr>
        </p:nvSpPr>
        <p:spPr>
          <a:xfrm>
            <a:off x="761802" y="350196"/>
            <a:ext cx="5334197" cy="1624520"/>
          </a:xfrm>
        </p:spPr>
        <p:txBody>
          <a:bodyPr anchor="ctr">
            <a:normAutofit/>
          </a:bodyPr>
          <a:lstStyle/>
          <a:p>
            <a:pPr algn="ctr"/>
            <a:r>
              <a:rPr lang="en-US" sz="4000" dirty="0">
                <a:latin typeface="Times New Roman" panose="02020603050405020304" pitchFamily="18" charset="0"/>
                <a:cs typeface="Times New Roman" panose="02020603050405020304" pitchFamily="18" charset="0"/>
              </a:rPr>
              <a:t>Steps for Encryption</a:t>
            </a:r>
          </a:p>
        </p:txBody>
      </p:sp>
      <p:sp>
        <p:nvSpPr>
          <p:cNvPr id="3" name="Content Placeholder 2">
            <a:extLst>
              <a:ext uri="{FF2B5EF4-FFF2-40B4-BE49-F238E27FC236}">
                <a16:creationId xmlns:a16="http://schemas.microsoft.com/office/drawing/2014/main" id="{6CDA2812-A85D-D641-2EC9-18D6746A51C3}"/>
              </a:ext>
            </a:extLst>
          </p:cNvPr>
          <p:cNvSpPr>
            <a:spLocks noGrp="1"/>
          </p:cNvSpPr>
          <p:nvPr>
            <p:ph idx="1"/>
          </p:nvPr>
        </p:nvSpPr>
        <p:spPr>
          <a:xfrm>
            <a:off x="761802" y="2416630"/>
            <a:ext cx="7990312" cy="4191000"/>
          </a:xfrm>
        </p:spPr>
        <p:txBody>
          <a:bodyPr anchor="ctr">
            <a:noAutofit/>
          </a:bodyPr>
          <a:lstStyle/>
          <a:p>
            <a:r>
              <a:rPr lang="en-US" sz="2600" dirty="0">
                <a:latin typeface="Times New Roman" panose="02020603050405020304" pitchFamily="18" charset="0"/>
                <a:cs typeface="Times New Roman" panose="02020603050405020304" pitchFamily="18" charset="0"/>
              </a:rPr>
              <a:t>Number of Rows = Ceil(Length(PT)/Number of Columns)</a:t>
            </a:r>
          </a:p>
          <a:p>
            <a:r>
              <a:rPr lang="en-US" sz="2600" dirty="0">
                <a:latin typeface="Times New Roman" panose="02020603050405020304" pitchFamily="18" charset="0"/>
                <a:cs typeface="Times New Roman" panose="02020603050405020304" pitchFamily="18" charset="0"/>
              </a:rPr>
              <a:t>Fill the grid row-wise with plaintext characters (At the end, fill any vacancy with ‘x’).</a:t>
            </a:r>
          </a:p>
          <a:p>
            <a:r>
              <a:rPr lang="en-US" sz="2600" dirty="0">
                <a:latin typeface="Times New Roman" panose="02020603050405020304" pitchFamily="18" charset="0"/>
                <a:cs typeface="Times New Roman" panose="02020603050405020304" pitchFamily="18" charset="0"/>
              </a:rPr>
              <a:t>Obtain the ciphertext, by reading the plaintext characters column-wise according to the key permutation.</a:t>
            </a:r>
          </a:p>
          <a:p>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For example, a key having a sequence </a:t>
            </a:r>
            <a:r>
              <a:rPr lang="en-US" sz="2600" b="1" dirty="0">
                <a:solidFill>
                  <a:schemeClr val="tx2">
                    <a:lumMod val="75000"/>
                    <a:lumOff val="25000"/>
                  </a:schemeClr>
                </a:solidFill>
                <a:latin typeface="Times New Roman" panose="02020603050405020304" pitchFamily="18" charset="0"/>
                <a:cs typeface="Times New Roman" panose="02020603050405020304" pitchFamily="18" charset="0"/>
              </a:rPr>
              <a:t>3 1 2</a:t>
            </a:r>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 indicates that the grid has 3 columns. Moreover, during CT calculation, the second column is read first, third column is read second, and the first column is read third.</a:t>
            </a:r>
          </a:p>
          <a:p>
            <a:endParaRPr lang="en-US" sz="25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14" name="Picture 13" descr="101010 data lines to infinity">
            <a:extLst>
              <a:ext uri="{FF2B5EF4-FFF2-40B4-BE49-F238E27FC236}">
                <a16:creationId xmlns:a16="http://schemas.microsoft.com/office/drawing/2014/main" id="{EEED3D56-3C43-9F8B-258F-10A50688BDE6}"/>
              </a:ext>
            </a:extLst>
          </p:cNvPr>
          <p:cNvPicPr>
            <a:picLocks noChangeAspect="1"/>
          </p:cNvPicPr>
          <p:nvPr/>
        </p:nvPicPr>
        <p:blipFill>
          <a:blip r:embed="rId2"/>
          <a:srcRect l="22942" r="19439" b="1"/>
          <a:stretch/>
        </p:blipFill>
        <p:spPr>
          <a:xfrm>
            <a:off x="8871857" y="1"/>
            <a:ext cx="3326968" cy="6858000"/>
          </a:xfrm>
          <a:prstGeom prst="rect">
            <a:avLst/>
          </a:prstGeom>
        </p:spPr>
      </p:pic>
    </p:spTree>
    <p:extLst>
      <p:ext uri="{BB962C8B-B14F-4D97-AF65-F5344CB8AC3E}">
        <p14:creationId xmlns:p14="http://schemas.microsoft.com/office/powerpoint/2010/main" val="275140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B3ED0-0ACF-C50B-D8F6-A0BBECCF7CC8}"/>
              </a:ext>
            </a:extLst>
          </p:cNvPr>
          <p:cNvSpPr>
            <a:spLocks noGrp="1"/>
          </p:cNvSpPr>
          <p:nvPr>
            <p:ph type="title"/>
          </p:nvPr>
        </p:nvSpPr>
        <p:spPr>
          <a:xfrm>
            <a:off x="761802" y="350196"/>
            <a:ext cx="5334197" cy="1624520"/>
          </a:xfrm>
        </p:spPr>
        <p:txBody>
          <a:bodyPr anchor="ctr">
            <a:normAutofit/>
          </a:bodyPr>
          <a:lstStyle/>
          <a:p>
            <a:pPr algn="ctr"/>
            <a:r>
              <a:rPr lang="en-US" sz="4000" dirty="0">
                <a:latin typeface="Times New Roman" panose="02020603050405020304" pitchFamily="18" charset="0"/>
                <a:cs typeface="Times New Roman" panose="02020603050405020304" pitchFamily="18" charset="0"/>
              </a:rPr>
              <a:t>Steps for Decryption</a:t>
            </a:r>
          </a:p>
        </p:txBody>
      </p:sp>
      <p:sp>
        <p:nvSpPr>
          <p:cNvPr id="3" name="Content Placeholder 2">
            <a:extLst>
              <a:ext uri="{FF2B5EF4-FFF2-40B4-BE49-F238E27FC236}">
                <a16:creationId xmlns:a16="http://schemas.microsoft.com/office/drawing/2014/main" id="{6CDA2812-A85D-D641-2EC9-18D6746A51C3}"/>
              </a:ext>
            </a:extLst>
          </p:cNvPr>
          <p:cNvSpPr>
            <a:spLocks noGrp="1"/>
          </p:cNvSpPr>
          <p:nvPr>
            <p:ph idx="1"/>
          </p:nvPr>
        </p:nvSpPr>
        <p:spPr>
          <a:xfrm>
            <a:off x="761802" y="2416630"/>
            <a:ext cx="7990312" cy="4191000"/>
          </a:xfrm>
        </p:spPr>
        <p:txBody>
          <a:bodyPr anchor="ctr">
            <a:noAutofit/>
          </a:bodyPr>
          <a:lstStyle/>
          <a:p>
            <a:r>
              <a:rPr lang="en-US" sz="2600" dirty="0">
                <a:latin typeface="Times New Roman" panose="02020603050405020304" pitchFamily="18" charset="0"/>
                <a:cs typeface="Times New Roman" panose="02020603050405020304" pitchFamily="18" charset="0"/>
              </a:rPr>
              <a:t>Number of Rows = Length(CT)/Number of Columns</a:t>
            </a:r>
          </a:p>
          <a:p>
            <a:r>
              <a:rPr lang="en-US" sz="2600" dirty="0">
                <a:latin typeface="Times New Roman" panose="02020603050405020304" pitchFamily="18" charset="0"/>
                <a:cs typeface="Times New Roman" panose="02020603050405020304" pitchFamily="18" charset="0"/>
              </a:rPr>
              <a:t>Fill the grid column-wise with the Ciphertext characters according to the key permutation.</a:t>
            </a:r>
          </a:p>
          <a:p>
            <a:r>
              <a:rPr lang="en-US" sz="2600" dirty="0">
                <a:latin typeface="Times New Roman" panose="02020603050405020304" pitchFamily="18" charset="0"/>
                <a:cs typeface="Times New Roman" panose="02020603050405020304" pitchFamily="18" charset="0"/>
              </a:rPr>
              <a:t>Obtain the decrypted text by reading the Ciphertext characters row-wise.</a:t>
            </a:r>
          </a:p>
          <a:p>
            <a:r>
              <a:rPr lang="en-US" sz="2600" dirty="0">
                <a:latin typeface="Times New Roman" panose="02020603050405020304" pitchFamily="18" charset="0"/>
                <a:cs typeface="Times New Roman" panose="02020603050405020304" pitchFamily="18" charset="0"/>
              </a:rPr>
              <a:t>For example, if the key has a sequence </a:t>
            </a:r>
            <a:r>
              <a:rPr lang="en-US" sz="2600" b="1" dirty="0">
                <a:latin typeface="Times New Roman" panose="02020603050405020304" pitchFamily="18" charset="0"/>
                <a:cs typeface="Times New Roman" panose="02020603050405020304" pitchFamily="18" charset="0"/>
              </a:rPr>
              <a:t>3 1 2</a:t>
            </a:r>
            <a:r>
              <a:rPr lang="en-US" sz="2600" dirty="0">
                <a:latin typeface="Times New Roman" panose="02020603050405020304" pitchFamily="18" charset="0"/>
                <a:cs typeface="Times New Roman" panose="02020603050405020304" pitchFamily="18" charset="0"/>
              </a:rPr>
              <a:t>, </a:t>
            </a:r>
            <a:r>
              <a:rPr lang="en-US" sz="2600" dirty="0">
                <a:solidFill>
                  <a:schemeClr val="tx2">
                    <a:lumMod val="75000"/>
                    <a:lumOff val="25000"/>
                  </a:schemeClr>
                </a:solidFill>
                <a:latin typeface="Times New Roman" panose="02020603050405020304" pitchFamily="18" charset="0"/>
                <a:cs typeface="Times New Roman" panose="02020603050405020304" pitchFamily="18" charset="0"/>
              </a:rPr>
              <a:t>then the second column is filled first, third column is filled second, and the first column is filled third.</a:t>
            </a:r>
            <a:endParaRPr lang="en-US" sz="2600" dirty="0">
              <a:latin typeface="Times New Roman" panose="02020603050405020304" pitchFamily="18" charset="0"/>
              <a:cs typeface="Times New Roman" panose="02020603050405020304" pitchFamily="18" charset="0"/>
            </a:endParaRPr>
          </a:p>
          <a:p>
            <a:endParaRPr lang="en-US" sz="2600" dirty="0">
              <a:solidFill>
                <a:schemeClr val="tx2">
                  <a:lumMod val="75000"/>
                  <a:lumOff val="25000"/>
                </a:schemeClr>
              </a:solidFill>
              <a:latin typeface="Times New Roman" panose="02020603050405020304" pitchFamily="18" charset="0"/>
              <a:cs typeface="Times New Roman" panose="02020603050405020304" pitchFamily="18" charset="0"/>
            </a:endParaRPr>
          </a:p>
          <a:p>
            <a:endParaRPr lang="en-US" sz="25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14" name="Picture 13" descr="101010 data lines to infinity">
            <a:extLst>
              <a:ext uri="{FF2B5EF4-FFF2-40B4-BE49-F238E27FC236}">
                <a16:creationId xmlns:a16="http://schemas.microsoft.com/office/drawing/2014/main" id="{EEED3D56-3C43-9F8B-258F-10A50688BDE6}"/>
              </a:ext>
            </a:extLst>
          </p:cNvPr>
          <p:cNvPicPr>
            <a:picLocks noChangeAspect="1"/>
          </p:cNvPicPr>
          <p:nvPr/>
        </p:nvPicPr>
        <p:blipFill>
          <a:blip r:embed="rId2"/>
          <a:srcRect l="22942" r="19439" b="1"/>
          <a:stretch/>
        </p:blipFill>
        <p:spPr>
          <a:xfrm>
            <a:off x="8871857" y="1"/>
            <a:ext cx="3326968" cy="6858000"/>
          </a:xfrm>
          <a:prstGeom prst="rect">
            <a:avLst/>
          </a:prstGeom>
        </p:spPr>
      </p:pic>
    </p:spTree>
    <p:extLst>
      <p:ext uri="{BB962C8B-B14F-4D97-AF65-F5344CB8AC3E}">
        <p14:creationId xmlns:p14="http://schemas.microsoft.com/office/powerpoint/2010/main" val="46940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1</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825625"/>
            <a:ext cx="11800114" cy="4667250"/>
          </a:xfrm>
        </p:spPr>
        <p:txBody>
          <a:bodyPr>
            <a:normAutofit lnSpcReduction="10000"/>
          </a:bodyPr>
          <a:lstStyle/>
          <a:p>
            <a:r>
              <a:rPr lang="en-US" dirty="0">
                <a:latin typeface="Times New Roman" panose="02020603050405020304" pitchFamily="18" charset="0"/>
                <a:cs typeface="Times New Roman" panose="02020603050405020304" pitchFamily="18" charset="0"/>
              </a:rPr>
              <a:t>Encrypt the plaintext </a:t>
            </a:r>
            <a:r>
              <a:rPr lang="en-US" b="1" dirty="0">
                <a:latin typeface="Times New Roman" panose="02020603050405020304" pitchFamily="18" charset="0"/>
                <a:cs typeface="Times New Roman" panose="02020603050405020304" pitchFamily="18" charset="0"/>
              </a:rPr>
              <a:t>GOCORONAGO</a:t>
            </a:r>
            <a:r>
              <a:rPr lang="en-US" dirty="0">
                <a:latin typeface="Times New Roman" panose="02020603050405020304" pitchFamily="18" charset="0"/>
                <a:cs typeface="Times New Roman" panose="02020603050405020304" pitchFamily="18" charset="0"/>
              </a:rPr>
              <a:t> using single stage columnar transposition with key </a:t>
            </a:r>
            <a:r>
              <a:rPr lang="en-US" b="1" dirty="0">
                <a:latin typeface="Times New Roman" panose="02020603050405020304" pitchFamily="18" charset="0"/>
                <a:cs typeface="Times New Roman" panose="02020603050405020304" pitchFamily="18" charset="0"/>
              </a:rPr>
              <a:t>HELLO</a:t>
            </a: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lnSpc>
                <a:spcPct val="100000"/>
              </a:lnSpc>
              <a:buNone/>
            </a:pPr>
            <a:r>
              <a:rPr lang="en-US" u="sng" dirty="0">
                <a:solidFill>
                  <a:srgbClr val="FF0000"/>
                </a:solidFill>
                <a:latin typeface="Times New Roman" panose="02020603050405020304" pitchFamily="18" charset="0"/>
                <a:cs typeface="Times New Roman" panose="02020603050405020304" pitchFamily="18" charset="0"/>
              </a:rPr>
              <a:t>Solution:-</a:t>
            </a: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HELLO → 2 1 3 4 5</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Therefore, the Ciphertext is </a:t>
            </a:r>
            <a:r>
              <a:rPr lang="en-US" b="1" dirty="0">
                <a:solidFill>
                  <a:srgbClr val="FF0000"/>
                </a:solidFill>
                <a:latin typeface="Times New Roman" panose="02020603050405020304" pitchFamily="18" charset="0"/>
                <a:cs typeface="Times New Roman" panose="02020603050405020304" pitchFamily="18" charset="0"/>
              </a:rPr>
              <a:t>ONGOCAOGRO</a:t>
            </a:r>
            <a:r>
              <a:rPr lang="en-US" dirty="0">
                <a:solidFill>
                  <a:srgbClr val="FF0000"/>
                </a:solidFill>
                <a:latin typeface="Times New Roman" panose="02020603050405020304" pitchFamily="18" charset="0"/>
                <a:cs typeface="Times New Roman" panose="02020603050405020304" pitchFamily="18" charset="0"/>
              </a:rPr>
              <a:t>.</a:t>
            </a: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3733621255"/>
              </p:ext>
            </p:extLst>
          </p:nvPr>
        </p:nvGraphicFramePr>
        <p:xfrm>
          <a:off x="1600200" y="4344608"/>
          <a:ext cx="7482115" cy="1036320"/>
        </p:xfrm>
        <a:graphic>
          <a:graphicData uri="http://schemas.openxmlformats.org/drawingml/2006/table">
            <a:tbl>
              <a:tblPr firstRow="1" bandRow="1">
                <a:tableStyleId>{5C22544A-7EE6-4342-B048-85BDC9FD1C3A}</a:tableStyleId>
              </a:tblPr>
              <a:tblGrid>
                <a:gridCol w="1496423">
                  <a:extLst>
                    <a:ext uri="{9D8B030D-6E8A-4147-A177-3AD203B41FA5}">
                      <a16:colId xmlns:a16="http://schemas.microsoft.com/office/drawing/2014/main" val="1879985945"/>
                    </a:ext>
                  </a:extLst>
                </a:gridCol>
                <a:gridCol w="1496423">
                  <a:extLst>
                    <a:ext uri="{9D8B030D-6E8A-4147-A177-3AD203B41FA5}">
                      <a16:colId xmlns:a16="http://schemas.microsoft.com/office/drawing/2014/main" val="907855811"/>
                    </a:ext>
                  </a:extLst>
                </a:gridCol>
                <a:gridCol w="1496423">
                  <a:extLst>
                    <a:ext uri="{9D8B030D-6E8A-4147-A177-3AD203B41FA5}">
                      <a16:colId xmlns:a16="http://schemas.microsoft.com/office/drawing/2014/main" val="2654180426"/>
                    </a:ext>
                  </a:extLst>
                </a:gridCol>
                <a:gridCol w="1496423">
                  <a:extLst>
                    <a:ext uri="{9D8B030D-6E8A-4147-A177-3AD203B41FA5}">
                      <a16:colId xmlns:a16="http://schemas.microsoft.com/office/drawing/2014/main" val="278856071"/>
                    </a:ext>
                  </a:extLst>
                </a:gridCol>
                <a:gridCol w="1496423">
                  <a:extLst>
                    <a:ext uri="{9D8B030D-6E8A-4147-A177-3AD203B41FA5}">
                      <a16:colId xmlns:a16="http://schemas.microsoft.com/office/drawing/2014/main" val="1057552764"/>
                    </a:ext>
                  </a:extLst>
                </a:gridCol>
              </a:tblGrid>
              <a:tr h="44571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54059631"/>
                  </a:ext>
                </a:extLst>
              </a:tr>
              <a:tr h="44571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spTree>
    <p:extLst>
      <p:ext uri="{BB962C8B-B14F-4D97-AF65-F5344CB8AC3E}">
        <p14:creationId xmlns:p14="http://schemas.microsoft.com/office/powerpoint/2010/main" val="387555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2</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825625"/>
            <a:ext cx="11800114" cy="4667250"/>
          </a:xfrm>
        </p:spPr>
        <p:txBody>
          <a:bodyPr>
            <a:normAutofit/>
          </a:bodyPr>
          <a:lstStyle/>
          <a:p>
            <a:r>
              <a:rPr lang="en-US" dirty="0">
                <a:latin typeface="Times New Roman" panose="02020603050405020304" pitchFamily="18" charset="0"/>
                <a:cs typeface="Times New Roman" panose="02020603050405020304" pitchFamily="18" charset="0"/>
              </a:rPr>
              <a:t>Decrypt the Ciphertext </a:t>
            </a:r>
            <a:r>
              <a:rPr lang="en-US" b="1" dirty="0">
                <a:latin typeface="Times New Roman" panose="02020603050405020304" pitchFamily="18" charset="0"/>
                <a:cs typeface="Times New Roman" panose="02020603050405020304" pitchFamily="18" charset="0"/>
              </a:rPr>
              <a:t>ONGOCAOGRO</a:t>
            </a:r>
            <a:r>
              <a:rPr lang="en-US" dirty="0">
                <a:latin typeface="Times New Roman" panose="02020603050405020304" pitchFamily="18" charset="0"/>
                <a:cs typeface="Times New Roman" panose="02020603050405020304" pitchFamily="18" charset="0"/>
              </a:rPr>
              <a:t> using single stage columnar transposition with key </a:t>
            </a:r>
            <a:r>
              <a:rPr lang="en-US" b="1" dirty="0">
                <a:latin typeface="Times New Roman" panose="02020603050405020304" pitchFamily="18" charset="0"/>
                <a:cs typeface="Times New Roman" panose="02020603050405020304" pitchFamily="18" charset="0"/>
              </a:rPr>
              <a:t>HELLO</a:t>
            </a: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lnSpc>
                <a:spcPct val="100000"/>
              </a:lnSpc>
              <a:buNone/>
            </a:pPr>
            <a:r>
              <a:rPr lang="en-US" u="sng" dirty="0">
                <a:solidFill>
                  <a:srgbClr val="FF0000"/>
                </a:solidFill>
                <a:latin typeface="Times New Roman" panose="02020603050405020304" pitchFamily="18" charset="0"/>
                <a:cs typeface="Times New Roman" panose="02020603050405020304" pitchFamily="18" charset="0"/>
              </a:rPr>
              <a:t>Solution:-</a:t>
            </a: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HELLO → </a:t>
            </a:r>
            <a:r>
              <a:rPr lang="en-US" b="1" dirty="0">
                <a:solidFill>
                  <a:srgbClr val="FF0000"/>
                </a:solidFill>
                <a:latin typeface="Times New Roman" panose="02020603050405020304" pitchFamily="18" charset="0"/>
                <a:cs typeface="Times New Roman" panose="02020603050405020304" pitchFamily="18" charset="0"/>
              </a:rPr>
              <a:t>2 1 3 4 5</a:t>
            </a: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IT1:- </a:t>
            </a: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2655875193"/>
              </p:ext>
            </p:extLst>
          </p:nvPr>
        </p:nvGraphicFramePr>
        <p:xfrm>
          <a:off x="1611085" y="5084837"/>
          <a:ext cx="7482115" cy="1036320"/>
        </p:xfrm>
        <a:graphic>
          <a:graphicData uri="http://schemas.openxmlformats.org/drawingml/2006/table">
            <a:tbl>
              <a:tblPr firstRow="1" bandRow="1">
                <a:tableStyleId>{5C22544A-7EE6-4342-B048-85BDC9FD1C3A}</a:tableStyleId>
              </a:tblPr>
              <a:tblGrid>
                <a:gridCol w="1496423">
                  <a:extLst>
                    <a:ext uri="{9D8B030D-6E8A-4147-A177-3AD203B41FA5}">
                      <a16:colId xmlns:a16="http://schemas.microsoft.com/office/drawing/2014/main" val="1879985945"/>
                    </a:ext>
                  </a:extLst>
                </a:gridCol>
                <a:gridCol w="1496423">
                  <a:extLst>
                    <a:ext uri="{9D8B030D-6E8A-4147-A177-3AD203B41FA5}">
                      <a16:colId xmlns:a16="http://schemas.microsoft.com/office/drawing/2014/main" val="907855811"/>
                    </a:ext>
                  </a:extLst>
                </a:gridCol>
                <a:gridCol w="1496423">
                  <a:extLst>
                    <a:ext uri="{9D8B030D-6E8A-4147-A177-3AD203B41FA5}">
                      <a16:colId xmlns:a16="http://schemas.microsoft.com/office/drawing/2014/main" val="2654180426"/>
                    </a:ext>
                  </a:extLst>
                </a:gridCol>
                <a:gridCol w="1496423">
                  <a:extLst>
                    <a:ext uri="{9D8B030D-6E8A-4147-A177-3AD203B41FA5}">
                      <a16:colId xmlns:a16="http://schemas.microsoft.com/office/drawing/2014/main" val="278856071"/>
                    </a:ext>
                  </a:extLst>
                </a:gridCol>
                <a:gridCol w="1496423">
                  <a:extLst>
                    <a:ext uri="{9D8B030D-6E8A-4147-A177-3AD203B41FA5}">
                      <a16:colId xmlns:a16="http://schemas.microsoft.com/office/drawing/2014/main" val="1057552764"/>
                    </a:ext>
                  </a:extLst>
                </a:gridCol>
              </a:tblGrid>
              <a:tr h="445710">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54059631"/>
                  </a:ext>
                </a:extLst>
              </a:tr>
              <a:tr h="445710">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8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spTree>
    <p:extLst>
      <p:ext uri="{BB962C8B-B14F-4D97-AF65-F5344CB8AC3E}">
        <p14:creationId xmlns:p14="http://schemas.microsoft.com/office/powerpoint/2010/main" val="28785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2 (Contd..)</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825625"/>
            <a:ext cx="11800114" cy="4667250"/>
          </a:xfrm>
        </p:spPr>
        <p:txBody>
          <a:bodyPr>
            <a:normAutofit/>
          </a:bodyPr>
          <a:lstStyle/>
          <a:p>
            <a:pPr>
              <a:lnSpc>
                <a:spcPct val="100000"/>
              </a:lnSpc>
            </a:pPr>
            <a:r>
              <a:rPr lang="en-US" dirty="0">
                <a:solidFill>
                  <a:srgbClr val="FF0000"/>
                </a:solidFill>
                <a:latin typeface="Times New Roman" panose="02020603050405020304" pitchFamily="18" charset="0"/>
                <a:cs typeface="Times New Roman" panose="02020603050405020304" pitchFamily="18" charset="0"/>
              </a:rPr>
              <a:t>IT2:-</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IT3:-</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Therefore, the decrypted text is </a:t>
            </a:r>
            <a:r>
              <a:rPr lang="en-US" b="1" dirty="0">
                <a:solidFill>
                  <a:srgbClr val="FF0000"/>
                </a:solidFill>
                <a:latin typeface="Times New Roman" panose="02020603050405020304" pitchFamily="18" charset="0"/>
                <a:cs typeface="Times New Roman" panose="02020603050405020304" pitchFamily="18" charset="0"/>
              </a:rPr>
              <a:t>GOCORONAGO</a:t>
            </a:r>
            <a:r>
              <a:rPr lang="en-US" dirty="0">
                <a:solidFill>
                  <a:srgbClr val="FF0000"/>
                </a:solidFill>
                <a:latin typeface="Times New Roman" panose="02020603050405020304" pitchFamily="18" charset="0"/>
                <a:cs typeface="Times New Roman" panose="02020603050405020304" pitchFamily="18" charset="0"/>
              </a:rPr>
              <a:t>.     </a:t>
            </a: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2703904716"/>
              </p:ext>
            </p:extLst>
          </p:nvPr>
        </p:nvGraphicFramePr>
        <p:xfrm>
          <a:off x="1556657" y="2126465"/>
          <a:ext cx="5366655" cy="807120"/>
        </p:xfrm>
        <a:graphic>
          <a:graphicData uri="http://schemas.openxmlformats.org/drawingml/2006/table">
            <a:tbl>
              <a:tblPr firstRow="1" bandRow="1">
                <a:tableStyleId>{5C22544A-7EE6-4342-B048-85BDC9FD1C3A}</a:tableStyleId>
              </a:tblPr>
              <a:tblGrid>
                <a:gridCol w="1073331">
                  <a:extLst>
                    <a:ext uri="{9D8B030D-6E8A-4147-A177-3AD203B41FA5}">
                      <a16:colId xmlns:a16="http://schemas.microsoft.com/office/drawing/2014/main" val="1879985945"/>
                    </a:ext>
                  </a:extLst>
                </a:gridCol>
                <a:gridCol w="1073331">
                  <a:extLst>
                    <a:ext uri="{9D8B030D-6E8A-4147-A177-3AD203B41FA5}">
                      <a16:colId xmlns:a16="http://schemas.microsoft.com/office/drawing/2014/main" val="907855811"/>
                    </a:ext>
                  </a:extLst>
                </a:gridCol>
                <a:gridCol w="1073331">
                  <a:extLst>
                    <a:ext uri="{9D8B030D-6E8A-4147-A177-3AD203B41FA5}">
                      <a16:colId xmlns:a16="http://schemas.microsoft.com/office/drawing/2014/main" val="2654180426"/>
                    </a:ext>
                  </a:extLst>
                </a:gridCol>
                <a:gridCol w="1073331">
                  <a:extLst>
                    <a:ext uri="{9D8B030D-6E8A-4147-A177-3AD203B41FA5}">
                      <a16:colId xmlns:a16="http://schemas.microsoft.com/office/drawing/2014/main" val="278856071"/>
                    </a:ext>
                  </a:extLst>
                </a:gridCol>
                <a:gridCol w="1073331">
                  <a:extLst>
                    <a:ext uri="{9D8B030D-6E8A-4147-A177-3AD203B41FA5}">
                      <a16:colId xmlns:a16="http://schemas.microsoft.com/office/drawing/2014/main" val="1057552764"/>
                    </a:ext>
                  </a:extLst>
                </a:gridCol>
              </a:tblGrid>
              <a:tr h="41088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54059631"/>
                  </a:ext>
                </a:extLst>
              </a:tr>
              <a:tr h="358256">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20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graphicFrame>
        <p:nvGraphicFramePr>
          <p:cNvPr id="5" name="Table 4">
            <a:extLst>
              <a:ext uri="{FF2B5EF4-FFF2-40B4-BE49-F238E27FC236}">
                <a16:creationId xmlns:a16="http://schemas.microsoft.com/office/drawing/2014/main" id="{E24B0469-50A8-C020-D213-AE358C0AC9F3}"/>
              </a:ext>
            </a:extLst>
          </p:cNvPr>
          <p:cNvGraphicFramePr>
            <a:graphicFrameLocks noGrp="1"/>
          </p:cNvGraphicFramePr>
          <p:nvPr>
            <p:extLst>
              <p:ext uri="{D42A27DB-BD31-4B8C-83A1-F6EECF244321}">
                <p14:modId xmlns:p14="http://schemas.microsoft.com/office/powerpoint/2010/main" val="1356574078"/>
              </p:ext>
            </p:extLst>
          </p:nvPr>
        </p:nvGraphicFramePr>
        <p:xfrm>
          <a:off x="1556657" y="3553576"/>
          <a:ext cx="5453745" cy="792480"/>
        </p:xfrm>
        <a:graphic>
          <a:graphicData uri="http://schemas.openxmlformats.org/drawingml/2006/table">
            <a:tbl>
              <a:tblPr firstRow="1" bandRow="1">
                <a:tableStyleId>{5C22544A-7EE6-4342-B048-85BDC9FD1C3A}</a:tableStyleId>
              </a:tblPr>
              <a:tblGrid>
                <a:gridCol w="1090749">
                  <a:extLst>
                    <a:ext uri="{9D8B030D-6E8A-4147-A177-3AD203B41FA5}">
                      <a16:colId xmlns:a16="http://schemas.microsoft.com/office/drawing/2014/main" val="2703605406"/>
                    </a:ext>
                  </a:extLst>
                </a:gridCol>
                <a:gridCol w="1090749">
                  <a:extLst>
                    <a:ext uri="{9D8B030D-6E8A-4147-A177-3AD203B41FA5}">
                      <a16:colId xmlns:a16="http://schemas.microsoft.com/office/drawing/2014/main" val="3018066701"/>
                    </a:ext>
                  </a:extLst>
                </a:gridCol>
                <a:gridCol w="1090749">
                  <a:extLst>
                    <a:ext uri="{9D8B030D-6E8A-4147-A177-3AD203B41FA5}">
                      <a16:colId xmlns:a16="http://schemas.microsoft.com/office/drawing/2014/main" val="3055697420"/>
                    </a:ext>
                  </a:extLst>
                </a:gridCol>
                <a:gridCol w="1090749">
                  <a:extLst>
                    <a:ext uri="{9D8B030D-6E8A-4147-A177-3AD203B41FA5}">
                      <a16:colId xmlns:a16="http://schemas.microsoft.com/office/drawing/2014/main" val="846671467"/>
                    </a:ext>
                  </a:extLst>
                </a:gridCol>
                <a:gridCol w="1090749">
                  <a:extLst>
                    <a:ext uri="{9D8B030D-6E8A-4147-A177-3AD203B41FA5}">
                      <a16:colId xmlns:a16="http://schemas.microsoft.com/office/drawing/2014/main" val="3557686109"/>
                    </a:ext>
                  </a:extLst>
                </a:gridCol>
              </a:tblGrid>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10224625"/>
                  </a:ext>
                </a:extLst>
              </a:tr>
              <a:tr h="370840">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25689319"/>
                  </a:ext>
                </a:extLst>
              </a:tr>
            </a:tbl>
          </a:graphicData>
        </a:graphic>
      </p:graphicFrame>
    </p:spTree>
    <p:extLst>
      <p:ext uri="{BB962C8B-B14F-4D97-AF65-F5344CB8AC3E}">
        <p14:creationId xmlns:p14="http://schemas.microsoft.com/office/powerpoint/2010/main" val="414214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3</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825625"/>
            <a:ext cx="11800114" cy="4667250"/>
          </a:xfrm>
        </p:spPr>
        <p:txBody>
          <a:bodyPr>
            <a:normAutofit/>
          </a:bodyPr>
          <a:lstStyle/>
          <a:p>
            <a:r>
              <a:rPr lang="en-US" dirty="0">
                <a:latin typeface="Times New Roman" panose="02020603050405020304" pitchFamily="18" charset="0"/>
                <a:cs typeface="Times New Roman" panose="02020603050405020304" pitchFamily="18" charset="0"/>
              </a:rPr>
              <a:t>Decrypt the Ciphertext </a:t>
            </a:r>
            <a:r>
              <a:rPr lang="en-US" b="1" dirty="0">
                <a:latin typeface="Times New Roman" panose="02020603050405020304" pitchFamily="18" charset="0"/>
                <a:cs typeface="Times New Roman" panose="02020603050405020304" pitchFamily="18" charset="0"/>
              </a:rPr>
              <a:t>CALONAIXACEIEIEMUMHXAHXADFXYRPODTNG</a:t>
            </a:r>
            <a:r>
              <a:rPr lang="en-US" dirty="0">
                <a:latin typeface="Times New Roman" panose="02020603050405020304" pitchFamily="18" charset="0"/>
                <a:cs typeface="Times New Roman" panose="02020603050405020304" pitchFamily="18" charset="0"/>
              </a:rPr>
              <a:t> using double stage columnar transposition with key </a:t>
            </a:r>
            <a:r>
              <a:rPr lang="en-US" b="1" dirty="0">
                <a:latin typeface="Times New Roman" panose="02020603050405020304" pitchFamily="18" charset="0"/>
                <a:cs typeface="Times New Roman" panose="02020603050405020304" pitchFamily="18" charset="0"/>
              </a:rPr>
              <a:t>MANIPAL</a:t>
            </a: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lnSpc>
                <a:spcPct val="100000"/>
              </a:lnSpc>
              <a:buNone/>
            </a:pPr>
            <a:r>
              <a:rPr lang="en-US" u="sng" dirty="0">
                <a:solidFill>
                  <a:srgbClr val="FF0000"/>
                </a:solidFill>
                <a:latin typeface="Times New Roman" panose="02020603050405020304" pitchFamily="18" charset="0"/>
                <a:cs typeface="Times New Roman" panose="02020603050405020304" pitchFamily="18" charset="0"/>
              </a:rPr>
              <a:t>Solution:-</a:t>
            </a: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MANIPAL →</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2321299194"/>
              </p:ext>
            </p:extLst>
          </p:nvPr>
        </p:nvGraphicFramePr>
        <p:xfrm>
          <a:off x="1480456" y="4932436"/>
          <a:ext cx="7482111" cy="518160"/>
        </p:xfrm>
        <a:graphic>
          <a:graphicData uri="http://schemas.openxmlformats.org/drawingml/2006/table">
            <a:tbl>
              <a:tblPr firstRow="1" bandRow="1">
                <a:tableStyleId>{5C22544A-7EE6-4342-B048-85BDC9FD1C3A}</a:tableStyleId>
              </a:tblPr>
              <a:tblGrid>
                <a:gridCol w="1068873">
                  <a:extLst>
                    <a:ext uri="{9D8B030D-6E8A-4147-A177-3AD203B41FA5}">
                      <a16:colId xmlns:a16="http://schemas.microsoft.com/office/drawing/2014/main" val="1879985945"/>
                    </a:ext>
                  </a:extLst>
                </a:gridCol>
                <a:gridCol w="1068873">
                  <a:extLst>
                    <a:ext uri="{9D8B030D-6E8A-4147-A177-3AD203B41FA5}">
                      <a16:colId xmlns:a16="http://schemas.microsoft.com/office/drawing/2014/main" val="907855811"/>
                    </a:ext>
                  </a:extLst>
                </a:gridCol>
                <a:gridCol w="1068873">
                  <a:extLst>
                    <a:ext uri="{9D8B030D-6E8A-4147-A177-3AD203B41FA5}">
                      <a16:colId xmlns:a16="http://schemas.microsoft.com/office/drawing/2014/main" val="2654180426"/>
                    </a:ext>
                  </a:extLst>
                </a:gridCol>
                <a:gridCol w="1068873">
                  <a:extLst>
                    <a:ext uri="{9D8B030D-6E8A-4147-A177-3AD203B41FA5}">
                      <a16:colId xmlns:a16="http://schemas.microsoft.com/office/drawing/2014/main" val="278856071"/>
                    </a:ext>
                  </a:extLst>
                </a:gridCol>
                <a:gridCol w="1068873">
                  <a:extLst>
                    <a:ext uri="{9D8B030D-6E8A-4147-A177-3AD203B41FA5}">
                      <a16:colId xmlns:a16="http://schemas.microsoft.com/office/drawing/2014/main" val="1057552764"/>
                    </a:ext>
                  </a:extLst>
                </a:gridCol>
                <a:gridCol w="1068873">
                  <a:extLst>
                    <a:ext uri="{9D8B030D-6E8A-4147-A177-3AD203B41FA5}">
                      <a16:colId xmlns:a16="http://schemas.microsoft.com/office/drawing/2014/main" val="4253073644"/>
                    </a:ext>
                  </a:extLst>
                </a:gridCol>
                <a:gridCol w="1068873">
                  <a:extLst>
                    <a:ext uri="{9D8B030D-6E8A-4147-A177-3AD203B41FA5}">
                      <a16:colId xmlns:a16="http://schemas.microsoft.com/office/drawing/2014/main" val="3296640259"/>
                    </a:ext>
                  </a:extLst>
                </a:gridCol>
              </a:tblGrid>
              <a:tr h="44571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spTree>
    <p:extLst>
      <p:ext uri="{BB962C8B-B14F-4D97-AF65-F5344CB8AC3E}">
        <p14:creationId xmlns:p14="http://schemas.microsoft.com/office/powerpoint/2010/main" val="66020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556658"/>
            <a:ext cx="11800114" cy="5138056"/>
          </a:xfrm>
        </p:spPr>
        <p:txBody>
          <a:bodyPr>
            <a:normAutofit/>
          </a:bodyPr>
          <a:lstStyle/>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The decrypted text after first stage decryption:- </a:t>
            </a:r>
            <a:r>
              <a:rPr lang="en-US" b="1" dirty="0">
                <a:solidFill>
                  <a:srgbClr val="FF0000"/>
                </a:solidFill>
                <a:latin typeface="Times New Roman" panose="02020603050405020304" pitchFamily="18" charset="0"/>
                <a:cs typeface="Times New Roman" panose="02020603050405020304" pitchFamily="18" charset="0"/>
              </a:rPr>
              <a:t>ACFEOAMHAXIDIUXLYETXMAORINAHDNPEGCX</a:t>
            </a:r>
            <a:r>
              <a:rPr lang="en-US" dirty="0">
                <a:solidFill>
                  <a:srgbClr val="FF0000"/>
                </a:solidFill>
                <a:latin typeface="Times New Roman" panose="02020603050405020304" pitchFamily="18" charset="0"/>
                <a:cs typeface="Times New Roman" panose="02020603050405020304" pitchFamily="18" charset="0"/>
              </a:rPr>
              <a:t>.</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2647508530"/>
              </p:ext>
            </p:extLst>
          </p:nvPr>
        </p:nvGraphicFramePr>
        <p:xfrm>
          <a:off x="1496786" y="1788886"/>
          <a:ext cx="9198427" cy="533400"/>
        </p:xfrm>
        <a:graphic>
          <a:graphicData uri="http://schemas.openxmlformats.org/drawingml/2006/table">
            <a:tbl>
              <a:tblPr firstRow="1" bandRow="1">
                <a:tableStyleId>{5C22544A-7EE6-4342-B048-85BDC9FD1C3A}</a:tableStyleId>
              </a:tblPr>
              <a:tblGrid>
                <a:gridCol w="1314061">
                  <a:extLst>
                    <a:ext uri="{9D8B030D-6E8A-4147-A177-3AD203B41FA5}">
                      <a16:colId xmlns:a16="http://schemas.microsoft.com/office/drawing/2014/main" val="1879985945"/>
                    </a:ext>
                  </a:extLst>
                </a:gridCol>
                <a:gridCol w="1314061">
                  <a:extLst>
                    <a:ext uri="{9D8B030D-6E8A-4147-A177-3AD203B41FA5}">
                      <a16:colId xmlns:a16="http://schemas.microsoft.com/office/drawing/2014/main" val="907855811"/>
                    </a:ext>
                  </a:extLst>
                </a:gridCol>
                <a:gridCol w="1314061">
                  <a:extLst>
                    <a:ext uri="{9D8B030D-6E8A-4147-A177-3AD203B41FA5}">
                      <a16:colId xmlns:a16="http://schemas.microsoft.com/office/drawing/2014/main" val="2654180426"/>
                    </a:ext>
                  </a:extLst>
                </a:gridCol>
                <a:gridCol w="1314061">
                  <a:extLst>
                    <a:ext uri="{9D8B030D-6E8A-4147-A177-3AD203B41FA5}">
                      <a16:colId xmlns:a16="http://schemas.microsoft.com/office/drawing/2014/main" val="278856071"/>
                    </a:ext>
                  </a:extLst>
                </a:gridCol>
                <a:gridCol w="1314061">
                  <a:extLst>
                    <a:ext uri="{9D8B030D-6E8A-4147-A177-3AD203B41FA5}">
                      <a16:colId xmlns:a16="http://schemas.microsoft.com/office/drawing/2014/main" val="1057552764"/>
                    </a:ext>
                  </a:extLst>
                </a:gridCol>
                <a:gridCol w="1314061">
                  <a:extLst>
                    <a:ext uri="{9D8B030D-6E8A-4147-A177-3AD203B41FA5}">
                      <a16:colId xmlns:a16="http://schemas.microsoft.com/office/drawing/2014/main" val="4253073644"/>
                    </a:ext>
                  </a:extLst>
                </a:gridCol>
                <a:gridCol w="1314061">
                  <a:extLst>
                    <a:ext uri="{9D8B030D-6E8A-4147-A177-3AD203B41FA5}">
                      <a16:colId xmlns:a16="http://schemas.microsoft.com/office/drawing/2014/main" val="3296640259"/>
                    </a:ext>
                  </a:extLst>
                </a:gridCol>
              </a:tblGrid>
              <a:tr h="53340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graphicFrame>
        <p:nvGraphicFramePr>
          <p:cNvPr id="5" name="Table 4">
            <a:extLst>
              <a:ext uri="{FF2B5EF4-FFF2-40B4-BE49-F238E27FC236}">
                <a16:creationId xmlns:a16="http://schemas.microsoft.com/office/drawing/2014/main" id="{4196169A-6C7D-F340-D423-373BA96E2301}"/>
              </a:ext>
            </a:extLst>
          </p:cNvPr>
          <p:cNvGraphicFramePr>
            <a:graphicFrameLocks noGrp="1"/>
          </p:cNvGraphicFramePr>
          <p:nvPr>
            <p:extLst>
              <p:ext uri="{D42A27DB-BD31-4B8C-83A1-F6EECF244321}">
                <p14:modId xmlns:p14="http://schemas.microsoft.com/office/powerpoint/2010/main" val="1630312477"/>
              </p:ext>
            </p:extLst>
          </p:nvPr>
        </p:nvGraphicFramePr>
        <p:xfrm>
          <a:off x="1496785" y="2554514"/>
          <a:ext cx="9198427" cy="2286000"/>
        </p:xfrm>
        <a:graphic>
          <a:graphicData uri="http://schemas.openxmlformats.org/drawingml/2006/table">
            <a:tbl>
              <a:tblPr firstRow="1" bandRow="1">
                <a:tableStyleId>{5C22544A-7EE6-4342-B048-85BDC9FD1C3A}</a:tableStyleId>
              </a:tblPr>
              <a:tblGrid>
                <a:gridCol w="1314061">
                  <a:extLst>
                    <a:ext uri="{9D8B030D-6E8A-4147-A177-3AD203B41FA5}">
                      <a16:colId xmlns:a16="http://schemas.microsoft.com/office/drawing/2014/main" val="3270016392"/>
                    </a:ext>
                  </a:extLst>
                </a:gridCol>
                <a:gridCol w="1314061">
                  <a:extLst>
                    <a:ext uri="{9D8B030D-6E8A-4147-A177-3AD203B41FA5}">
                      <a16:colId xmlns:a16="http://schemas.microsoft.com/office/drawing/2014/main" val="1741076177"/>
                    </a:ext>
                  </a:extLst>
                </a:gridCol>
                <a:gridCol w="1314061">
                  <a:extLst>
                    <a:ext uri="{9D8B030D-6E8A-4147-A177-3AD203B41FA5}">
                      <a16:colId xmlns:a16="http://schemas.microsoft.com/office/drawing/2014/main" val="1113978380"/>
                    </a:ext>
                  </a:extLst>
                </a:gridCol>
                <a:gridCol w="1314061">
                  <a:extLst>
                    <a:ext uri="{9D8B030D-6E8A-4147-A177-3AD203B41FA5}">
                      <a16:colId xmlns:a16="http://schemas.microsoft.com/office/drawing/2014/main" val="2006912096"/>
                    </a:ext>
                  </a:extLst>
                </a:gridCol>
                <a:gridCol w="1314061">
                  <a:extLst>
                    <a:ext uri="{9D8B030D-6E8A-4147-A177-3AD203B41FA5}">
                      <a16:colId xmlns:a16="http://schemas.microsoft.com/office/drawing/2014/main" val="1579354659"/>
                    </a:ext>
                  </a:extLst>
                </a:gridCol>
                <a:gridCol w="1314061">
                  <a:extLst>
                    <a:ext uri="{9D8B030D-6E8A-4147-A177-3AD203B41FA5}">
                      <a16:colId xmlns:a16="http://schemas.microsoft.com/office/drawing/2014/main" val="4161083502"/>
                    </a:ext>
                  </a:extLst>
                </a:gridCol>
                <a:gridCol w="1314061">
                  <a:extLst>
                    <a:ext uri="{9D8B030D-6E8A-4147-A177-3AD203B41FA5}">
                      <a16:colId xmlns:a16="http://schemas.microsoft.com/office/drawing/2014/main" val="3342440108"/>
                    </a:ext>
                  </a:extLst>
                </a:gridCol>
              </a:tblGrid>
              <a:tr h="370840">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C</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F</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O</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M</a:t>
                      </a:r>
                    </a:p>
                  </a:txBody>
                  <a:tcPr>
                    <a:solidFill>
                      <a:schemeClr val="bg2"/>
                    </a:solidFill>
                  </a:tcPr>
                </a:tc>
                <a:extLst>
                  <a:ext uri="{0D108BD9-81ED-4DB2-BD59-A6C34878D82A}">
                    <a16:rowId xmlns:a16="http://schemas.microsoft.com/office/drawing/2014/main" val="3138884840"/>
                  </a:ext>
                </a:extLst>
              </a:tr>
              <a:tr h="370840">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H</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D</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U</a:t>
                      </a:r>
                    </a:p>
                  </a:txBody>
                  <a:tcPr>
                    <a:solidFill>
                      <a:schemeClr val="bg2"/>
                    </a:solidFill>
                  </a:tcPr>
                </a:tc>
                <a:extLst>
                  <a:ext uri="{0D108BD9-81ED-4DB2-BD59-A6C34878D82A}">
                    <a16:rowId xmlns:a16="http://schemas.microsoft.com/office/drawing/2014/main" val="4177503845"/>
                  </a:ext>
                </a:extLst>
              </a:tr>
              <a:tr h="370840">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L</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Y</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T</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M</a:t>
                      </a:r>
                    </a:p>
                  </a:txBody>
                  <a:tcPr>
                    <a:solidFill>
                      <a:schemeClr val="bg2"/>
                    </a:solidFill>
                  </a:tcPr>
                </a:tc>
                <a:extLst>
                  <a:ext uri="{0D108BD9-81ED-4DB2-BD59-A6C34878D82A}">
                    <a16:rowId xmlns:a16="http://schemas.microsoft.com/office/drawing/2014/main" val="2054408800"/>
                  </a:ext>
                </a:extLst>
              </a:tr>
              <a:tr h="370840">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O</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R</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N</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H</a:t>
                      </a:r>
                    </a:p>
                  </a:txBody>
                  <a:tcPr>
                    <a:solidFill>
                      <a:schemeClr val="bg2"/>
                    </a:solidFill>
                  </a:tcPr>
                </a:tc>
                <a:extLst>
                  <a:ext uri="{0D108BD9-81ED-4DB2-BD59-A6C34878D82A}">
                    <a16:rowId xmlns:a16="http://schemas.microsoft.com/office/drawing/2014/main" val="3510221422"/>
                  </a:ext>
                </a:extLst>
              </a:tr>
              <a:tr h="370840">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D</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N</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P</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G</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C</a:t>
                      </a:r>
                    </a:p>
                  </a:txBody>
                  <a:tcPr>
                    <a:solidFill>
                      <a:schemeClr val="bg2"/>
                    </a:solidFill>
                  </a:tcPr>
                </a:tc>
                <a:tc>
                  <a:txBody>
                    <a:bodyPr/>
                    <a:lstStyle/>
                    <a:p>
                      <a:pPr algn="ctr"/>
                      <a:r>
                        <a:rPr lang="en-US" sz="24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extLst>
                  <a:ext uri="{0D108BD9-81ED-4DB2-BD59-A6C34878D82A}">
                    <a16:rowId xmlns:a16="http://schemas.microsoft.com/office/drawing/2014/main" val="957234571"/>
                  </a:ext>
                </a:extLst>
              </a:tr>
            </a:tbl>
          </a:graphicData>
        </a:graphic>
      </p:graphicFrame>
    </p:spTree>
    <p:extLst>
      <p:ext uri="{BB962C8B-B14F-4D97-AF65-F5344CB8AC3E}">
        <p14:creationId xmlns:p14="http://schemas.microsoft.com/office/powerpoint/2010/main" val="29920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238A-C1C0-E112-2984-95289FC26CC5}"/>
              </a:ext>
            </a:extLst>
          </p:cNvPr>
          <p:cNvSpPr>
            <a:spLocks noGrp="1"/>
          </p:cNvSpPr>
          <p:nvPr>
            <p:ph type="title"/>
          </p:nvPr>
        </p:nvSpPr>
        <p:spPr>
          <a:xfrm>
            <a:off x="838200" y="365125"/>
            <a:ext cx="10515600" cy="1006475"/>
          </a:xfrm>
          <a:ln>
            <a:solidFill>
              <a:srgbClr val="C00000"/>
            </a:solidFill>
          </a:ln>
        </p:spPr>
        <p:txBody>
          <a:bodyPr>
            <a:normAutofit/>
          </a:bodyPr>
          <a:lstStyle/>
          <a:p>
            <a:pPr algn="ctr"/>
            <a:r>
              <a:rPr lang="en-US" sz="5400" dirty="0">
                <a:latin typeface="Times New Roman" panose="02020603050405020304" pitchFamily="18" charset="0"/>
                <a:cs typeface="Times New Roman" panose="02020603050405020304" pitchFamily="18" charset="0"/>
              </a:rPr>
              <a:t>Numerical 3 (Contd..)</a:t>
            </a:r>
          </a:p>
        </p:txBody>
      </p:sp>
      <p:sp>
        <p:nvSpPr>
          <p:cNvPr id="3" name="Content Placeholder 2">
            <a:extLst>
              <a:ext uri="{FF2B5EF4-FFF2-40B4-BE49-F238E27FC236}">
                <a16:creationId xmlns:a16="http://schemas.microsoft.com/office/drawing/2014/main" id="{E77241CB-F7F8-C29D-486B-B9ECCE2F7A5E}"/>
              </a:ext>
            </a:extLst>
          </p:cNvPr>
          <p:cNvSpPr>
            <a:spLocks noGrp="1"/>
          </p:cNvSpPr>
          <p:nvPr>
            <p:ph idx="1"/>
          </p:nvPr>
        </p:nvSpPr>
        <p:spPr>
          <a:xfrm>
            <a:off x="206829" y="1458686"/>
            <a:ext cx="11800114" cy="5236027"/>
          </a:xfrm>
        </p:spPr>
        <p:txBody>
          <a:bodyPr>
            <a:normAutofit fontScale="92500" lnSpcReduction="10000"/>
          </a:bodyPr>
          <a:lstStyle/>
          <a:p>
            <a:pPr>
              <a:lnSpc>
                <a:spcPct val="100000"/>
              </a:lnSpc>
            </a:pPr>
            <a:r>
              <a:rPr lang="en-US" dirty="0">
                <a:solidFill>
                  <a:srgbClr val="FF0000"/>
                </a:solidFill>
                <a:latin typeface="Times New Roman" panose="02020603050405020304" pitchFamily="18" charset="0"/>
                <a:cs typeface="Times New Roman" panose="02020603050405020304" pitchFamily="18" charset="0"/>
              </a:rPr>
              <a:t>Now decrypt </a:t>
            </a:r>
            <a:r>
              <a:rPr lang="en-US" b="1" dirty="0">
                <a:solidFill>
                  <a:srgbClr val="FF0000"/>
                </a:solidFill>
                <a:latin typeface="Times New Roman" panose="02020603050405020304" pitchFamily="18" charset="0"/>
                <a:cs typeface="Times New Roman" panose="02020603050405020304" pitchFamily="18" charset="0"/>
              </a:rPr>
              <a:t>ACFEOAMHAXIDIUXLYETXMAORINAHDNPEGCX</a:t>
            </a:r>
            <a:r>
              <a:rPr lang="en-US" dirty="0">
                <a:solidFill>
                  <a:srgbClr val="FF0000"/>
                </a:solidFill>
                <a:latin typeface="Times New Roman" panose="02020603050405020304" pitchFamily="18" charset="0"/>
                <a:cs typeface="Times New Roman" panose="02020603050405020304" pitchFamily="18" charset="0"/>
              </a:rPr>
              <a:t> again.</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The decrypted text after second stage decryption:- </a:t>
            </a:r>
            <a:r>
              <a:rPr lang="en-US" b="1" dirty="0">
                <a:solidFill>
                  <a:srgbClr val="FF0000"/>
                </a:solidFill>
                <a:latin typeface="Times New Roman" panose="02020603050405020304" pitchFamily="18" charset="0"/>
                <a:cs typeface="Times New Roman" panose="02020603050405020304" pitchFamily="18" charset="0"/>
              </a:rPr>
              <a:t>MANIPALACADEMYOFHIGHEREDUCATIONXXXX</a:t>
            </a:r>
            <a:r>
              <a:rPr lang="en-US" dirty="0">
                <a:solidFill>
                  <a:srgbClr val="FF0000"/>
                </a:solidFill>
                <a:latin typeface="Times New Roman" panose="02020603050405020304" pitchFamily="18" charset="0"/>
                <a:cs typeface="Times New Roman" panose="02020603050405020304" pitchFamily="18" charset="0"/>
              </a:rPr>
              <a:t>.</a:t>
            </a:r>
          </a:p>
          <a:p>
            <a:pPr>
              <a:lnSpc>
                <a:spcPct val="100000"/>
              </a:lnSpc>
            </a:pPr>
            <a:r>
              <a:rPr lang="en-US" dirty="0">
                <a:solidFill>
                  <a:srgbClr val="FF0000"/>
                </a:solidFill>
                <a:latin typeface="Times New Roman" panose="02020603050405020304" pitchFamily="18" charset="0"/>
                <a:cs typeface="Times New Roman" panose="02020603050405020304" pitchFamily="18" charset="0"/>
              </a:rPr>
              <a:t>Hence, discarding the 4 ‘X’s at the end, the decrypted text is </a:t>
            </a:r>
            <a:r>
              <a:rPr lang="en-US" b="1" dirty="0">
                <a:solidFill>
                  <a:srgbClr val="FF0000"/>
                </a:solidFill>
                <a:latin typeface="Times New Roman" panose="02020603050405020304" pitchFamily="18" charset="0"/>
                <a:cs typeface="Times New Roman" panose="02020603050405020304" pitchFamily="18" charset="0"/>
              </a:rPr>
              <a:t>MANIPALACADEMYOFHIGHEREDUCATION</a:t>
            </a:r>
            <a:r>
              <a:rPr lang="en-US" dirty="0">
                <a:solidFill>
                  <a:srgbClr val="FF0000"/>
                </a:solidFill>
                <a:latin typeface="Times New Roman" panose="02020603050405020304" pitchFamily="18" charset="0"/>
                <a:cs typeface="Times New Roman" panose="02020603050405020304" pitchFamily="18" charset="0"/>
              </a:rPr>
              <a:t>.</a:t>
            </a: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a:lnSpc>
                <a:spcPct val="100000"/>
              </a:lnSpc>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endParaRPr lang="en-US"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D60C1B5-CF91-5659-229C-F05CF9DC4585}"/>
              </a:ext>
            </a:extLst>
          </p:cNvPr>
          <p:cNvGraphicFramePr>
            <a:graphicFrameLocks noGrp="1"/>
          </p:cNvGraphicFramePr>
          <p:nvPr>
            <p:extLst>
              <p:ext uri="{D42A27DB-BD31-4B8C-83A1-F6EECF244321}">
                <p14:modId xmlns:p14="http://schemas.microsoft.com/office/powerpoint/2010/main" val="677213069"/>
              </p:ext>
            </p:extLst>
          </p:nvPr>
        </p:nvGraphicFramePr>
        <p:xfrm>
          <a:off x="1480455" y="2155372"/>
          <a:ext cx="9198427" cy="533400"/>
        </p:xfrm>
        <a:graphic>
          <a:graphicData uri="http://schemas.openxmlformats.org/drawingml/2006/table">
            <a:tbl>
              <a:tblPr firstRow="1" bandRow="1">
                <a:tableStyleId>{5C22544A-7EE6-4342-B048-85BDC9FD1C3A}</a:tableStyleId>
              </a:tblPr>
              <a:tblGrid>
                <a:gridCol w="1314061">
                  <a:extLst>
                    <a:ext uri="{9D8B030D-6E8A-4147-A177-3AD203B41FA5}">
                      <a16:colId xmlns:a16="http://schemas.microsoft.com/office/drawing/2014/main" val="1879985945"/>
                    </a:ext>
                  </a:extLst>
                </a:gridCol>
                <a:gridCol w="1314061">
                  <a:extLst>
                    <a:ext uri="{9D8B030D-6E8A-4147-A177-3AD203B41FA5}">
                      <a16:colId xmlns:a16="http://schemas.microsoft.com/office/drawing/2014/main" val="907855811"/>
                    </a:ext>
                  </a:extLst>
                </a:gridCol>
                <a:gridCol w="1314061">
                  <a:extLst>
                    <a:ext uri="{9D8B030D-6E8A-4147-A177-3AD203B41FA5}">
                      <a16:colId xmlns:a16="http://schemas.microsoft.com/office/drawing/2014/main" val="2654180426"/>
                    </a:ext>
                  </a:extLst>
                </a:gridCol>
                <a:gridCol w="1314061">
                  <a:extLst>
                    <a:ext uri="{9D8B030D-6E8A-4147-A177-3AD203B41FA5}">
                      <a16:colId xmlns:a16="http://schemas.microsoft.com/office/drawing/2014/main" val="278856071"/>
                    </a:ext>
                  </a:extLst>
                </a:gridCol>
                <a:gridCol w="1314061">
                  <a:extLst>
                    <a:ext uri="{9D8B030D-6E8A-4147-A177-3AD203B41FA5}">
                      <a16:colId xmlns:a16="http://schemas.microsoft.com/office/drawing/2014/main" val="1057552764"/>
                    </a:ext>
                  </a:extLst>
                </a:gridCol>
                <a:gridCol w="1314061">
                  <a:extLst>
                    <a:ext uri="{9D8B030D-6E8A-4147-A177-3AD203B41FA5}">
                      <a16:colId xmlns:a16="http://schemas.microsoft.com/office/drawing/2014/main" val="4253073644"/>
                    </a:ext>
                  </a:extLst>
                </a:gridCol>
                <a:gridCol w="1314061">
                  <a:extLst>
                    <a:ext uri="{9D8B030D-6E8A-4147-A177-3AD203B41FA5}">
                      <a16:colId xmlns:a16="http://schemas.microsoft.com/office/drawing/2014/main" val="3296640259"/>
                    </a:ext>
                  </a:extLst>
                </a:gridCol>
              </a:tblGrid>
              <a:tr h="533400">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800" b="0" dirty="0">
                          <a:solidFill>
                            <a:srgbClr val="FF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79033121"/>
                  </a:ext>
                </a:extLst>
              </a:tr>
            </a:tbl>
          </a:graphicData>
        </a:graphic>
      </p:graphicFrame>
      <p:graphicFrame>
        <p:nvGraphicFramePr>
          <p:cNvPr id="5" name="Table 4">
            <a:extLst>
              <a:ext uri="{FF2B5EF4-FFF2-40B4-BE49-F238E27FC236}">
                <a16:creationId xmlns:a16="http://schemas.microsoft.com/office/drawing/2014/main" id="{4196169A-6C7D-F340-D423-373BA96E2301}"/>
              </a:ext>
            </a:extLst>
          </p:cNvPr>
          <p:cNvGraphicFramePr>
            <a:graphicFrameLocks noGrp="1"/>
          </p:cNvGraphicFramePr>
          <p:nvPr>
            <p:extLst>
              <p:ext uri="{D42A27DB-BD31-4B8C-83A1-F6EECF244321}">
                <p14:modId xmlns:p14="http://schemas.microsoft.com/office/powerpoint/2010/main" val="4118799826"/>
              </p:ext>
            </p:extLst>
          </p:nvPr>
        </p:nvGraphicFramePr>
        <p:xfrm>
          <a:off x="1480454" y="2775858"/>
          <a:ext cx="9198427" cy="1981200"/>
        </p:xfrm>
        <a:graphic>
          <a:graphicData uri="http://schemas.openxmlformats.org/drawingml/2006/table">
            <a:tbl>
              <a:tblPr firstRow="1" bandRow="1">
                <a:tableStyleId>{5C22544A-7EE6-4342-B048-85BDC9FD1C3A}</a:tableStyleId>
              </a:tblPr>
              <a:tblGrid>
                <a:gridCol w="1314061">
                  <a:extLst>
                    <a:ext uri="{9D8B030D-6E8A-4147-A177-3AD203B41FA5}">
                      <a16:colId xmlns:a16="http://schemas.microsoft.com/office/drawing/2014/main" val="3270016392"/>
                    </a:ext>
                  </a:extLst>
                </a:gridCol>
                <a:gridCol w="1314061">
                  <a:extLst>
                    <a:ext uri="{9D8B030D-6E8A-4147-A177-3AD203B41FA5}">
                      <a16:colId xmlns:a16="http://schemas.microsoft.com/office/drawing/2014/main" val="1741076177"/>
                    </a:ext>
                  </a:extLst>
                </a:gridCol>
                <a:gridCol w="1314061">
                  <a:extLst>
                    <a:ext uri="{9D8B030D-6E8A-4147-A177-3AD203B41FA5}">
                      <a16:colId xmlns:a16="http://schemas.microsoft.com/office/drawing/2014/main" val="1113978380"/>
                    </a:ext>
                  </a:extLst>
                </a:gridCol>
                <a:gridCol w="1314061">
                  <a:extLst>
                    <a:ext uri="{9D8B030D-6E8A-4147-A177-3AD203B41FA5}">
                      <a16:colId xmlns:a16="http://schemas.microsoft.com/office/drawing/2014/main" val="2006912096"/>
                    </a:ext>
                  </a:extLst>
                </a:gridCol>
                <a:gridCol w="1314061">
                  <a:extLst>
                    <a:ext uri="{9D8B030D-6E8A-4147-A177-3AD203B41FA5}">
                      <a16:colId xmlns:a16="http://schemas.microsoft.com/office/drawing/2014/main" val="1579354659"/>
                    </a:ext>
                  </a:extLst>
                </a:gridCol>
                <a:gridCol w="1314061">
                  <a:extLst>
                    <a:ext uri="{9D8B030D-6E8A-4147-A177-3AD203B41FA5}">
                      <a16:colId xmlns:a16="http://schemas.microsoft.com/office/drawing/2014/main" val="4161083502"/>
                    </a:ext>
                  </a:extLst>
                </a:gridCol>
                <a:gridCol w="1314061">
                  <a:extLst>
                    <a:ext uri="{9D8B030D-6E8A-4147-A177-3AD203B41FA5}">
                      <a16:colId xmlns:a16="http://schemas.microsoft.com/office/drawing/2014/main" val="3342440108"/>
                    </a:ext>
                  </a:extLst>
                </a:gridCol>
              </a:tblGrid>
              <a:tr h="322399">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M</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P</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L</a:t>
                      </a:r>
                    </a:p>
                  </a:txBody>
                  <a:tcPr>
                    <a:solidFill>
                      <a:schemeClr val="bg2"/>
                    </a:solidFill>
                  </a:tcPr>
                </a:tc>
                <a:extLst>
                  <a:ext uri="{0D108BD9-81ED-4DB2-BD59-A6C34878D82A}">
                    <a16:rowId xmlns:a16="http://schemas.microsoft.com/office/drawing/2014/main" val="3138884840"/>
                  </a:ext>
                </a:extLst>
              </a:tr>
              <a:tr h="322399">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C</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D</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M</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Y</a:t>
                      </a:r>
                    </a:p>
                  </a:txBody>
                  <a:tcPr>
                    <a:solidFill>
                      <a:schemeClr val="bg2"/>
                    </a:solidFill>
                  </a:tcPr>
                </a:tc>
                <a:extLst>
                  <a:ext uri="{0D108BD9-81ED-4DB2-BD59-A6C34878D82A}">
                    <a16:rowId xmlns:a16="http://schemas.microsoft.com/office/drawing/2014/main" val="4177503845"/>
                  </a:ext>
                </a:extLst>
              </a:tr>
              <a:tr h="322399">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F</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H</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G</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H</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extLst>
                  <a:ext uri="{0D108BD9-81ED-4DB2-BD59-A6C34878D82A}">
                    <a16:rowId xmlns:a16="http://schemas.microsoft.com/office/drawing/2014/main" val="2054408800"/>
                  </a:ext>
                </a:extLst>
              </a:tr>
              <a:tr h="322399">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R</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E</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D</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U</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C</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A</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T</a:t>
                      </a:r>
                    </a:p>
                  </a:txBody>
                  <a:tcPr>
                    <a:solidFill>
                      <a:schemeClr val="bg2"/>
                    </a:solidFill>
                  </a:tcPr>
                </a:tc>
                <a:extLst>
                  <a:ext uri="{0D108BD9-81ED-4DB2-BD59-A6C34878D82A}">
                    <a16:rowId xmlns:a16="http://schemas.microsoft.com/office/drawing/2014/main" val="3510221422"/>
                  </a:ext>
                </a:extLst>
              </a:tr>
              <a:tr h="322399">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I</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O</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N</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tc>
                  <a:txBody>
                    <a:bodyPr/>
                    <a:lstStyle/>
                    <a:p>
                      <a:pPr algn="ctr"/>
                      <a:r>
                        <a:rPr lang="en-US" sz="2000" b="0" dirty="0">
                          <a:solidFill>
                            <a:srgbClr val="FF0000"/>
                          </a:solidFill>
                          <a:latin typeface="Times New Roman" panose="02020603050405020304" pitchFamily="18" charset="0"/>
                          <a:cs typeface="Times New Roman" panose="02020603050405020304" pitchFamily="18" charset="0"/>
                        </a:rPr>
                        <a:t>X</a:t>
                      </a:r>
                    </a:p>
                  </a:txBody>
                  <a:tcPr>
                    <a:solidFill>
                      <a:schemeClr val="bg2"/>
                    </a:solidFill>
                  </a:tcPr>
                </a:tc>
                <a:extLst>
                  <a:ext uri="{0D108BD9-81ED-4DB2-BD59-A6C34878D82A}">
                    <a16:rowId xmlns:a16="http://schemas.microsoft.com/office/drawing/2014/main" val="957234571"/>
                  </a:ext>
                </a:extLst>
              </a:tr>
            </a:tbl>
          </a:graphicData>
        </a:graphic>
      </p:graphicFrame>
    </p:spTree>
    <p:extLst>
      <p:ext uri="{BB962C8B-B14F-4D97-AF65-F5344CB8AC3E}">
        <p14:creationId xmlns:p14="http://schemas.microsoft.com/office/powerpoint/2010/main" val="232921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78515-7BF3-7AE5-93CB-723AA1CE8F6F}"/>
              </a:ext>
            </a:extLst>
          </p:cNvPr>
          <p:cNvSpPr>
            <a:spLocks noGrp="1"/>
          </p:cNvSpPr>
          <p:nvPr>
            <p:ph type="title"/>
          </p:nvPr>
        </p:nvSpPr>
        <p:spPr>
          <a:xfrm>
            <a:off x="686833" y="1153572"/>
            <a:ext cx="3395309"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Pros and Cons of Columnar Transposition Cipher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AA2DB059-6CAF-2887-E0A6-AF1F2901B9B7}"/>
              </a:ext>
            </a:extLst>
          </p:cNvPr>
          <p:cNvSpPr txBox="1"/>
          <p:nvPr/>
        </p:nvSpPr>
        <p:spPr>
          <a:xfrm>
            <a:off x="4310743" y="272143"/>
            <a:ext cx="7323092" cy="7201972"/>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Simple to understand and straight forward to implement.</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Resistant to BFA if key is slightly long or longer.</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More resistant to Statistical attack, when compared to Rail Fence, if (length of PT) mod (length of the key) is close to 0, but not equal to 0.</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Resistant to Pattern attack, when long keys are used, with multiple stages.</a:t>
            </a: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a:solidFill>
                  <a:srgbClr val="FF0000"/>
                </a:solidFill>
                <a:latin typeface="Times New Roman" panose="02020603050405020304" pitchFamily="18" charset="0"/>
                <a:cs typeface="Times New Roman" panose="02020603050405020304" pitchFamily="18" charset="0"/>
              </a:rPr>
              <a:t>Vulnerable to BFA if key is short.</a:t>
            </a:r>
          </a:p>
          <a:p>
            <a:pPr marL="285750" indent="-285750">
              <a:buFont typeface="Arial" panose="020B0604020202020204" pitchFamily="34" charset="0"/>
              <a:buChar char="•"/>
            </a:pPr>
            <a:r>
              <a:rPr lang="en-US" sz="2200" dirty="0">
                <a:solidFill>
                  <a:srgbClr val="FF0000"/>
                </a:solidFill>
                <a:latin typeface="Times New Roman" panose="02020603050405020304" pitchFamily="18" charset="0"/>
                <a:cs typeface="Times New Roman" panose="02020603050405020304" pitchFamily="18" charset="0"/>
              </a:rPr>
              <a:t>Highly vulnerable to Statistical attack, if length(PT) is a multiple of that of the key. </a:t>
            </a:r>
          </a:p>
          <a:p>
            <a:pPr marL="285750" indent="-285750">
              <a:buFont typeface="Arial" panose="020B0604020202020204" pitchFamily="34" charset="0"/>
              <a:buChar char="•"/>
            </a:pPr>
            <a:r>
              <a:rPr lang="en-US" sz="2200" dirty="0">
                <a:solidFill>
                  <a:srgbClr val="FF0000"/>
                </a:solidFill>
                <a:latin typeface="Times New Roman" panose="02020603050405020304" pitchFamily="18" charset="0"/>
                <a:cs typeface="Times New Roman" panose="02020603050405020304" pitchFamily="18" charset="0"/>
              </a:rPr>
              <a:t>Highly vulnerable to Pattern attack, when a short key is used, with a single stage transposition.</a:t>
            </a:r>
          </a:p>
          <a:p>
            <a:pPr marL="285750" indent="-285750">
              <a:buFont typeface="Arial" panose="020B0604020202020204" pitchFamily="34" charset="0"/>
              <a:buChar char="•"/>
            </a:pPr>
            <a:r>
              <a:rPr lang="en-US" sz="2200" dirty="0">
                <a:solidFill>
                  <a:srgbClr val="FF0000"/>
                </a:solidFill>
                <a:latin typeface="Times New Roman" panose="02020603050405020304" pitchFamily="18" charset="0"/>
                <a:cs typeface="Times New Roman" panose="02020603050405020304" pitchFamily="18" charset="0"/>
              </a:rPr>
              <a:t>Use of multiple stages will reduce the efficiency when long PT is used.</a:t>
            </a: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68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 calcmode="lin" valueType="num">
                                      <p:cBhvr additive="base">
                                        <p:cTn id="4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 calcmode="lin" valueType="num">
                                      <p:cBhvr additive="base">
                                        <p:cTn id="4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D46BDDD-FE1F-D7F3-E85C-EC2CCF535113}"/>
              </a:ext>
            </a:extLst>
          </p:cNvPr>
          <p:cNvSpPr>
            <a:spLocks noGrp="1"/>
          </p:cNvSpPr>
          <p:nvPr>
            <p:ph type="ctrTitle"/>
          </p:nvPr>
        </p:nvSpPr>
        <p:spPr>
          <a:xfrm>
            <a:off x="773408" y="992094"/>
            <a:ext cx="3616913" cy="2795160"/>
          </a:xfrm>
        </p:spPr>
        <p:txBody>
          <a:bodyPr>
            <a:normAutofit/>
          </a:bodyPr>
          <a:lstStyle/>
          <a:p>
            <a:r>
              <a:rPr lang="en-US" sz="4400" dirty="0">
                <a:latin typeface="Times New Roman" panose="02020603050405020304" pitchFamily="18" charset="0"/>
                <a:cs typeface="Times New Roman" panose="02020603050405020304" pitchFamily="18" charset="0"/>
              </a:rPr>
              <a:t>Stream Cipher and Block Cipher</a:t>
            </a:r>
          </a:p>
        </p:txBody>
      </p:sp>
      <p:pic>
        <p:nvPicPr>
          <p:cNvPr id="5" name="Picture 4" descr="A diagram of a computer algorithm&#10;&#10;Description automatically generated">
            <a:extLst>
              <a:ext uri="{FF2B5EF4-FFF2-40B4-BE49-F238E27FC236}">
                <a16:creationId xmlns:a16="http://schemas.microsoft.com/office/drawing/2014/main" id="{93889B1A-2173-AE60-61EC-BD13637B4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609" y="609639"/>
            <a:ext cx="6522362" cy="5608746"/>
          </a:xfrm>
          <a:prstGeom prst="rect">
            <a:avLst/>
          </a:prstGeom>
        </p:spPr>
      </p:pic>
    </p:spTree>
    <p:extLst>
      <p:ext uri="{BB962C8B-B14F-4D97-AF65-F5344CB8AC3E}">
        <p14:creationId xmlns:p14="http://schemas.microsoft.com/office/powerpoint/2010/main" val="226478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2D4DA-CF81-2F56-2B7E-9B969453B6CF}"/>
              </a:ext>
            </a:extLst>
          </p:cNvPr>
          <p:cNvSpPr>
            <a:spLocks noGrp="1"/>
          </p:cNvSpPr>
          <p:nvPr>
            <p:ph type="title"/>
          </p:nvPr>
        </p:nvSpPr>
        <p:spPr>
          <a:xfrm>
            <a:off x="838200" y="365126"/>
            <a:ext cx="11038114" cy="723446"/>
          </a:xfrm>
          <a:ln>
            <a:solidFill>
              <a:srgbClr val="C00000"/>
            </a:solidFill>
          </a:ln>
        </p:spPr>
        <p:txBody>
          <a:bodyPr>
            <a:normAutofit/>
          </a:bodyPr>
          <a:lstStyle/>
          <a:p>
            <a:r>
              <a:rPr lang="en-US" dirty="0">
                <a:latin typeface="Times New Roman" panose="02020603050405020304" pitchFamily="18" charset="0"/>
                <a:cs typeface="Times New Roman" panose="02020603050405020304" pitchFamily="18" charset="0"/>
              </a:rPr>
              <a:t>Differences between Stream and Block Ciphers</a:t>
            </a:r>
          </a:p>
        </p:txBody>
      </p:sp>
      <p:graphicFrame>
        <p:nvGraphicFramePr>
          <p:cNvPr id="4" name="Content Placeholder 3">
            <a:extLst>
              <a:ext uri="{FF2B5EF4-FFF2-40B4-BE49-F238E27FC236}">
                <a16:creationId xmlns:a16="http://schemas.microsoft.com/office/drawing/2014/main" id="{C4683BFE-3092-0D66-3517-77FBCD571F46}"/>
              </a:ext>
            </a:extLst>
          </p:cNvPr>
          <p:cNvGraphicFramePr>
            <a:graphicFrameLocks noGrp="1"/>
          </p:cNvGraphicFramePr>
          <p:nvPr>
            <p:ph idx="1"/>
          </p:nvPr>
        </p:nvGraphicFramePr>
        <p:xfrm>
          <a:off x="119743" y="1371600"/>
          <a:ext cx="11887200" cy="5486400"/>
        </p:xfrm>
        <a:graphic>
          <a:graphicData uri="http://schemas.openxmlformats.org/drawingml/2006/table">
            <a:tbl>
              <a:tblPr firstRow="1" bandRow="1">
                <a:tableStyleId>{5C22544A-7EE6-4342-B048-85BDC9FD1C3A}</a:tableStyleId>
              </a:tblPr>
              <a:tblGrid>
                <a:gridCol w="5791200">
                  <a:extLst>
                    <a:ext uri="{9D8B030D-6E8A-4147-A177-3AD203B41FA5}">
                      <a16:colId xmlns:a16="http://schemas.microsoft.com/office/drawing/2014/main" val="1606922166"/>
                    </a:ext>
                  </a:extLst>
                </a:gridCol>
                <a:gridCol w="6096000">
                  <a:extLst>
                    <a:ext uri="{9D8B030D-6E8A-4147-A177-3AD203B41FA5}">
                      <a16:colId xmlns:a16="http://schemas.microsoft.com/office/drawing/2014/main" val="3298634740"/>
                    </a:ext>
                  </a:extLst>
                </a:gridCol>
              </a:tblGrid>
              <a:tr h="435701">
                <a:tc>
                  <a:txBody>
                    <a:bodyPr/>
                    <a:lstStyle/>
                    <a:p>
                      <a:pPr algn="ctr"/>
                      <a:r>
                        <a:rPr lang="en-US" sz="2400" dirty="0">
                          <a:latin typeface="Times New Roman" panose="02020603050405020304" pitchFamily="18" charset="0"/>
                          <a:cs typeface="Times New Roman" panose="02020603050405020304" pitchFamily="18" charset="0"/>
                        </a:rPr>
                        <a:t>Stream</a:t>
                      </a:r>
                    </a:p>
                  </a:txBody>
                  <a:tcPr/>
                </a:tc>
                <a:tc>
                  <a:txBody>
                    <a:bodyPr/>
                    <a:lstStyle/>
                    <a:p>
                      <a:pPr algn="ctr"/>
                      <a:r>
                        <a:rPr lang="en-US" sz="2400" dirty="0">
                          <a:latin typeface="Times New Roman" panose="02020603050405020304" pitchFamily="18" charset="0"/>
                          <a:cs typeface="Times New Roman" panose="02020603050405020304" pitchFamily="18" charset="0"/>
                        </a:rPr>
                        <a:t>Block</a:t>
                      </a:r>
                    </a:p>
                  </a:txBody>
                  <a:tcPr/>
                </a:tc>
                <a:extLst>
                  <a:ext uri="{0D108BD9-81ED-4DB2-BD59-A6C34878D82A}">
                    <a16:rowId xmlns:a16="http://schemas.microsoft.com/office/drawing/2014/main" val="1110761808"/>
                  </a:ext>
                </a:extLst>
              </a:tr>
              <a:tr h="435701">
                <a:tc>
                  <a:txBody>
                    <a:bodyPr/>
                    <a:lstStyle/>
                    <a:p>
                      <a:pPr algn="ctr"/>
                      <a:r>
                        <a:rPr lang="en-US" sz="2400" dirty="0">
                          <a:latin typeface="Times New Roman" panose="02020603050405020304" pitchFamily="18" charset="0"/>
                          <a:cs typeface="Times New Roman" panose="02020603050405020304" pitchFamily="18" charset="0"/>
                        </a:rPr>
                        <a:t>One Bit or Byte is processed (encrypted or decrypted) at a time</a:t>
                      </a:r>
                    </a:p>
                  </a:txBody>
                  <a:tcPr/>
                </a:tc>
                <a:tc>
                  <a:txBody>
                    <a:bodyPr/>
                    <a:lstStyle/>
                    <a:p>
                      <a:pPr algn="ctr"/>
                      <a:r>
                        <a:rPr lang="en-US" sz="2400" dirty="0">
                          <a:latin typeface="Times New Roman" panose="02020603050405020304" pitchFamily="18" charset="0"/>
                          <a:cs typeface="Times New Roman" panose="02020603050405020304" pitchFamily="18" charset="0"/>
                        </a:rPr>
                        <a:t>Fixed size block is processed at a time (64 bits, 128 bits, etc.)</a:t>
                      </a:r>
                    </a:p>
                  </a:txBody>
                  <a:tcPr/>
                </a:tc>
                <a:extLst>
                  <a:ext uri="{0D108BD9-81ED-4DB2-BD59-A6C34878D82A}">
                    <a16:rowId xmlns:a16="http://schemas.microsoft.com/office/drawing/2014/main" val="543919882"/>
                  </a:ext>
                </a:extLst>
              </a:tr>
              <a:tr h="435701">
                <a:tc>
                  <a:txBody>
                    <a:bodyPr/>
                    <a:lstStyle/>
                    <a:p>
                      <a:pPr algn="ctr"/>
                      <a:r>
                        <a:rPr lang="en-US" sz="2400" dirty="0">
                          <a:latin typeface="Times New Roman" panose="02020603050405020304" pitchFamily="18" charset="0"/>
                          <a:cs typeface="Times New Roman" panose="02020603050405020304" pitchFamily="18" charset="0"/>
                        </a:rPr>
                        <a:t>Usually Variable Key size</a:t>
                      </a:r>
                    </a:p>
                  </a:txBody>
                  <a:tcPr/>
                </a:tc>
                <a:tc>
                  <a:txBody>
                    <a:bodyPr/>
                    <a:lstStyle/>
                    <a:p>
                      <a:pPr algn="ctr"/>
                      <a:r>
                        <a:rPr lang="en-US" sz="2400" dirty="0">
                          <a:latin typeface="Times New Roman" panose="02020603050405020304" pitchFamily="18" charset="0"/>
                          <a:cs typeface="Times New Roman" panose="02020603050405020304" pitchFamily="18" charset="0"/>
                        </a:rPr>
                        <a:t>A given algorithm will have a fixed key size</a:t>
                      </a:r>
                    </a:p>
                  </a:txBody>
                  <a:tcPr/>
                </a:tc>
                <a:extLst>
                  <a:ext uri="{0D108BD9-81ED-4DB2-BD59-A6C34878D82A}">
                    <a16:rowId xmlns:a16="http://schemas.microsoft.com/office/drawing/2014/main" val="3285185791"/>
                  </a:ext>
                </a:extLst>
              </a:tr>
              <a:tr h="435701">
                <a:tc>
                  <a:txBody>
                    <a:bodyPr/>
                    <a:lstStyle/>
                    <a:p>
                      <a:pPr algn="ctr"/>
                      <a:r>
                        <a:rPr lang="en-US" sz="2400" dirty="0">
                          <a:latin typeface="Times New Roman" panose="02020603050405020304" pitchFamily="18" charset="0"/>
                          <a:cs typeface="Times New Roman" panose="02020603050405020304" pitchFamily="18" charset="0"/>
                        </a:rPr>
                        <a:t>Padding is not required</a:t>
                      </a:r>
                    </a:p>
                  </a:txBody>
                  <a:tcPr/>
                </a:tc>
                <a:tc>
                  <a:txBody>
                    <a:bodyPr/>
                    <a:lstStyle/>
                    <a:p>
                      <a:pPr algn="ctr"/>
                      <a:r>
                        <a:rPr lang="en-US" sz="2400" dirty="0">
                          <a:latin typeface="Times New Roman" panose="02020603050405020304" pitchFamily="18" charset="0"/>
                          <a:cs typeface="Times New Roman" panose="02020603050405020304" pitchFamily="18" charset="0"/>
                        </a:rPr>
                        <a:t>Most probably requires padding</a:t>
                      </a:r>
                    </a:p>
                  </a:txBody>
                  <a:tcPr/>
                </a:tc>
                <a:extLst>
                  <a:ext uri="{0D108BD9-81ED-4DB2-BD59-A6C34878D82A}">
                    <a16:rowId xmlns:a16="http://schemas.microsoft.com/office/drawing/2014/main" val="1258157283"/>
                  </a:ext>
                </a:extLst>
              </a:tr>
              <a:tr h="435701">
                <a:tc>
                  <a:txBody>
                    <a:bodyPr/>
                    <a:lstStyle/>
                    <a:p>
                      <a:pPr algn="ctr"/>
                      <a:r>
                        <a:rPr lang="en-US" sz="2400" dirty="0">
                          <a:latin typeface="Times New Roman" panose="02020603050405020304" pitchFamily="18" charset="0"/>
                          <a:cs typeface="Times New Roman" panose="02020603050405020304" pitchFamily="18" charset="0"/>
                        </a:rPr>
                        <a:t>Processing is faster</a:t>
                      </a:r>
                    </a:p>
                  </a:txBody>
                  <a:tcPr/>
                </a:tc>
                <a:tc>
                  <a:txBody>
                    <a:bodyPr/>
                    <a:lstStyle/>
                    <a:p>
                      <a:pPr algn="ctr"/>
                      <a:r>
                        <a:rPr lang="en-US" sz="2400" dirty="0">
                          <a:latin typeface="Times New Roman" panose="02020603050405020304" pitchFamily="18" charset="0"/>
                          <a:cs typeface="Times New Roman" panose="02020603050405020304" pitchFamily="18" charset="0"/>
                        </a:rPr>
                        <a:t>Processing is slower</a:t>
                      </a:r>
                    </a:p>
                  </a:txBody>
                  <a:tcPr/>
                </a:tc>
                <a:extLst>
                  <a:ext uri="{0D108BD9-81ED-4DB2-BD59-A6C34878D82A}">
                    <a16:rowId xmlns:a16="http://schemas.microsoft.com/office/drawing/2014/main" val="1009240565"/>
                  </a:ext>
                </a:extLst>
              </a:tr>
              <a:tr h="435701">
                <a:tc>
                  <a:txBody>
                    <a:bodyPr/>
                    <a:lstStyle/>
                    <a:p>
                      <a:pPr algn="ctr"/>
                      <a:r>
                        <a:rPr lang="en-US" sz="2400" dirty="0">
                          <a:latin typeface="Times New Roman" panose="02020603050405020304" pitchFamily="18" charset="0"/>
                          <a:cs typeface="Times New Roman" panose="02020603050405020304" pitchFamily="18" charset="0"/>
                        </a:rPr>
                        <a:t>Error Propagation is limited</a:t>
                      </a:r>
                    </a:p>
                  </a:txBody>
                  <a:tcPr/>
                </a:tc>
                <a:tc>
                  <a:txBody>
                    <a:bodyPr/>
                    <a:lstStyle/>
                    <a:p>
                      <a:pPr algn="ctr"/>
                      <a:r>
                        <a:rPr lang="en-US" sz="2400" dirty="0">
                          <a:latin typeface="Times New Roman" panose="02020603050405020304" pitchFamily="18" charset="0"/>
                          <a:cs typeface="Times New Roman" panose="02020603050405020304" pitchFamily="18" charset="0"/>
                        </a:rPr>
                        <a:t>Error propagation could be significant and can produce a completely different output</a:t>
                      </a:r>
                    </a:p>
                  </a:txBody>
                  <a:tcPr/>
                </a:tc>
                <a:extLst>
                  <a:ext uri="{0D108BD9-81ED-4DB2-BD59-A6C34878D82A}">
                    <a16:rowId xmlns:a16="http://schemas.microsoft.com/office/drawing/2014/main" val="3934651618"/>
                  </a:ext>
                </a:extLst>
              </a:tr>
              <a:tr h="435701">
                <a:tc>
                  <a:txBody>
                    <a:bodyPr/>
                    <a:lstStyle/>
                    <a:p>
                      <a:pPr algn="ctr"/>
                      <a:r>
                        <a:rPr lang="en-US" sz="2400" dirty="0">
                          <a:latin typeface="Times New Roman" panose="02020603050405020304" pitchFamily="18" charset="0"/>
                          <a:cs typeface="Times New Roman" panose="02020603050405020304" pitchFamily="18" charset="0"/>
                        </a:rPr>
                        <a:t>Examples:- RC4, Rabbit, </a:t>
                      </a:r>
                      <a:r>
                        <a:rPr lang="en-US" sz="2400" dirty="0" err="1">
                          <a:latin typeface="Times New Roman" panose="02020603050405020304" pitchFamily="18" charset="0"/>
                          <a:cs typeface="Times New Roman" panose="02020603050405020304" pitchFamily="18" charset="0"/>
                        </a:rPr>
                        <a:t>ChaCha</a:t>
                      </a:r>
                      <a:r>
                        <a:rPr lang="en-US" sz="2400" dirty="0">
                          <a:latin typeface="Times New Roman" panose="02020603050405020304" pitchFamily="18" charset="0"/>
                          <a:cs typeface="Times New Roman" panose="02020603050405020304" pitchFamily="18" charset="0"/>
                        </a:rPr>
                        <a:t>, etc.</a:t>
                      </a:r>
                    </a:p>
                  </a:txBody>
                  <a:tcPr/>
                </a:tc>
                <a:tc>
                  <a:txBody>
                    <a:bodyPr/>
                    <a:lstStyle/>
                    <a:p>
                      <a:pPr algn="ctr"/>
                      <a:r>
                        <a:rPr lang="en-US" sz="2400" dirty="0">
                          <a:latin typeface="Times New Roman" panose="02020603050405020304" pitchFamily="18" charset="0"/>
                          <a:cs typeface="Times New Roman" panose="02020603050405020304" pitchFamily="18" charset="0"/>
                        </a:rPr>
                        <a:t>Examples:- AES, DES, Triple DES, Serpent, etc.</a:t>
                      </a:r>
                    </a:p>
                  </a:txBody>
                  <a:tcPr/>
                </a:tc>
                <a:extLst>
                  <a:ext uri="{0D108BD9-81ED-4DB2-BD59-A6C34878D82A}">
                    <a16:rowId xmlns:a16="http://schemas.microsoft.com/office/drawing/2014/main" val="3816602095"/>
                  </a:ext>
                </a:extLst>
              </a:tr>
              <a:tr h="435701">
                <a:tc>
                  <a:txBody>
                    <a:bodyPr/>
                    <a:lstStyle/>
                    <a:p>
                      <a:pPr algn="ctr"/>
                      <a:r>
                        <a:rPr lang="en-US" sz="2400" dirty="0">
                          <a:latin typeface="Times New Roman" panose="02020603050405020304" pitchFamily="18" charset="0"/>
                          <a:cs typeface="Times New Roman" panose="02020603050405020304" pitchFamily="18" charset="0"/>
                        </a:rPr>
                        <a:t>Used for real-time data stream encryptions and decryptions, where minimum latency is expected.</a:t>
                      </a:r>
                    </a:p>
                  </a:txBody>
                  <a:tcPr/>
                </a:tc>
                <a:tc>
                  <a:txBody>
                    <a:bodyPr/>
                    <a:lstStyle/>
                    <a:p>
                      <a:pPr algn="ctr"/>
                      <a:r>
                        <a:rPr lang="en-US" sz="2400" dirty="0">
                          <a:latin typeface="Times New Roman" panose="02020603050405020304" pitchFamily="18" charset="0"/>
                          <a:cs typeface="Times New Roman" panose="02020603050405020304" pitchFamily="18" charset="0"/>
                        </a:rPr>
                        <a:t>Used for applications which can handle large data chunks.</a:t>
                      </a:r>
                    </a:p>
                  </a:txBody>
                  <a:tcPr/>
                </a:tc>
                <a:extLst>
                  <a:ext uri="{0D108BD9-81ED-4DB2-BD59-A6C34878D82A}">
                    <a16:rowId xmlns:a16="http://schemas.microsoft.com/office/drawing/2014/main" val="3666583351"/>
                  </a:ext>
                </a:extLst>
              </a:tr>
            </a:tbl>
          </a:graphicData>
        </a:graphic>
      </p:graphicFrame>
    </p:spTree>
    <p:extLst>
      <p:ext uri="{BB962C8B-B14F-4D97-AF65-F5344CB8AC3E}">
        <p14:creationId xmlns:p14="http://schemas.microsoft.com/office/powerpoint/2010/main" val="43111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BF2D09440F4D9459A0CF0214DD5C910" ma:contentTypeVersion="3" ma:contentTypeDescription="Create a new document." ma:contentTypeScope="" ma:versionID="ba484fcb5dfed80a3d7115e58284a243">
  <xsd:schema xmlns:xsd="http://www.w3.org/2001/XMLSchema" xmlns:xs="http://www.w3.org/2001/XMLSchema" xmlns:p="http://schemas.microsoft.com/office/2006/metadata/properties" xmlns:ns2="057aeae3-7329-4b03-a5d7-28276fbe520a" targetNamespace="http://schemas.microsoft.com/office/2006/metadata/properties" ma:root="true" ma:fieldsID="0322ee51ad78c066d755176867759605" ns2:_="">
    <xsd:import namespace="057aeae3-7329-4b03-a5d7-28276fbe520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7aeae3-7329-4b03-a5d7-28276fbe52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96D2F2-6AA2-4FE0-93FE-BD736EA541F2}">
  <ds:schemaRefs>
    <ds:schemaRef ds:uri="http://schemas.microsoft.com/sharepoint/v3/contenttype/forms"/>
  </ds:schemaRefs>
</ds:datastoreItem>
</file>

<file path=customXml/itemProps2.xml><?xml version="1.0" encoding="utf-8"?>
<ds:datastoreItem xmlns:ds="http://schemas.openxmlformats.org/officeDocument/2006/customXml" ds:itemID="{A9FFA96F-C426-4AE0-8B47-FBEF7347450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C18E4A8-51C0-4A0B-8F68-0013918DF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7aeae3-7329-4b03-a5d7-28276fbe52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5562</TotalTime>
  <Words>5921</Words>
  <Application>Microsoft Office PowerPoint</Application>
  <PresentationFormat>Widescreen</PresentationFormat>
  <Paragraphs>1797</Paragraphs>
  <Slides>120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120</vt:i4>
      </vt:variant>
    </vt:vector>
  </HeadingPairs>
  <TitlesOfParts>
    <vt:vector size="126" baseType="lpstr">
      <vt:lpstr>Aptos</vt:lpstr>
      <vt:lpstr>Aptos Display</vt:lpstr>
      <vt:lpstr>Arial</vt:lpstr>
      <vt:lpstr>Cambria Math</vt:lpstr>
      <vt:lpstr>Times New Roman</vt:lpstr>
      <vt:lpstr>Office Theme</vt:lpstr>
      <vt:lpstr>Topics to Cover</vt:lpstr>
      <vt:lpstr>PowerPoint Presentation</vt:lpstr>
      <vt:lpstr>Symmetric Cipher Model</vt:lpstr>
      <vt:lpstr>Symmetric Cipher Model (Contd..)</vt:lpstr>
      <vt:lpstr>Kerckhoff’s Principle</vt:lpstr>
      <vt:lpstr>3 Independent Dimensions of Cryptographic Systems</vt:lpstr>
      <vt:lpstr>Cryptanalysis Techniques on Encrypted Data</vt:lpstr>
      <vt:lpstr>BFA</vt:lpstr>
      <vt:lpstr>Statistical Attack</vt:lpstr>
      <vt:lpstr>Statistical Attack (Contd..)</vt:lpstr>
      <vt:lpstr>Pattern Attack</vt:lpstr>
      <vt:lpstr>Ciphertext Only Attack</vt:lpstr>
      <vt:lpstr>Known Plaintext Attack</vt:lpstr>
      <vt:lpstr>Chosen Plaintext Attack</vt:lpstr>
      <vt:lpstr>Chosen Ciphertext Attack</vt:lpstr>
      <vt:lpstr>PowerPoint Presentation</vt:lpstr>
      <vt:lpstr>Default Numerical Values</vt:lpstr>
      <vt:lpstr>PowerPoint Presentation</vt:lpstr>
      <vt:lpstr>PowerPoint Presentation</vt:lpstr>
      <vt:lpstr>Additive Cipher</vt:lpstr>
      <vt:lpstr>Numerical 1</vt:lpstr>
      <vt:lpstr>Numerical 1 (Contd..)</vt:lpstr>
      <vt:lpstr>Numerical 2</vt:lpstr>
      <vt:lpstr>Numerical 2 (Contd..)</vt:lpstr>
      <vt:lpstr>Numerical 3</vt:lpstr>
      <vt:lpstr>Numerical 3 (Contd..)</vt:lpstr>
      <vt:lpstr>Numerical 3 (Contd..)</vt:lpstr>
      <vt:lpstr>Digrams on Additive Ciphers</vt:lpstr>
      <vt:lpstr>Additive Cipher with digram (Numerical 1)</vt:lpstr>
      <vt:lpstr>Additive Cipher with digram (Numerical 1) (Contd..)</vt:lpstr>
      <vt:lpstr>Additive Cipher with digram (Numerical 2)</vt:lpstr>
      <vt:lpstr>Additive Cipher with digram (Numerical 2) (Contd..)</vt:lpstr>
      <vt:lpstr>Caesar Cipher</vt:lpstr>
      <vt:lpstr>Pros and Cons of Additive Cipher</vt:lpstr>
      <vt:lpstr>PowerPoint Presentation</vt:lpstr>
      <vt:lpstr>Multiplicative Cipher</vt:lpstr>
      <vt:lpstr>Numerical 1</vt:lpstr>
      <vt:lpstr>Numerical 1 (Contd..)</vt:lpstr>
      <vt:lpstr>Numerical 2</vt:lpstr>
      <vt:lpstr>Numerical 2 (Contd..)</vt:lpstr>
      <vt:lpstr>Numerical 3</vt:lpstr>
      <vt:lpstr>Numerical 3 (Contd..)</vt:lpstr>
      <vt:lpstr>Pros and Cons of Multiplicative Cipher</vt:lpstr>
      <vt:lpstr>PowerPoint Presentation</vt:lpstr>
      <vt:lpstr>Affine Cipher</vt:lpstr>
      <vt:lpstr>Numerical 1</vt:lpstr>
      <vt:lpstr>Numerical 1 (Contd..)</vt:lpstr>
      <vt:lpstr>Numerical 2</vt:lpstr>
      <vt:lpstr>Numerical 2 (Contd..)</vt:lpstr>
      <vt:lpstr>Numerical 3</vt:lpstr>
      <vt:lpstr>Numerical 3 (Contd..)</vt:lpstr>
      <vt:lpstr>Pros and Cons of Affine Cipher</vt:lpstr>
      <vt:lpstr>PowerPoint Presentation</vt:lpstr>
      <vt:lpstr>Vigenere Cipher</vt:lpstr>
      <vt:lpstr>Numerical 1</vt:lpstr>
      <vt:lpstr>Numerical 1 (Contd..)</vt:lpstr>
      <vt:lpstr>Numerical 2</vt:lpstr>
      <vt:lpstr>Numerical 2 (Contd..)</vt:lpstr>
      <vt:lpstr>Numerical 3</vt:lpstr>
      <vt:lpstr>Numerical 3 (Contd..)</vt:lpstr>
      <vt:lpstr>Pros and Cons of Vigenere Cipher</vt:lpstr>
      <vt:lpstr>PowerPoint Presentation</vt:lpstr>
      <vt:lpstr>Autokey Cipher</vt:lpstr>
      <vt:lpstr>Numerical 1</vt:lpstr>
      <vt:lpstr>Numerical 1 (Contd..)</vt:lpstr>
      <vt:lpstr>Numerical 2</vt:lpstr>
      <vt:lpstr>Numerical 2 (Contd..)</vt:lpstr>
      <vt:lpstr>Numerical 3</vt:lpstr>
      <vt:lpstr>Numerical 3 (Contd..)</vt:lpstr>
      <vt:lpstr>Pros and Cons of Autokey Cipher</vt:lpstr>
      <vt:lpstr>PowerPoint Presentation</vt:lpstr>
      <vt:lpstr>Playfair Cipher</vt:lpstr>
      <vt:lpstr>Generation of key matrix from key</vt:lpstr>
      <vt:lpstr>Generation of key matrix from key (Example 1)</vt:lpstr>
      <vt:lpstr>Generation of key matrix from key (Example 2)</vt:lpstr>
      <vt:lpstr>Steps for Processing Plaintexts</vt:lpstr>
      <vt:lpstr>Steps for Encrypting a Plaintext</vt:lpstr>
      <vt:lpstr>Steps for Decrypting a Ciphertext</vt:lpstr>
      <vt:lpstr>Numerical 1</vt:lpstr>
      <vt:lpstr>Numerical 1 (Contd..)</vt:lpstr>
      <vt:lpstr>Numerical 2</vt:lpstr>
      <vt:lpstr>Numerical 2 (Contd..)</vt:lpstr>
      <vt:lpstr>Numerical 3</vt:lpstr>
      <vt:lpstr>Example 3 (Contd..)</vt:lpstr>
      <vt:lpstr>Pros and Cons of Playfair Cipher</vt:lpstr>
      <vt:lpstr>PowerPoint Presentation</vt:lpstr>
      <vt:lpstr>Hill Cipher</vt:lpstr>
      <vt:lpstr>Numerical 1</vt:lpstr>
      <vt:lpstr>Numerical 1 (Contd..)</vt:lpstr>
      <vt:lpstr>Numerical 2</vt:lpstr>
      <vt:lpstr>Numerical 2 (Contd..)</vt:lpstr>
      <vt:lpstr>Numerical 2 (Contd..)</vt:lpstr>
      <vt:lpstr>Numerical 3</vt:lpstr>
      <vt:lpstr>Numerical 3 (Contd..)</vt:lpstr>
      <vt:lpstr>Numerical 3 (Contd..)</vt:lpstr>
      <vt:lpstr>Pros and Cons of Hill Cipher</vt:lpstr>
      <vt:lpstr>PowerPoint Presentation</vt:lpstr>
      <vt:lpstr>PowerPoint Presentation</vt:lpstr>
      <vt:lpstr>Rail Fence Cipher</vt:lpstr>
      <vt:lpstr>Numerical 1</vt:lpstr>
      <vt:lpstr>Numerical 2</vt:lpstr>
      <vt:lpstr>Numerical 2 (Contd..)</vt:lpstr>
      <vt:lpstr>Numerical 3</vt:lpstr>
      <vt:lpstr>Numerical 4</vt:lpstr>
      <vt:lpstr>Numerical 4 (Contd..)</vt:lpstr>
      <vt:lpstr>Pros and Cons of Rail Fence Cipher</vt:lpstr>
      <vt:lpstr>PowerPoint Presentation</vt:lpstr>
      <vt:lpstr>Columnar Cipher</vt:lpstr>
      <vt:lpstr>Processing the key</vt:lpstr>
      <vt:lpstr>Steps for Encryption</vt:lpstr>
      <vt:lpstr>Steps for Decryption</vt:lpstr>
      <vt:lpstr>Numerical 1</vt:lpstr>
      <vt:lpstr>Numerical 2</vt:lpstr>
      <vt:lpstr>Numerical 2 (Contd..)</vt:lpstr>
      <vt:lpstr>Numerical 3</vt:lpstr>
      <vt:lpstr>Numerical 3 (Contd..)</vt:lpstr>
      <vt:lpstr>Numerical 3 (Contd..)</vt:lpstr>
      <vt:lpstr>Pros and Cons of Columnar Transposition Cipher</vt:lpstr>
      <vt:lpstr>Stream Cipher and Block Cipher</vt:lpstr>
      <vt:lpstr>Differences between Stream and Block Ciphers</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Snehal Samanth [MAHE-MIT]</dc:creator>
  <cp:lastModifiedBy>Shashank Nandan</cp:lastModifiedBy>
  <cp:revision>1009</cp:revision>
  <dcterms:created xsi:type="dcterms:W3CDTF">2024-08-05T09:18:20Z</dcterms:created>
  <dcterms:modified xsi:type="dcterms:W3CDTF">2026-08-16T18:28:05Z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0x010100DBF2D09440F4D9459A0CF0214DD5C910</vt:lpwstr>
  </property>
</Properties>
</file>